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83879" y="0"/>
            <a:ext cx="4005072" cy="6858000"/>
          </a:xfrm>
          <a:prstGeom prst="rect">
            <a:avLst/>
          </a:prstGeom>
          <a:solidFill>
            <a:srgbClr val="1769AA"/>
          </a:solidFill>
          <a:ln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549640" y="731520"/>
            <a:ext cx="1371600" cy="1371600"/>
          </a:xfrm>
          <a:prstGeom prst="ellipse">
            <a:avLst/>
          </a:prstGeom>
          <a:solidFill>
            <a:srgbClr val="2CB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32720" y="1828800"/>
            <a:ext cx="777240" cy="7772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3840480"/>
            <a:ext cx="2011680" cy="201168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881360" y="521208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658368"/>
            <a:ext cx="71323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2CB1BC"/>
                </a:solidFill>
                <a:latin typeface="Liberation Sans"/>
              </a:rPr>
              <a:t>COMPANY A | CUSTOMER RETENTION PoC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7040880" cy="20116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Liberation Sans"/>
              </a:rPr>
              <a:t>Retain the Right
Customers Before
They Leave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730752"/>
            <a:ext cx="6675120" cy="6583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0">
                <a:solidFill>
                  <a:srgbClr val="D9EAF4"/>
                </a:solidFill>
                <a:latin typeface="Liberation Sans"/>
              </a:rPr>
              <a:t>An AI-powered churn prevention proposal built from 100,000 customer records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4736592"/>
            <a:ext cx="6263640" cy="960120"/>
          </a:xfrm>
          <a:prstGeom prst="roundRect">
            <a:avLst/>
          </a:prstGeom>
          <a:solidFill>
            <a:srgbClr val="173F5F"/>
          </a:solidFill>
          <a:ln>
            <a:solidFill>
              <a:srgbClr val="17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992624"/>
            <a:ext cx="5852160" cy="502920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r>
              <a:rPr sz="1500" b="1">
                <a:solidFill>
                  <a:srgbClr val="2CB1BC"/>
                </a:solidFill>
                <a:latin typeface="Liberation Sans"/>
              </a:rPr>
              <a:t>Recommendation: </a:t>
            </a:r>
            <a:r>
              <a:rPr sz="1500" b="0">
                <a:solidFill>
                  <a:srgbClr val="FFFFFF"/>
                </a:solidFill>
                <a:latin typeface="Liberation Sans"/>
              </a:rPr>
              <a:t>rank customers weekly and focus retention actions on the highest-risk 20%.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6272784"/>
            <a:ext cx="3840480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00" b="0">
                <a:solidFill>
                  <a:srgbClr val="AFC7D5"/>
                </a:solidFill>
                <a:latin typeface="Liberation Sans"/>
              </a:rPr>
              <a:t>GCI World 2026 Final Assignment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Liberation Sans"/>
              </a:rPr>
              <a:t>Executive recommendation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658368" cy="54864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9888" y="804672"/>
            <a:ext cx="99669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627D98"/>
                </a:solidFill>
                <a:latin typeface="Liberation Sans"/>
              </a:rPr>
              <a:t>Move from broad retention campaigns to risk-ranked, action-specific outreach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2240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1143000"/>
          </a:xfrm>
          <a:prstGeom prst="rect">
            <a:avLst/>
          </a:prstGeom>
          <a:solidFill>
            <a:srgbClr val="1769AA"/>
          </a:solidFill>
          <a:ln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08760"/>
            <a:ext cx="192024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1769AA"/>
                </a:solidFill>
                <a:latin typeface="Liberation Sans"/>
              </a:rPr>
              <a:t>0.702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84248"/>
            <a:ext cx="1920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1">
                <a:solidFill>
                  <a:srgbClr val="243B53"/>
                </a:solidFill>
                <a:latin typeface="Liberation Sans"/>
              </a:rPr>
              <a:t>Held-out ROC-AUC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40280"/>
            <a:ext cx="1920240" cy="1554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50" b="0">
                <a:solidFill>
                  <a:srgbClr val="627D98"/>
                </a:solidFill>
                <a:latin typeface="Liberation Sans"/>
              </a:rPr>
              <a:t>20,000-customer test 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1325880"/>
            <a:ext cx="2240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54680" y="1325880"/>
            <a:ext cx="73152" cy="1143000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5848" y="1508760"/>
            <a:ext cx="192024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0A896"/>
                </a:solidFill>
                <a:latin typeface="Liberation Sans"/>
              </a:rPr>
              <a:t>30.0%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1984248"/>
            <a:ext cx="1920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1">
                <a:solidFill>
                  <a:srgbClr val="243B53"/>
                </a:solidFill>
                <a:latin typeface="Liberation Sans"/>
              </a:rPr>
              <a:t>Churners captured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2240280"/>
            <a:ext cx="1920240" cy="1554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50" b="0">
                <a:solidFill>
                  <a:srgbClr val="627D98"/>
                </a:solidFill>
                <a:latin typeface="Liberation Sans"/>
              </a:rPr>
              <a:t>by targeting the top 20%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23560" y="1325880"/>
            <a:ext cx="2240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23560" y="1325880"/>
            <a:ext cx="73152" cy="11430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4728" y="1508760"/>
            <a:ext cx="192024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F59E0B"/>
                </a:solidFill>
                <a:latin typeface="Liberation Sans"/>
              </a:rPr>
              <a:t>1.50×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24728" y="1984248"/>
            <a:ext cx="1920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1">
                <a:solidFill>
                  <a:srgbClr val="243B53"/>
                </a:solidFill>
                <a:latin typeface="Liberation Sans"/>
              </a:rPr>
              <a:t>Risk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24728" y="2240280"/>
            <a:ext cx="1920240" cy="1554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50" b="0">
                <a:solidFill>
                  <a:srgbClr val="627D98"/>
                </a:solidFill>
                <a:latin typeface="Liberation Sans"/>
              </a:rPr>
              <a:t>74.4% vs 49.6% baseline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1325880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1325880"/>
            <a:ext cx="73152" cy="1143000"/>
          </a:xfrm>
          <a:prstGeom prst="rect">
            <a:avLst/>
          </a:prstGeom>
          <a:solidFill>
            <a:srgbClr val="2D9D78"/>
          </a:solidFill>
          <a:ln>
            <a:solidFill>
              <a:srgbClr val="2D9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93608" y="1508760"/>
            <a:ext cx="219456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D9D78"/>
                </a:solidFill>
                <a:latin typeface="Liberation Sans"/>
              </a:rPr>
              <a:t>$1.65M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1984248"/>
            <a:ext cx="21945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1">
                <a:solidFill>
                  <a:srgbClr val="243B53"/>
                </a:solidFill>
                <a:latin typeface="Liberation Sans"/>
              </a:rPr>
              <a:t>Illustrative net 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3608" y="2240280"/>
            <a:ext cx="2194560" cy="1554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50" b="0">
                <a:solidFill>
                  <a:srgbClr val="627D98"/>
                </a:solidFill>
                <a:latin typeface="Liberation Sans"/>
              </a:rPr>
              <a:t>per 100k customers/year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2880360"/>
            <a:ext cx="10789920" cy="2514600"/>
          </a:xfrm>
          <a:prstGeom prst="roundRect">
            <a:avLst/>
          </a:prstGeom>
          <a:solidFill>
            <a:srgbClr val="F4F7FA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3182112"/>
            <a:ext cx="30175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102A43"/>
                </a:solidFill>
                <a:latin typeface="Liberation Sans"/>
              </a:rPr>
              <a:t>What Company A should 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675887"/>
            <a:ext cx="4892040" cy="1371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43B53"/>
                </a:solidFill>
                <a:latin typeface="Liberation Sans"/>
              </a:defRPr>
            </a:pPr>
            <a:r>
              <a:t>•  Score active customers weekly using usage, billing, handset and service-quality signals.</a:t>
            </a:r>
          </a:p>
          <a:p>
            <a:pPr>
              <a:spcAft>
                <a:spcPts val="900"/>
              </a:spcAft>
              <a:defRPr sz="1400">
                <a:solidFill>
                  <a:srgbClr val="243B53"/>
                </a:solidFill>
                <a:latin typeface="Liberation Sans"/>
              </a:defRPr>
            </a:pPr>
            <a:r>
              <a:t>•  Prioritize the highest-risk 20% for targeted offers, service recovery or handset upgrades.</a:t>
            </a:r>
          </a:p>
          <a:p>
            <a:pPr>
              <a:spcAft>
                <a:spcPts val="900"/>
              </a:spcAft>
              <a:defRPr sz="1400">
                <a:solidFill>
                  <a:srgbClr val="243B53"/>
                </a:solidFill>
                <a:latin typeface="Liberation Sans"/>
              </a:defRPr>
            </a:pPr>
            <a:r>
              <a:t>•  Measure incremental retention through a randomized control group before full rollout.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3182112"/>
            <a:ext cx="201168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102A43"/>
                </a:solidFill>
                <a:latin typeface="Liberation Sans"/>
              </a:rPr>
              <a:t>Why now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3675887"/>
            <a:ext cx="4709160" cy="1371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43B53"/>
                </a:solidFill>
                <a:latin typeface="Liberation Sans"/>
              </a:defRPr>
            </a:pPr>
            <a:r>
              <a:t>•  The data already contains predictive behavior before churn.</a:t>
            </a:r>
          </a:p>
          <a:p>
            <a:pPr>
              <a:spcAft>
                <a:spcPts val="900"/>
              </a:spcAft>
              <a:defRPr sz="1400">
                <a:solidFill>
                  <a:srgbClr val="243B53"/>
                </a:solidFill>
                <a:latin typeface="Liberation Sans"/>
              </a:defRPr>
            </a:pPr>
            <a:r>
              <a:t>•  The solution is deployable as a probability-ranked workflow, not a one-time model.</a:t>
            </a:r>
          </a:p>
          <a:p>
            <a:pPr>
              <a:spcAft>
                <a:spcPts val="900"/>
              </a:spcAft>
              <a:defRPr sz="1400">
                <a:solidFill>
                  <a:srgbClr val="243B53"/>
                </a:solidFill>
                <a:latin typeface="Liberation Sans"/>
              </a:defRPr>
            </a:pPr>
            <a:r>
              <a:t>•  The business case remains positive under conservative intervention assumptions.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2700">
            <a:solidFill>
              <a:srgbClr val="E8F1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21792" y="6565392"/>
            <a:ext cx="996696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50" b="0">
                <a:solidFill>
                  <a:srgbClr val="627D98"/>
                </a:solidFill>
                <a:latin typeface="Liberation Sans"/>
              </a:rPr>
              <a:t>Source: Company A dataset and held-out model evaluation; financial impact is an illustrative scenario.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37960"/>
            <a:ext cx="502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27D98"/>
                </a:solidFill>
                <a:latin typeface="Liberation San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Liberation Sans"/>
              </a:rPr>
              <a:t>Retention is a telecom growth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658368" cy="54864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9888" y="804672"/>
            <a:ext cx="99669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627D98"/>
                </a:solidFill>
                <a:latin typeface="Liberation Sans"/>
              </a:rPr>
              <a:t>Saturated markets increase the value of protecting the installed customer base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074920" cy="4526280"/>
          </a:xfrm>
          <a:prstGeom prst="round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54480"/>
            <a:ext cx="32004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2CB1BC"/>
                </a:solidFill>
                <a:latin typeface="Liberation Sans"/>
              </a:rPr>
              <a:t>The strategic tension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4480560" cy="10058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Liberation Sans"/>
              </a:rPr>
              <a:t>Telecom operators must defend revenue while customers face low switching friction, aggressive offers and rising service expectations.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502152"/>
            <a:ext cx="21945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AFC7D5"/>
                </a:solidFill>
                <a:latin typeface="Liberation Sans"/>
              </a:rPr>
              <a:t>Industry signal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886200"/>
            <a:ext cx="4343400" cy="713232"/>
          </a:xfrm>
          <a:prstGeom prst="rect">
            <a:avLst/>
          </a:prstGeom>
          <a:noFill/>
        </p:spPr>
        <p:txBody>
          <a:bodyPr wrap="none" lIns="36576" rIns="36576">
            <a:spAutoFit/>
          </a:bodyPr>
          <a:lstStyle/>
          <a:p>
            <a:r>
              <a:rPr sz="1700" b="1">
                <a:solidFill>
                  <a:srgbClr val="F59E0B"/>
                </a:solidFill>
                <a:latin typeface="Liberation Sans"/>
              </a:rPr>
              <a:t>22% </a:t>
            </a:r>
            <a:r>
              <a:rPr sz="1700" b="0">
                <a:solidFill>
                  <a:srgbClr val="FFFFFF"/>
                </a:solidFill>
                <a:latin typeface="Liberation Sans"/>
              </a:rPr>
              <a:t>average annual churn across providers in Deloitte's 2026 outlook.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919472"/>
            <a:ext cx="443484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D9EAF4"/>
                </a:solidFill>
                <a:latin typeface="Liberation Sans"/>
              </a:rPr>
              <a:t>Company A's response should be selective: identify preventable churn early and spend only where intervention is economically justified.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53312"/>
            <a:ext cx="50749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353312"/>
            <a:ext cx="91440" cy="1170432"/>
          </a:xfrm>
          <a:prstGeom prst="rect">
            <a:avLst/>
          </a:prstGeom>
          <a:solidFill>
            <a:srgbClr val="D64545"/>
          </a:solidFill>
          <a:ln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17904"/>
            <a:ext cx="18288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Liberation Sans"/>
              </a:rPr>
              <a:t>Revenue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865376"/>
            <a:ext cx="434340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27D98"/>
                </a:solidFill>
                <a:latin typeface="Liberation Sans"/>
              </a:rPr>
              <a:t>Customers leave with recurring revenue and future lifetime value.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798064"/>
            <a:ext cx="50749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2798064"/>
            <a:ext cx="91440" cy="117043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962656"/>
            <a:ext cx="18288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Liberation Sans"/>
              </a:rPr>
              <a:t>Service signals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310128"/>
            <a:ext cx="434340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27D98"/>
                </a:solidFill>
                <a:latin typeface="Liberation Sans"/>
              </a:rPr>
              <a:t>Usage decline, failures and support activity can reveal friction.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242816"/>
            <a:ext cx="5074920" cy="1170432"/>
          </a:xfrm>
          <a:prstGeom prst="roundRect">
            <a:avLst/>
          </a:prstGeom>
          <a:solidFill>
            <a:srgbClr val="FFFFFF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4242816"/>
            <a:ext cx="91440" cy="1170432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407408"/>
            <a:ext cx="18288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Liberation Sans"/>
              </a:rPr>
              <a:t>Action window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754880"/>
            <a:ext cx="434340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27D98"/>
                </a:solidFill>
                <a:latin typeface="Liberation Sans"/>
              </a:rPr>
              <a:t>The target records churn 31–60 days after observation.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5550408"/>
            <a:ext cx="5074920" cy="420624"/>
          </a:xfrm>
          <a:prstGeom prst="roundRect">
            <a:avLst/>
          </a:prstGeom>
          <a:solidFill>
            <a:srgbClr val="E8F1F8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5641848"/>
            <a:ext cx="45720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769AA"/>
                </a:solidFill>
                <a:latin typeface="Liberation Sans"/>
              </a:rPr>
              <a:t>Business question: who should receive which retention action, and when?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2700">
            <a:solidFill>
              <a:srgbClr val="E8F1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21792" y="6565392"/>
            <a:ext cx="996696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50" b="0">
                <a:solidFill>
                  <a:srgbClr val="627D98"/>
                </a:solidFill>
                <a:latin typeface="Liberation Sans"/>
              </a:rPr>
              <a:t>Sources: [1] Deloitte 2026 Telecommunications Industry Outlook; [2] Company A dataset description.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37960"/>
            <a:ext cx="502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27D98"/>
                </a:solidFill>
                <a:latin typeface="Liberation San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Liberation Sans"/>
              </a:rPr>
              <a:t>Company A already has the data required for a retention PoC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658368" cy="54864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2194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73152" cy="1143000"/>
          </a:xfrm>
          <a:prstGeom prst="rect">
            <a:avLst/>
          </a:prstGeom>
          <a:solidFill>
            <a:srgbClr val="1769AA"/>
          </a:solidFill>
          <a:ln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417320"/>
            <a:ext cx="1874519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1769AA"/>
                </a:solidFill>
                <a:latin typeface="Liberation Sans"/>
              </a:rPr>
              <a:t>100,000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892808"/>
            <a:ext cx="187451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1">
                <a:solidFill>
                  <a:srgbClr val="243B53"/>
                </a:solidFill>
                <a:latin typeface="Liberation Sans"/>
              </a:rPr>
              <a:t>Customers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27248" y="1234440"/>
            <a:ext cx="2194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127248" y="1234440"/>
            <a:ext cx="73152" cy="1143000"/>
          </a:xfrm>
          <a:prstGeom prst="rect">
            <a:avLst/>
          </a:prstGeom>
          <a:solidFill>
            <a:srgbClr val="2CB1BC"/>
          </a:solidFill>
          <a:ln>
            <a:solidFill>
              <a:srgbClr val="2CB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28416" y="1417320"/>
            <a:ext cx="1874519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2CB1BC"/>
                </a:solidFill>
                <a:latin typeface="Liberation Sans"/>
              </a:rPr>
              <a:t>98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28416" y="1892808"/>
            <a:ext cx="187451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1">
                <a:solidFill>
                  <a:srgbClr val="243B53"/>
                </a:solidFill>
                <a:latin typeface="Liberation Sans"/>
              </a:rPr>
              <a:t>Raw predictors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68696" y="1234440"/>
            <a:ext cx="2194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68696" y="1234440"/>
            <a:ext cx="73152" cy="11430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9864" y="1417320"/>
            <a:ext cx="1874519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F59E0B"/>
                </a:solidFill>
                <a:latin typeface="Liberation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9864" y="1892808"/>
            <a:ext cx="1874519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1">
                <a:solidFill>
                  <a:srgbClr val="243B53"/>
                </a:solidFill>
                <a:latin typeface="Liberation Sans"/>
              </a:rPr>
              <a:t>Linked tables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1234440"/>
            <a:ext cx="2423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0144" y="1234440"/>
            <a:ext cx="73152" cy="1143000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1417320"/>
            <a:ext cx="210312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0A896"/>
                </a:solidFill>
                <a:latin typeface="Liberation Sans"/>
              </a:rPr>
              <a:t>31–60d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1892808"/>
            <a:ext cx="21031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1">
                <a:solidFill>
                  <a:srgbClr val="243B53"/>
                </a:solidFill>
                <a:latin typeface="Liberation Sans"/>
              </a:rPr>
              <a:t>Prediction window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926080"/>
            <a:ext cx="3246120" cy="1005840"/>
          </a:xfrm>
          <a:prstGeom prst="roundRect">
            <a:avLst/>
          </a:prstGeom>
          <a:solidFill>
            <a:srgbClr val="F4F7FA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081528"/>
            <a:ext cx="10972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Liberation Sans"/>
              </a:rPr>
              <a:t>Usage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054096"/>
            <a:ext cx="1874519" cy="6126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627D98"/>
                </a:solidFill>
                <a:latin typeface="Liberation Sans"/>
              </a:rPr>
              <a:t>Minutes, calls, peak/off-peak behavior, recent change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2926080"/>
            <a:ext cx="3246120" cy="1005840"/>
          </a:xfrm>
          <a:prstGeom prst="roundRect">
            <a:avLst/>
          </a:prstGeom>
          <a:solidFill>
            <a:srgbClr val="F4F7FA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081528"/>
            <a:ext cx="10972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Liberation Sans"/>
              </a:rPr>
              <a:t>Billing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3054096"/>
            <a:ext cx="1874519" cy="6126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627D98"/>
                </a:solidFill>
                <a:latin typeface="Liberation Sans"/>
              </a:rPr>
              <a:t>Revenue, recurring charges, overage and roaming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2926080"/>
            <a:ext cx="3246120" cy="1005840"/>
          </a:xfrm>
          <a:prstGeom prst="roundRect">
            <a:avLst/>
          </a:prstGeom>
          <a:solidFill>
            <a:srgbClr val="F4F7FA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081528"/>
            <a:ext cx="10972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Liberation Sans"/>
              </a:rPr>
              <a:t>Experience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3054096"/>
            <a:ext cx="1874519" cy="6126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627D98"/>
                </a:solidFill>
                <a:latin typeface="Liberation Sans"/>
              </a:rPr>
              <a:t>Dropped, blocked and unanswered calls; care contacts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224528"/>
            <a:ext cx="5074920" cy="1005840"/>
          </a:xfrm>
          <a:prstGeom prst="roundRect">
            <a:avLst/>
          </a:prstGeom>
          <a:solidFill>
            <a:srgbClr val="F4F7FA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379976"/>
            <a:ext cx="10972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Liberation Sans"/>
              </a:rPr>
              <a:t>Lifecycle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4352544"/>
            <a:ext cx="3703320" cy="6126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627D98"/>
                </a:solidFill>
                <a:latin typeface="Liberation Sans"/>
              </a:rPr>
              <a:t>Tenure, equipment age, handset and household accounts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4224528"/>
            <a:ext cx="5074920" cy="1005840"/>
          </a:xfrm>
          <a:prstGeom prst="roundRect">
            <a:avLst/>
          </a:prstGeom>
          <a:solidFill>
            <a:srgbClr val="F4F7FA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4379976"/>
            <a:ext cx="10972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769AA"/>
                </a:solidFill>
                <a:latin typeface="Liberation Sans"/>
              </a:rPr>
              <a:t>Customer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4352544"/>
            <a:ext cx="3703320" cy="6126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627D98"/>
                </a:solidFill>
                <a:latin typeface="Liberation Sans"/>
              </a:rPr>
              <a:t>Area, credit class and available demographic attributes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596128"/>
            <a:ext cx="10469880" cy="457200"/>
          </a:xfrm>
          <a:prstGeom prst="roundRect">
            <a:avLst/>
          </a:prstGeom>
          <a:solidFill>
            <a:srgbClr val="FFF4E5"/>
          </a:solidFill>
          <a:ln>
            <a:solidFill>
              <a:srgbClr val="F7D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705856"/>
            <a:ext cx="1010412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1">
                <a:solidFill>
                  <a:srgbClr val="8A5A00"/>
                </a:solidFill>
                <a:latin typeface="Liberation Sans"/>
              </a:rPr>
              <a:t>Important caveat: the supplied target is almost 50/50 churn, unlike many live telecom portfolios. Production calibration must use Company A's current base rate.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2700">
            <a:solidFill>
              <a:srgbClr val="E8F1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21792" y="6565392"/>
            <a:ext cx="996696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50" b="0">
                <a:solidFill>
                  <a:srgbClr val="627D98"/>
                </a:solidFill>
                <a:latin typeface="Liberation Sans"/>
              </a:rPr>
              <a:t>Source: Client.csv and Record.csv; one-to-one merge on Customer_ID.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537960"/>
            <a:ext cx="502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27D98"/>
                </a:solidFill>
                <a:latin typeface="Liberation San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Liberation Sans"/>
              </a:rPr>
              <a:t>EDA reveals actionable warning signals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658368" cy="54864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9888" y="804672"/>
            <a:ext cx="99669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627D98"/>
                </a:solidFill>
                <a:latin typeface="Liberation Sans"/>
              </a:rPr>
              <a:t>Single variables are insufficient, but several behaviors show consistent directional risk</a:t>
            </a:r>
          </a:p>
        </p:txBody>
      </p:sp>
      <p:pic>
        <p:nvPicPr>
          <p:cNvPr id="5" name="Picture 4" descr="eda_sign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7726679" cy="245390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12480" y="1417320"/>
            <a:ext cx="2971800" cy="4434840"/>
          </a:xfrm>
          <a:prstGeom prst="round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32520" y="1737360"/>
            <a:ext cx="224028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2CB1BC"/>
                </a:solidFill>
                <a:latin typeface="Liberation Sans"/>
              </a:rPr>
              <a:t>What the patterns say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8512" y="2359152"/>
            <a:ext cx="2240280" cy="23317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900"/>
              </a:spcAft>
              <a:defRPr sz="1180">
                <a:solidFill>
                  <a:srgbClr val="FFFFFF"/>
                </a:solidFill>
                <a:latin typeface="Liberation Sans"/>
              </a:defRPr>
            </a:pPr>
            <a:r>
              <a:t>•  Older equipment is associated with higher churn.</a:t>
            </a:r>
          </a:p>
          <a:p>
            <a:pPr>
              <a:spcAft>
                <a:spcPts val="900"/>
              </a:spcAft>
              <a:defRPr sz="1180">
                <a:solidFill>
                  <a:srgbClr val="FFFFFF"/>
                </a:solidFill>
                <a:latin typeface="Liberation Sans"/>
              </a:defRPr>
            </a:pPr>
            <a:r>
              <a:t>•  Declining usage is an early warning signal.</a:t>
            </a:r>
          </a:p>
          <a:p>
            <a:pPr>
              <a:spcAft>
                <a:spcPts val="900"/>
              </a:spcAft>
              <a:defRPr sz="1180">
                <a:solidFill>
                  <a:srgbClr val="FFFFFF"/>
                </a:solidFill>
                <a:latin typeface="Liberation Sans"/>
              </a:defRPr>
            </a:pPr>
            <a:r>
              <a:t>•  Low current usage indicates weaker engagement.</a:t>
            </a:r>
          </a:p>
          <a:p>
            <a:pPr>
              <a:spcAft>
                <a:spcPts val="900"/>
              </a:spcAft>
              <a:defRPr sz="1180">
                <a:solidFill>
                  <a:srgbClr val="FFFFFF"/>
                </a:solidFill>
                <a:latin typeface="Liberation Sans"/>
              </a:defRPr>
            </a:pPr>
            <a:r>
              <a:t>•  No single variable separates churners; multivariate modeling is required.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4965192"/>
            <a:ext cx="192024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1">
                <a:solidFill>
                  <a:srgbClr val="AFC7D5"/>
                </a:solidFill>
                <a:latin typeface="Liberation Sans"/>
              </a:rPr>
              <a:t>Actionable hypothesis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5266944"/>
            <a:ext cx="214884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Liberation Sans"/>
              </a:rPr>
              <a:t>Combine lifecycle, engagement and service signals to trigger targeted actions.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2700">
            <a:solidFill>
              <a:srgbClr val="E8F1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1792" y="6565392"/>
            <a:ext cx="996696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50" b="0">
                <a:solidFill>
                  <a:srgbClr val="627D98"/>
                </a:solidFill>
                <a:latin typeface="Liberation Sans"/>
              </a:rPr>
              <a:t>Source: Company A EDA; quartiles calculated after excluding missing values for each feature.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37960"/>
            <a:ext cx="502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27D98"/>
                </a:solidFill>
                <a:latin typeface="Liberation Sa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Liberation Sans"/>
              </a:rPr>
              <a:t>Problem statement and success definition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658368" cy="54864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10789920" cy="1207008"/>
          </a:xfrm>
          <a:prstGeom prst="round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19202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2CB1BC"/>
                </a:solidFill>
                <a:latin typeface="Liberation Sans"/>
              </a:rPr>
              <a:t>Business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1435608"/>
            <a:ext cx="800100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Liberation Sans"/>
              </a:rPr>
              <a:t>Company A cannot economically treat every customer, but it lacks a repeatable method to identify who is most likely to churn and which operational lever should be used.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852928"/>
            <a:ext cx="3383280" cy="2103120"/>
          </a:xfrm>
          <a:prstGeom prst="roundRect">
            <a:avLst/>
          </a:prstGeom>
          <a:solidFill>
            <a:srgbClr val="F4F7FA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2852928"/>
            <a:ext cx="3383280" cy="128016"/>
          </a:xfrm>
          <a:prstGeom prst="rect">
            <a:avLst/>
          </a:prstGeom>
          <a:solidFill>
            <a:srgbClr val="1769AA"/>
          </a:solidFill>
          <a:ln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3182112"/>
            <a:ext cx="283464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Liberation Sans"/>
              </a:rPr>
              <a:t>ML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703320"/>
            <a:ext cx="2880360" cy="8412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Liberation Sans"/>
              </a:rPr>
              <a:t>Rank customers by probability of churn 31–60 days ahead.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852928"/>
            <a:ext cx="3383280" cy="2103120"/>
          </a:xfrm>
          <a:prstGeom prst="roundRect">
            <a:avLst/>
          </a:prstGeom>
          <a:solidFill>
            <a:srgbClr val="F4F7FA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852928"/>
            <a:ext cx="3383280" cy="128016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3182112"/>
            <a:ext cx="283464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Liberation Sans"/>
              </a:rPr>
              <a:t>Business objective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3703320"/>
            <a:ext cx="2880360" cy="8412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Liberation Sans"/>
              </a:rPr>
              <a:t>Concentrate intervention spend where avoidable revenue risk is highest.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7" y="2852928"/>
            <a:ext cx="3383280" cy="2103120"/>
          </a:xfrm>
          <a:prstGeom prst="roundRect">
            <a:avLst/>
          </a:prstGeom>
          <a:solidFill>
            <a:srgbClr val="F4F7FA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7" y="2852928"/>
            <a:ext cx="3383280" cy="12801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3" y="3182112"/>
            <a:ext cx="283464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02A43"/>
                </a:solidFill>
                <a:latin typeface="Liberation Sans"/>
              </a:rPr>
              <a:t>Success 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3" y="3703320"/>
            <a:ext cx="2880360" cy="8412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627D98"/>
                </a:solidFill>
                <a:latin typeface="Liberation Sans"/>
              </a:rPr>
              <a:t>ROC-AUC and PR-AUC for ranking; capture, lift and incremental retention for business value.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63040" y="5349240"/>
            <a:ext cx="9144000" cy="594360"/>
          </a:xfrm>
          <a:prstGeom prst="roundRect">
            <a:avLst/>
          </a:prstGeom>
          <a:solidFill>
            <a:srgbClr val="E8F1F8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37360" y="5504688"/>
            <a:ext cx="86410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1769AA"/>
                </a:solidFill>
                <a:latin typeface="Liberation Sans"/>
              </a:rPr>
              <a:t>Decision rule for the PoC: use risk ranking to define campaign capacity; do not treat the model threshold as an automatic cancellation or denial decision.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2700">
            <a:solidFill>
              <a:srgbClr val="E8F1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1792" y="6565392"/>
            <a:ext cx="996696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50" b="0">
                <a:solidFill>
                  <a:srgbClr val="627D98"/>
                </a:solidFill>
                <a:latin typeface="Liberation Sans"/>
              </a:rPr>
              <a:t>Source: Project problem formulation based on Company A's churn label and available intervention signals.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37960"/>
            <a:ext cx="502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27D98"/>
                </a:solidFill>
                <a:latin typeface="Liberation San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Liberation Sans"/>
              </a:rPr>
              <a:t>Solution: a weekly risk-ranking and action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658368" cy="54864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2057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67512" y="1828800"/>
            <a:ext cx="438912" cy="438912"/>
          </a:xfrm>
          <a:prstGeom prst="ellipse">
            <a:avLst/>
          </a:prstGeom>
          <a:solidFill>
            <a:srgbClr val="1769AA"/>
          </a:solidFill>
          <a:ln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865376"/>
            <a:ext cx="438912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Liberation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1783080"/>
            <a:ext cx="11430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Liberation Sans"/>
              </a:rPr>
              <a:t>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2167128"/>
            <a:ext cx="1124712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627D98"/>
                </a:solidFill>
                <a:latin typeface="Liberation Sans"/>
              </a:rPr>
              <a:t>Refresh customer, usage and billing records.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78608" y="1993392"/>
            <a:ext cx="3200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627D98"/>
                </a:solidFill>
                <a:latin typeface="Liberation San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1600200"/>
            <a:ext cx="2057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999232" y="1828800"/>
            <a:ext cx="438912" cy="438912"/>
          </a:xfrm>
          <a:prstGeom prst="ellipse">
            <a:avLst/>
          </a:prstGeom>
          <a:solidFill>
            <a:srgbClr val="2CB1BC"/>
          </a:solidFill>
          <a:ln>
            <a:solidFill>
              <a:srgbClr val="2CB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99232" y="1865376"/>
            <a:ext cx="438912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Liberation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7" y="1783080"/>
            <a:ext cx="11430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Liberation Sans"/>
              </a:rPr>
              <a:t>Engineer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7" y="2167128"/>
            <a:ext cx="1124712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627D98"/>
                </a:solidFill>
                <a:latin typeface="Liberation Sans"/>
              </a:rPr>
              <a:t>Create 34 lifecycle, trend, value and service ratios.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0327" y="1993392"/>
            <a:ext cx="3200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627D98"/>
                </a:solidFill>
                <a:latin typeface="Liberation San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59" y="1600200"/>
            <a:ext cx="2057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330951" y="1828800"/>
            <a:ext cx="438912" cy="438912"/>
          </a:xfrm>
          <a:prstGeom prst="ellipse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30951" y="1865376"/>
            <a:ext cx="438912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Liberation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16168" y="1783080"/>
            <a:ext cx="11430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Liberation Sans"/>
              </a:rPr>
              <a:t>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16168" y="2167128"/>
            <a:ext cx="1124712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627D98"/>
                </a:solidFill>
                <a:latin typeface="Liberation Sans"/>
              </a:rPr>
              <a:t>Blend LightGBM with native-categorical boosting.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42048" y="1993392"/>
            <a:ext cx="3200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627D98"/>
                </a:solidFill>
                <a:latin typeface="Liberation San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1600200"/>
            <a:ext cx="2057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662671" y="1828800"/>
            <a:ext cx="438912" cy="438912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62671" y="1865376"/>
            <a:ext cx="438912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Liberation San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1783080"/>
            <a:ext cx="11430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Liberation Sans"/>
              </a:rPr>
              <a:t>Prioritize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2167128"/>
            <a:ext cx="1124712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627D98"/>
                </a:solidFill>
                <a:latin typeface="Liberation Sans"/>
              </a:rPr>
              <a:t>Rank customers and apply campaign capacity.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73767" y="1993392"/>
            <a:ext cx="3200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627D98"/>
                </a:solidFill>
                <a:latin typeface="Liberation San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9800" y="1600200"/>
            <a:ext cx="2057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994392" y="1828800"/>
            <a:ext cx="438912" cy="438912"/>
          </a:xfrm>
          <a:prstGeom prst="ellipse">
            <a:avLst/>
          </a:prstGeom>
          <a:solidFill>
            <a:srgbClr val="2D9D78"/>
          </a:solidFill>
          <a:ln>
            <a:solidFill>
              <a:srgbClr val="2D9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94392" y="1865376"/>
            <a:ext cx="438912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Liberation Sans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79608" y="1783080"/>
            <a:ext cx="11430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102A43"/>
                </a:solidFill>
                <a:latin typeface="Liberation Sans"/>
              </a:rPr>
              <a:t>Act &amp; learn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79608" y="2167128"/>
            <a:ext cx="1124712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627D98"/>
                </a:solidFill>
                <a:latin typeface="Liberation Sans"/>
              </a:rPr>
              <a:t>Deliver offers; measure uplift against controls.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3520440"/>
            <a:ext cx="10789920" cy="2057400"/>
          </a:xfrm>
          <a:prstGeom prst="roundRect">
            <a:avLst/>
          </a:prstGeom>
          <a:solidFill>
            <a:srgbClr val="F4F7FA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3822191"/>
            <a:ext cx="292608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Liberation Sans"/>
              </a:rPr>
              <a:t>Why this design is practical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315968"/>
            <a:ext cx="4709160" cy="9601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43B53"/>
                </a:solidFill>
                <a:latin typeface="Liberation Sans"/>
              </a:defRPr>
            </a:pPr>
            <a:r>
              <a:t>•  Works on existing tabular data; no new platform is required for the PoC.</a:t>
            </a:r>
          </a:p>
          <a:p>
            <a:pPr>
              <a:spcAft>
                <a:spcPts val="900"/>
              </a:spcAft>
              <a:defRPr sz="1300">
                <a:solidFill>
                  <a:srgbClr val="243B53"/>
                </a:solidFill>
                <a:latin typeface="Liberation Sans"/>
              </a:defRPr>
            </a:pPr>
            <a:r>
              <a:t>•  Produces probabilities that support multiple campaign capacities and cost structures.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3822191"/>
            <a:ext cx="310896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Liberation Sans"/>
              </a:rPr>
              <a:t>Controls built into the workflow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4315968"/>
            <a:ext cx="4846320" cy="96012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43B53"/>
                </a:solidFill>
                <a:latin typeface="Liberation Sans"/>
              </a:defRPr>
            </a:pPr>
            <a:r>
              <a:t>•  Human-approved action catalogue; no adverse automated decisions.</a:t>
            </a:r>
          </a:p>
          <a:p>
            <a:pPr>
              <a:spcAft>
                <a:spcPts val="900"/>
              </a:spcAft>
              <a:defRPr sz="1300">
                <a:solidFill>
                  <a:srgbClr val="243B53"/>
                </a:solidFill>
                <a:latin typeface="Liberation Sans"/>
              </a:defRPr>
            </a:pPr>
            <a:r>
              <a:t>•  Monitoring for drift, calibration, fairness and incremental campaign lift.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2700">
            <a:solidFill>
              <a:srgbClr val="E8F1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21792" y="6565392"/>
            <a:ext cx="996696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50" b="0">
                <a:solidFill>
                  <a:srgbClr val="627D98"/>
                </a:solidFill>
                <a:latin typeface="Liberation Sans"/>
              </a:rPr>
              <a:t>Source: Implemented pipeline in telecom_features.py and train_advanced_model.py.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537960"/>
            <a:ext cx="502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27D98"/>
                </a:solidFill>
                <a:latin typeface="Liberation San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Liberation Sans"/>
              </a:rPr>
              <a:t>Model development moved beyond the tutorial baseline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658368" cy="54864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del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7818120" cy="3536028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458200" y="1417320"/>
            <a:ext cx="2834640" cy="4434840"/>
          </a:xfrm>
          <a:prstGeom prst="roundRect">
            <a:avLst/>
          </a:prstGeom>
          <a:solidFill>
            <a:srgbClr val="F4F7FA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32520" y="1737360"/>
            <a:ext cx="1645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02A43"/>
                </a:solidFill>
                <a:latin typeface="Liberation Sans"/>
              </a:rPr>
              <a:t>Final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2267712"/>
            <a:ext cx="86868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1769AA"/>
                </a:solidFill>
                <a:latin typeface="Liberation Sans"/>
              </a:rPr>
              <a:t>65%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55480" y="2340864"/>
            <a:ext cx="128016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50" b="1">
                <a:solidFill>
                  <a:srgbClr val="243B53"/>
                </a:solidFill>
                <a:latin typeface="Liberation Sans"/>
              </a:rPr>
              <a:t>Engineered LightGBM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944368"/>
            <a:ext cx="86868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0A896"/>
                </a:solidFill>
                <a:latin typeface="Liberation Sans"/>
              </a:rPr>
              <a:t>35%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5480" y="3017520"/>
            <a:ext cx="128016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50" b="1">
                <a:solidFill>
                  <a:srgbClr val="243B53"/>
                </a:solidFill>
                <a:latin typeface="Liberation Sans"/>
              </a:rPr>
              <a:t>Categorical ensemble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732520" y="3639312"/>
            <a:ext cx="2194560" cy="0"/>
          </a:xfrm>
          <a:prstGeom prst="line">
            <a:avLst/>
          </a:prstGeom>
          <a:ln w="12700">
            <a:solidFill>
              <a:srgbClr val="E8F1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32520" y="3886200"/>
            <a:ext cx="18288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627D98"/>
                </a:solidFill>
                <a:latin typeface="Liberation Sans"/>
              </a:rPr>
              <a:t>Selection 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4251960"/>
            <a:ext cx="1920240" cy="123444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900"/>
              </a:spcAft>
              <a:defRPr sz="1150">
                <a:solidFill>
                  <a:srgbClr val="243B53"/>
                </a:solidFill>
                <a:latin typeface="Liberation Sans"/>
              </a:defRPr>
            </a:pPr>
            <a:r>
              <a:t>•  60% train</a:t>
            </a:r>
          </a:p>
          <a:p>
            <a:pPr>
              <a:spcAft>
                <a:spcPts val="900"/>
              </a:spcAft>
              <a:defRPr sz="1150">
                <a:solidFill>
                  <a:srgbClr val="243B53"/>
                </a:solidFill>
                <a:latin typeface="Liberation Sans"/>
              </a:defRPr>
            </a:pPr>
            <a:r>
              <a:t>•  20% validation</a:t>
            </a:r>
          </a:p>
          <a:p>
            <a:pPr>
              <a:spcAft>
                <a:spcPts val="900"/>
              </a:spcAft>
              <a:defRPr sz="1150">
                <a:solidFill>
                  <a:srgbClr val="243B53"/>
                </a:solidFill>
                <a:latin typeface="Liberation Sans"/>
              </a:defRPr>
            </a:pPr>
            <a:r>
              <a:t>•  20% untouched test</a:t>
            </a:r>
          </a:p>
          <a:p>
            <a:pPr>
              <a:spcAft>
                <a:spcPts val="900"/>
              </a:spcAft>
              <a:defRPr sz="1150">
                <a:solidFill>
                  <a:srgbClr val="243B53"/>
                </a:solidFill>
                <a:latin typeface="Liberation Sans"/>
              </a:defRPr>
            </a:pPr>
            <a:r>
              <a:t>•  Selection by validation ROC-AUC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2700">
            <a:solidFill>
              <a:srgbClr val="E8F1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1792" y="6565392"/>
            <a:ext cx="996696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50" b="0">
                <a:solidFill>
                  <a:srgbClr val="627D98"/>
                </a:solidFill>
                <a:latin typeface="Liberation Sans"/>
              </a:rPr>
              <a:t>Source: Reproducible model runs; test data excluded from feature, model and blend selection.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37960"/>
            <a:ext cx="502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27D98"/>
                </a:solidFill>
                <a:latin typeface="Liberation San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Liberation Sans"/>
              </a:rPr>
              <a:t>The final model generalizes to unseen customers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658368" cy="54864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del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7909560" cy="325008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732520" y="1389888"/>
            <a:ext cx="2240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32520" y="1389888"/>
            <a:ext cx="73152" cy="1143000"/>
          </a:xfrm>
          <a:prstGeom prst="rect">
            <a:avLst/>
          </a:prstGeom>
          <a:solidFill>
            <a:srgbClr val="1769AA"/>
          </a:solidFill>
          <a:ln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33688" y="1572768"/>
            <a:ext cx="192024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1769AA"/>
                </a:solidFill>
                <a:latin typeface="Liberation Sans"/>
              </a:rPr>
              <a:t>0.702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33688" y="2048256"/>
            <a:ext cx="1920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1">
                <a:solidFill>
                  <a:srgbClr val="243B53"/>
                </a:solidFill>
                <a:latin typeface="Liberation Sans"/>
              </a:rPr>
              <a:t>ROC-AUC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2724912"/>
            <a:ext cx="2240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32520" y="2724912"/>
            <a:ext cx="73152" cy="1143000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33688" y="2907792"/>
            <a:ext cx="192024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0A896"/>
                </a:solidFill>
                <a:latin typeface="Liberation Sans"/>
              </a:rPr>
              <a:t>0.695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33688" y="3383280"/>
            <a:ext cx="1920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1">
                <a:solidFill>
                  <a:srgbClr val="243B53"/>
                </a:solidFill>
                <a:latin typeface="Liberation Sans"/>
              </a:rPr>
              <a:t>PR-AUC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4059936"/>
            <a:ext cx="2240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32520" y="4059936"/>
            <a:ext cx="73152" cy="11430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33688" y="4242816"/>
            <a:ext cx="192024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F59E0B"/>
                </a:solidFill>
                <a:latin typeface="Liberation Sans"/>
              </a:rPr>
              <a:t>64.3%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33688" y="4718304"/>
            <a:ext cx="1920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1">
                <a:solidFill>
                  <a:srgbClr val="243B53"/>
                </a:solidFill>
                <a:latin typeface="Liberation Sans"/>
              </a:rPr>
              <a:t>Accuracy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41080" y="5413248"/>
            <a:ext cx="2560320" cy="502920"/>
          </a:xfrm>
          <a:prstGeom prst="roundRect">
            <a:avLst/>
          </a:prstGeom>
          <a:solidFill>
            <a:srgbClr val="FFF4E5"/>
          </a:solidFill>
          <a:ln>
            <a:solidFill>
              <a:srgbClr val="F7D9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05672" y="5559552"/>
            <a:ext cx="2212848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50" b="1">
                <a:solidFill>
                  <a:srgbClr val="8A5A00"/>
                </a:solidFill>
                <a:latin typeface="Liberation Sans"/>
              </a:rPr>
              <a:t>Use ranking, not accuracy alone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2700">
            <a:solidFill>
              <a:srgbClr val="E8F1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21792" y="6565392"/>
            <a:ext cx="996696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50" b="0">
                <a:solidFill>
                  <a:srgbClr val="627D98"/>
                </a:solidFill>
                <a:latin typeface="Liberation Sans"/>
              </a:rPr>
              <a:t>Source: Held-out test set, n=20,000. Confusion matrix shown at a 0.50 probability threshold.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37960"/>
            <a:ext cx="502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27D98"/>
                </a:solidFill>
                <a:latin typeface="Liberation San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Liberation Sans"/>
              </a:rPr>
              <a:t>Churn risk is driven by interpretable business signals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658368" cy="54864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7726679" cy="373968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366760" y="1353312"/>
            <a:ext cx="2971800" cy="4709160"/>
          </a:xfrm>
          <a:prstGeom prst="round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68512" y="1664208"/>
            <a:ext cx="22860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2CB1BC"/>
                </a:solidFill>
                <a:latin typeface="Liberation Sans"/>
              </a:rPr>
              <a:t>Four intervention themes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41080" y="2331720"/>
            <a:ext cx="118872" cy="594360"/>
          </a:xfrm>
          <a:prstGeom prst="rect">
            <a:avLst/>
          </a:prstGeom>
          <a:solidFill>
            <a:srgbClr val="1769AA"/>
          </a:solidFill>
          <a:ln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15400" y="2331720"/>
            <a:ext cx="10515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Liberation Sans"/>
              </a:rPr>
              <a:t>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21240" y="2331720"/>
            <a:ext cx="109728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50" b="0">
                <a:solidFill>
                  <a:srgbClr val="D9EAF4"/>
                </a:solidFill>
                <a:latin typeface="Liberation Sans"/>
              </a:rPr>
              <a:t>Equipment age and tenure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41080" y="3163824"/>
            <a:ext cx="118872" cy="594360"/>
          </a:xfrm>
          <a:prstGeom prst="rect">
            <a:avLst/>
          </a:prstGeom>
          <a:solidFill>
            <a:srgbClr val="2CB1BC"/>
          </a:solidFill>
          <a:ln>
            <a:solidFill>
              <a:srgbClr val="2CB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15400" y="3163824"/>
            <a:ext cx="10515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Liberation Sans"/>
              </a:rPr>
              <a:t>Engagement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21240" y="3163824"/>
            <a:ext cx="109728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50" b="0">
                <a:solidFill>
                  <a:srgbClr val="D9EAF4"/>
                </a:solidFill>
                <a:latin typeface="Liberation Sans"/>
              </a:rPr>
              <a:t>Current vs historical usage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3995928"/>
            <a:ext cx="118872" cy="5943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3995928"/>
            <a:ext cx="10515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Liberation Sans"/>
              </a:rPr>
              <a:t>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21240" y="3995928"/>
            <a:ext cx="109728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50" b="0">
                <a:solidFill>
                  <a:srgbClr val="D9EAF4"/>
                </a:solidFill>
                <a:latin typeface="Liberation Sans"/>
              </a:rPr>
              <a:t>Recurring revenue and handset value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41080" y="4828031"/>
            <a:ext cx="118872" cy="594360"/>
          </a:xfrm>
          <a:prstGeom prst="rect">
            <a:avLst/>
          </a:prstGeom>
          <a:solidFill>
            <a:srgbClr val="D64545"/>
          </a:solidFill>
          <a:ln>
            <a:solidFill>
              <a:srgbClr val="D6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4828031"/>
            <a:ext cx="10515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50" b="1">
                <a:solidFill>
                  <a:srgbClr val="FFFFFF"/>
                </a:solidFill>
                <a:latin typeface="Liberation Sans"/>
              </a:rPr>
              <a:t>Experience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4828031"/>
            <a:ext cx="1097280" cy="4389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50" b="0">
                <a:solidFill>
                  <a:srgbClr val="D9EAF4"/>
                </a:solidFill>
                <a:latin typeface="Liberation Sans"/>
              </a:rPr>
              <a:t>Voice drops and call completion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5486400"/>
            <a:ext cx="2011680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AFC7D5"/>
                </a:solidFill>
                <a:latin typeface="Liberation Sans"/>
              </a:rPr>
              <a:t>Interpretation guardrail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2" y="5760720"/>
            <a:ext cx="214884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Liberation Sans"/>
              </a:rPr>
              <a:t>Importance identifies prediction signals, not causal effects.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2700">
            <a:solidFill>
              <a:srgbClr val="E8F1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21792" y="6565392"/>
            <a:ext cx="996696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50" b="0">
                <a:solidFill>
                  <a:srgbClr val="627D98"/>
                </a:solidFill>
                <a:latin typeface="Liberation Sans"/>
              </a:rPr>
              <a:t>Source: LightGBM gain importance. Causal impact must be validated through controlled interventions.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37960"/>
            <a:ext cx="502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27D98"/>
                </a:solidFill>
                <a:latin typeface="Liberation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Liberation Sans"/>
              </a:rPr>
              <a:t>A top-20% strategy concentrates campaign spend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658368" cy="54864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argeting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8046720" cy="3306441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778240" y="1389888"/>
            <a:ext cx="2331720" cy="4434840"/>
          </a:xfrm>
          <a:prstGeom prst="roundRect">
            <a:avLst/>
          </a:prstGeom>
          <a:solidFill>
            <a:srgbClr val="F4F7FA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34272" y="1719072"/>
            <a:ext cx="178308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02A43"/>
                </a:solidFill>
                <a:latin typeface="Liberation Sans"/>
              </a:rPr>
              <a:t>Recommended PoC capacity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2560" y="2514600"/>
            <a:ext cx="178308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3100" b="1">
                <a:solidFill>
                  <a:srgbClr val="00A896"/>
                </a:solidFill>
                <a:latin typeface="Liberation Sans"/>
              </a:rPr>
              <a:t>20%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3090672"/>
            <a:ext cx="17830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627D98"/>
                </a:solidFill>
                <a:latin typeface="Liberation Sans"/>
              </a:rPr>
              <a:t>of customers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9079992" y="3584448"/>
            <a:ext cx="1728216" cy="0"/>
          </a:xfrm>
          <a:prstGeom prst="line">
            <a:avLst/>
          </a:prstGeom>
          <a:ln w="12700">
            <a:solidFill>
              <a:srgbClr val="E8F1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052560" y="3858768"/>
            <a:ext cx="178308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400" b="1">
                <a:solidFill>
                  <a:srgbClr val="F59E0B"/>
                </a:solidFill>
                <a:latin typeface="Liberation Sans"/>
              </a:rPr>
              <a:t>74.4%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4343400"/>
            <a:ext cx="17830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627D98"/>
                </a:solidFill>
                <a:latin typeface="Liberation Sans"/>
              </a:rPr>
              <a:t>observed churn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4882896"/>
            <a:ext cx="17830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2200" b="1">
                <a:solidFill>
                  <a:srgbClr val="1769AA"/>
                </a:solidFill>
                <a:latin typeface="Liberation Sans"/>
              </a:rPr>
              <a:t>1.50×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5330952"/>
            <a:ext cx="17830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050" b="1">
                <a:solidFill>
                  <a:srgbClr val="627D98"/>
                </a:solidFill>
                <a:latin typeface="Liberation Sans"/>
              </a:rPr>
              <a:t>lift vs portfolio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2700">
            <a:solidFill>
              <a:srgbClr val="E8F1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21792" y="6565392"/>
            <a:ext cx="996696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50" b="0">
                <a:solidFill>
                  <a:srgbClr val="627D98"/>
                </a:solidFill>
                <a:latin typeface="Liberation Sans"/>
              </a:rPr>
              <a:t>Source: Held-out test ranking. Campaign capacity should be tuned to action cost and contact-channel limits.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37960"/>
            <a:ext cx="502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27D98"/>
                </a:solidFill>
                <a:latin typeface="Liberation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Liberation Sans"/>
              </a:rPr>
              <a:t>Business proposal: match risk signals to retention 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658368" cy="54864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13232" y="1298448"/>
            <a:ext cx="3063240" cy="566928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463040"/>
            <a:ext cx="2770632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Liberation Sans"/>
              </a:rPr>
              <a:t>Risk pattern</a:t>
            </a:r>
          </a:p>
        </p:txBody>
      </p:sp>
      <p:sp>
        <p:nvSpPr>
          <p:cNvPr id="6" name="Rectangle 5"/>
          <p:cNvSpPr/>
          <p:nvPr/>
        </p:nvSpPr>
        <p:spPr>
          <a:xfrm>
            <a:off x="3822191" y="1298448"/>
            <a:ext cx="4617720" cy="566928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68496" y="1463040"/>
            <a:ext cx="4325112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Liberation Sans"/>
              </a:rPr>
              <a:t>Recommended 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485632" y="1298448"/>
            <a:ext cx="2514600" cy="566928"/>
          </a:xfrm>
          <a:prstGeom prst="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31936" y="1463040"/>
            <a:ext cx="2221992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Liberation Sans"/>
              </a:rPr>
              <a:t>Primary KPI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1874519"/>
            <a:ext cx="3063240" cy="813816"/>
          </a:xfrm>
          <a:prstGeom prst="rect">
            <a:avLst/>
          </a:prstGeom>
          <a:solidFill>
            <a:srgbClr val="E8F1F8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039112"/>
            <a:ext cx="2770632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50" b="1">
                <a:solidFill>
                  <a:srgbClr val="243B53"/>
                </a:solidFill>
                <a:latin typeface="Liberation Sans"/>
              </a:rPr>
              <a:t>Ageing handset + high risk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22191" y="1874519"/>
            <a:ext cx="4617720" cy="813816"/>
          </a:xfrm>
          <a:prstGeom prst="rect">
            <a:avLst/>
          </a:prstGeom>
          <a:solidFill>
            <a:srgbClr val="E8F1F8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68496" y="2039112"/>
            <a:ext cx="4325112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243B53"/>
                </a:solidFill>
                <a:latin typeface="Liberation Sans"/>
              </a:rPr>
              <a:t>Upgrade offer or device-financing review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85632" y="1874519"/>
            <a:ext cx="2514600" cy="813816"/>
          </a:xfrm>
          <a:prstGeom prst="rect">
            <a:avLst/>
          </a:prstGeom>
          <a:solidFill>
            <a:srgbClr val="E8F1F8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31936" y="2039112"/>
            <a:ext cx="2221992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243B53"/>
                </a:solidFill>
                <a:latin typeface="Liberation Sans"/>
              </a:rPr>
              <a:t>Retention uplift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2734056"/>
            <a:ext cx="3063240" cy="81381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2898648"/>
            <a:ext cx="2770632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243B53"/>
                </a:solidFill>
                <a:latin typeface="Liberation Sans"/>
              </a:rPr>
              <a:t>Usage decline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22191" y="2734056"/>
            <a:ext cx="4617720" cy="81381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68496" y="2898648"/>
            <a:ext cx="4325112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243B53"/>
                </a:solidFill>
                <a:latin typeface="Liberation Sans"/>
              </a:rPr>
              <a:t>Plan-fit review, personalized bundle or usage benefit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85632" y="2734056"/>
            <a:ext cx="2514600" cy="81381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31936" y="2898648"/>
            <a:ext cx="2221992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243B53"/>
                </a:solidFill>
                <a:latin typeface="Liberation Sans"/>
              </a:rPr>
              <a:t>Usage recovery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3593591"/>
            <a:ext cx="3063240" cy="813816"/>
          </a:xfrm>
          <a:prstGeom prst="rect">
            <a:avLst/>
          </a:prstGeom>
          <a:solidFill>
            <a:srgbClr val="E8F1F8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3758183"/>
            <a:ext cx="2770632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243B53"/>
                </a:solidFill>
                <a:latin typeface="Liberation Sans"/>
              </a:rPr>
              <a:t>Service-quality friction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22191" y="3593591"/>
            <a:ext cx="4617720" cy="813816"/>
          </a:xfrm>
          <a:prstGeom prst="rect">
            <a:avLst/>
          </a:prstGeom>
          <a:solidFill>
            <a:srgbClr val="E8F1F8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68496" y="3758183"/>
            <a:ext cx="4325112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243B53"/>
                </a:solidFill>
                <a:latin typeface="Liberation Sans"/>
              </a:rPr>
              <a:t>Proactive care call and network/service resolution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85632" y="3593591"/>
            <a:ext cx="2514600" cy="813816"/>
          </a:xfrm>
          <a:prstGeom prst="rect">
            <a:avLst/>
          </a:prstGeom>
          <a:solidFill>
            <a:srgbClr val="E8F1F8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31936" y="3758183"/>
            <a:ext cx="2221992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243B53"/>
                </a:solidFill>
                <a:latin typeface="Liberation Sans"/>
              </a:rPr>
              <a:t>Complaint reduction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" y="4453127"/>
            <a:ext cx="3063240" cy="81381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9536" y="4617719"/>
            <a:ext cx="2770632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243B53"/>
                </a:solidFill>
                <a:latin typeface="Liberation Sans"/>
              </a:rPr>
              <a:t>High-value at-risk customer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22191" y="4453127"/>
            <a:ext cx="4617720" cy="81381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68496" y="4617719"/>
            <a:ext cx="4325112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243B53"/>
                </a:solidFill>
                <a:latin typeface="Liberation Sans"/>
              </a:rPr>
              <a:t>Priority outreach with value-capped incentive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85632" y="4453127"/>
            <a:ext cx="2514600" cy="813816"/>
          </a:xfrm>
          <a:prstGeom prst="rect">
            <a:avLst/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31936" y="4617719"/>
            <a:ext cx="2221992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243B53"/>
                </a:solidFill>
                <a:latin typeface="Liberation Sans"/>
              </a:rPr>
              <a:t>Net revenue retained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" y="5559552"/>
            <a:ext cx="10287000" cy="493776"/>
          </a:xfrm>
          <a:prstGeom prst="roundRect">
            <a:avLst/>
          </a:prstGeom>
          <a:solidFill>
            <a:srgbClr val="E6F6F2"/>
          </a:solidFill>
          <a:ln>
            <a:solidFill>
              <a:srgbClr val="B8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696712"/>
            <a:ext cx="98298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76B58"/>
                </a:solidFill>
                <a:latin typeface="Liberation Sans"/>
              </a:rPr>
              <a:t>PoC design: randomly hold out 10% of each risk/action segment to measure incremental retention, not just response rate.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2700">
            <a:solidFill>
              <a:srgbClr val="E8F1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21792" y="6565392"/>
            <a:ext cx="996696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50" b="0">
                <a:solidFill>
                  <a:srgbClr val="627D98"/>
                </a:solidFill>
                <a:latin typeface="Liberation Sans"/>
              </a:rPr>
              <a:t>Source: Proposed operating model derived from the leading predictive features.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537960"/>
            <a:ext cx="502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27D98"/>
                </a:solidFill>
                <a:latin typeface="Liberation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Liberation Sans"/>
              </a:rPr>
              <a:t>Illustrative economics support a controlled rollout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658368" cy="54864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89888" y="804672"/>
            <a:ext cx="99669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0">
                <a:solidFill>
                  <a:srgbClr val="627D98"/>
                </a:solidFill>
                <a:latin typeface="Liberation Sans"/>
              </a:rPr>
              <a:t>Scenario per 100,000 scored customers; replace assumptions with Company A campaign costs</a:t>
            </a:r>
          </a:p>
        </p:txBody>
      </p:sp>
      <p:pic>
        <p:nvPicPr>
          <p:cNvPr id="5" name="Picture 4" descr="impact_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6629400" cy="347120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43800" y="1417320"/>
            <a:ext cx="3657600" cy="4480560"/>
          </a:xfrm>
          <a:prstGeom prst="roundRect">
            <a:avLst/>
          </a:prstGeom>
          <a:solidFill>
            <a:srgbClr val="F4F7FA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45552" y="1709928"/>
            <a:ext cx="246888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02A43"/>
                </a:solidFill>
                <a:latin typeface="Liberation Sans"/>
              </a:rPr>
              <a:t>Base-case assumptions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0688" y="2212848"/>
            <a:ext cx="2926080" cy="20116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900"/>
              </a:spcAft>
              <a:defRPr sz="1150">
                <a:solidFill>
                  <a:srgbClr val="243B53"/>
                </a:solidFill>
                <a:latin typeface="Liberation Sans"/>
              </a:defRPr>
            </a:pPr>
            <a:r>
              <a:t>•  Target top 20% = 20,000 customers</a:t>
            </a:r>
          </a:p>
          <a:p>
            <a:pPr>
              <a:spcAft>
                <a:spcPts val="900"/>
              </a:spcAft>
              <a:defRPr sz="1150">
                <a:solidFill>
                  <a:srgbClr val="243B53"/>
                </a:solidFill>
                <a:latin typeface="Liberation Sans"/>
              </a:defRPr>
            </a:pPr>
            <a:r>
              <a:t>•  Capture 30.0% of expected churners</a:t>
            </a:r>
          </a:p>
          <a:p>
            <a:pPr>
              <a:spcAft>
                <a:spcPts val="900"/>
              </a:spcAft>
              <a:defRPr sz="1150">
                <a:solidFill>
                  <a:srgbClr val="243B53"/>
                </a:solidFill>
                <a:latin typeface="Liberation Sans"/>
              </a:defRPr>
            </a:pPr>
            <a:r>
              <a:t>•  Average target revenue = $54.74/month</a:t>
            </a:r>
          </a:p>
          <a:p>
            <a:pPr>
              <a:spcAft>
                <a:spcPts val="900"/>
              </a:spcAft>
              <a:defRPr sz="1150">
                <a:solidFill>
                  <a:srgbClr val="243B53"/>
                </a:solidFill>
                <a:latin typeface="Liberation Sans"/>
              </a:defRPr>
            </a:pPr>
            <a:r>
              <a:t>•  20% of contacted churners retained</a:t>
            </a:r>
          </a:p>
          <a:p>
            <a:pPr>
              <a:spcAft>
                <a:spcPts val="900"/>
              </a:spcAft>
              <a:defRPr sz="1150">
                <a:solidFill>
                  <a:srgbClr val="243B53"/>
                </a:solidFill>
                <a:latin typeface="Liberation Sans"/>
              </a:defRPr>
            </a:pPr>
            <a:r>
              <a:t>•  $15 intervention cost per targeted customer</a:t>
            </a:r>
          </a:p>
          <a:p>
            <a:pPr>
              <a:spcAft>
                <a:spcPts val="900"/>
              </a:spcAft>
              <a:defRPr sz="1150">
                <a:solidFill>
                  <a:srgbClr val="243B53"/>
                </a:solidFill>
                <a:latin typeface="Liberation Sans"/>
              </a:defRPr>
            </a:pPr>
            <a:r>
              <a:t>•  12 months of retained revenue value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45552" y="4480560"/>
            <a:ext cx="2990088" cy="0"/>
          </a:xfrm>
          <a:prstGeom prst="line">
            <a:avLst/>
          </a:prstGeom>
          <a:ln w="12700">
            <a:solidFill>
              <a:srgbClr val="E8F1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845552" y="4736592"/>
            <a:ext cx="16459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50" b="1">
                <a:solidFill>
                  <a:srgbClr val="627D98"/>
                </a:solidFill>
                <a:latin typeface="Liberation Sans"/>
              </a:rPr>
              <a:t>Net annual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5074920"/>
            <a:ext cx="1645920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2D9D78"/>
                </a:solidFill>
                <a:latin typeface="Liberation Sans"/>
              </a:rPr>
              <a:t>$1.65M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5480" y="5148072"/>
            <a:ext cx="12344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1700" b="1">
                <a:solidFill>
                  <a:srgbClr val="1769AA"/>
                </a:solidFill>
                <a:latin typeface="Liberation Sans"/>
              </a:rPr>
              <a:t>5.5× ROI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2700">
            <a:solidFill>
              <a:srgbClr val="E8F1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1792" y="6565392"/>
            <a:ext cx="996696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50" b="0">
                <a:solidFill>
                  <a:srgbClr val="627D98"/>
                </a:solidFill>
                <a:latin typeface="Liberation Sans"/>
              </a:rPr>
              <a:t>Source: Model targeting results plus explicitly stated assumptions. This is a planning scenario, not measured campaign impact.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37960"/>
            <a:ext cx="502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27D98"/>
                </a:solidFill>
                <a:latin typeface="Liberation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8813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102A43"/>
                </a:solidFill>
                <a:latin typeface="Liberation Sans"/>
              </a:rPr>
              <a:t>90-day PoC roadmap with decision gates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896112"/>
            <a:ext cx="658368" cy="54864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24688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2468880" cy="164592"/>
          </a:xfrm>
          <a:prstGeom prst="rect">
            <a:avLst/>
          </a:prstGeom>
          <a:solidFill>
            <a:srgbClr val="1769AA"/>
          </a:solidFill>
          <a:ln>
            <a:solidFill>
              <a:srgbClr val="1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783080"/>
            <a:ext cx="11887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1">
                <a:solidFill>
                  <a:srgbClr val="1769AA"/>
                </a:solidFill>
                <a:latin typeface="Liberation Sans"/>
              </a:rPr>
              <a:t>Weeks 1–2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2194560"/>
            <a:ext cx="18288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Liberation Sans"/>
              </a:rPr>
              <a:t>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788920"/>
            <a:ext cx="1993392" cy="9601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27D98"/>
                </a:solidFill>
                <a:latin typeface="Liberation Sans"/>
              </a:rPr>
              <a:t>Confirm data freshness, customer eligibility, costs and action catalogue.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17320"/>
            <a:ext cx="24688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417320"/>
            <a:ext cx="2468880" cy="164592"/>
          </a:xfrm>
          <a:prstGeom prst="rect">
            <a:avLst/>
          </a:prstGeom>
          <a:solidFill>
            <a:srgbClr val="2CB1BC"/>
          </a:solidFill>
          <a:ln>
            <a:solidFill>
              <a:srgbClr val="2CB1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1783080"/>
            <a:ext cx="11887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1">
                <a:solidFill>
                  <a:srgbClr val="2CB1BC"/>
                </a:solidFill>
                <a:latin typeface="Liberation Sans"/>
              </a:rPr>
              <a:t>Weeks 3–5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194560"/>
            <a:ext cx="18288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Liberation Sans"/>
              </a:rPr>
              <a:t>Integrate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788920"/>
            <a:ext cx="1993392" cy="9601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27D98"/>
                </a:solidFill>
                <a:latin typeface="Liberation Sans"/>
              </a:rPr>
              <a:t>Automate weekly scoring and connect ranked lists to CRM workflows.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417320"/>
            <a:ext cx="24688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417320"/>
            <a:ext cx="2468880" cy="16459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783080"/>
            <a:ext cx="11887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1">
                <a:solidFill>
                  <a:srgbClr val="F59E0B"/>
                </a:solidFill>
                <a:latin typeface="Liberation Sans"/>
              </a:rPr>
              <a:t>Weeks 6–9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194560"/>
            <a:ext cx="18288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Liberation Sans"/>
              </a:rPr>
              <a:t>Experiment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788920"/>
            <a:ext cx="1993392" cy="9601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27D98"/>
                </a:solidFill>
                <a:latin typeface="Liberation Sans"/>
              </a:rPr>
              <a:t>Run segmented treatment/control campaigns and monitor operational quality.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1417320"/>
            <a:ext cx="24688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8F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15400" y="1417320"/>
            <a:ext cx="2468880" cy="164592"/>
          </a:xfrm>
          <a:prstGeom prst="rect">
            <a:avLst/>
          </a:prstGeom>
          <a:solidFill>
            <a:srgbClr val="2D9D78"/>
          </a:solidFill>
          <a:ln>
            <a:solidFill>
              <a:srgbClr val="2D9D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16568" y="1783080"/>
            <a:ext cx="118872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50" b="1">
                <a:solidFill>
                  <a:srgbClr val="2D9D78"/>
                </a:solidFill>
                <a:latin typeface="Liberation Sans"/>
              </a:rPr>
              <a:t>Weeks 10–12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6568" y="2194560"/>
            <a:ext cx="18288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102A43"/>
                </a:solidFill>
                <a:latin typeface="Liberation Sans"/>
              </a:rPr>
              <a:t>Decide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16568" y="2788920"/>
            <a:ext cx="1993392" cy="9601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150" b="0">
                <a:solidFill>
                  <a:srgbClr val="627D98"/>
                </a:solidFill>
                <a:latin typeface="Liberation Sans"/>
              </a:rPr>
              <a:t>Measure incremental retention, net value, fairness and model drift.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617720"/>
            <a:ext cx="10698480" cy="1170432"/>
          </a:xfrm>
          <a:prstGeom prst="roundRect">
            <a:avLst/>
          </a:prstGeom>
          <a:solidFill>
            <a:srgbClr val="102A43"/>
          </a:solidFill>
          <a:ln>
            <a:solidFill>
              <a:srgbClr val="10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901184"/>
            <a:ext cx="29260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2CB1BC"/>
                </a:solidFill>
                <a:latin typeface="Liberation Sans"/>
              </a:rPr>
              <a:t>Scale only if the PoC passes all four gates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77639" y="4855464"/>
            <a:ext cx="1508760" cy="576072"/>
          </a:xfrm>
          <a:prstGeom prst="roundRect">
            <a:avLst/>
          </a:prstGeom>
          <a:solidFill>
            <a:srgbClr val="173F5F"/>
          </a:solidFill>
          <a:ln>
            <a:solidFill>
              <a:srgbClr val="17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50791" y="5010912"/>
            <a:ext cx="1353312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Liberation Sans"/>
              </a:rPr>
              <a:t>Incremental retention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33288" y="4855464"/>
            <a:ext cx="1508760" cy="576072"/>
          </a:xfrm>
          <a:prstGeom prst="roundRect">
            <a:avLst/>
          </a:prstGeom>
          <a:solidFill>
            <a:srgbClr val="173F5F"/>
          </a:solidFill>
          <a:ln>
            <a:solidFill>
              <a:srgbClr val="17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06440" y="5010912"/>
            <a:ext cx="1353312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Liberation Sans"/>
              </a:rPr>
              <a:t>Positive net value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88936" y="4855464"/>
            <a:ext cx="1508760" cy="576072"/>
          </a:xfrm>
          <a:prstGeom prst="roundRect">
            <a:avLst/>
          </a:prstGeom>
          <a:solidFill>
            <a:srgbClr val="173F5F"/>
          </a:solidFill>
          <a:ln>
            <a:solidFill>
              <a:srgbClr val="17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62088" y="5010912"/>
            <a:ext cx="1353312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Liberation Sans"/>
              </a:rPr>
              <a:t>Stable calibration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44584" y="4855464"/>
            <a:ext cx="1508760" cy="576072"/>
          </a:xfrm>
          <a:prstGeom prst="roundRect">
            <a:avLst/>
          </a:prstGeom>
          <a:solidFill>
            <a:srgbClr val="173F5F"/>
          </a:solidFill>
          <a:ln>
            <a:solidFill>
              <a:srgbClr val="17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17736" y="5010912"/>
            <a:ext cx="1353312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Liberation Sans"/>
              </a:rPr>
              <a:t>No material segment harm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94360" y="6510528"/>
            <a:ext cx="11000232" cy="0"/>
          </a:xfrm>
          <a:prstGeom prst="line">
            <a:avLst/>
          </a:prstGeom>
          <a:ln w="12700">
            <a:solidFill>
              <a:srgbClr val="E8F1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21792" y="6565392"/>
            <a:ext cx="996696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750" b="0">
                <a:solidFill>
                  <a:srgbClr val="627D98"/>
                </a:solidFill>
                <a:latin typeface="Liberation Sans"/>
              </a:rPr>
              <a:t>Source: Proposed implementation roadmap and model-risk controls.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537960"/>
            <a:ext cx="502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1">
                <a:solidFill>
                  <a:srgbClr val="627D98"/>
                </a:solidFill>
                <a:latin typeface="Liberation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57200"/>
            <a:ext cx="457200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Liberation Sans"/>
              </a:rPr>
              <a:t>Decision requested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115568"/>
            <a:ext cx="4983480" cy="2121408"/>
          </a:xfrm>
          <a:prstGeom prst="roundRect">
            <a:avLst/>
          </a:prstGeom>
          <a:solidFill>
            <a:srgbClr val="173F5F"/>
          </a:solidFill>
          <a:ln>
            <a:solidFill>
              <a:srgbClr val="173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1371600"/>
            <a:ext cx="4434840" cy="1600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Liberation Sans"/>
              </a:rPr>
              <a:t>Approve a 90-day retention PoC targeting the highest-risk 20% of eligible customers, with randomized controls and value-capped interventions.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566160"/>
            <a:ext cx="22860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2CB1BC"/>
                </a:solidFill>
                <a:latin typeface="Liberation Sans"/>
              </a:rPr>
              <a:t>Expected PoC outputs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4005072"/>
            <a:ext cx="4754880" cy="13258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FFFFFF"/>
                </a:solidFill>
                <a:latin typeface="Liberation Sans"/>
              </a:defRPr>
            </a:pPr>
            <a:r>
              <a:t>•  Incremental churn reduction by segment and action</a:t>
            </a:r>
          </a:p>
          <a:p>
            <a:pPr>
              <a:spcAft>
                <a:spcPts val="900"/>
              </a:spcAft>
              <a:defRPr sz="1300">
                <a:solidFill>
                  <a:srgbClr val="FFFFFF"/>
                </a:solidFill>
                <a:latin typeface="Liberation Sans"/>
              </a:defRPr>
            </a:pPr>
            <a:r>
              <a:t>•  Verified campaign ROI and scalable capacity</a:t>
            </a:r>
          </a:p>
          <a:p>
            <a:pPr>
              <a:spcAft>
                <a:spcPts val="900"/>
              </a:spcAft>
              <a:defRPr sz="1300">
                <a:solidFill>
                  <a:srgbClr val="FFFFFF"/>
                </a:solidFill>
                <a:latin typeface="Liberation Sans"/>
              </a:defRPr>
            </a:pPr>
            <a:r>
              <a:t>•  Production monitoring and retraining requirements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548640"/>
            <a:ext cx="0" cy="5715000"/>
          </a:xfrm>
          <a:prstGeom prst="line">
            <a:avLst/>
          </a:prstGeom>
          <a:ln w="19050">
            <a:solidFill>
              <a:srgbClr val="315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46520" y="457200"/>
            <a:ext cx="411480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Liberation Sans"/>
              </a:rPr>
              <a:t>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170432"/>
            <a:ext cx="489204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19" b="0">
                <a:solidFill>
                  <a:srgbClr val="D9EAF4"/>
                </a:solidFill>
                <a:latin typeface="Liberation Sans"/>
              </a:rPr>
              <a:t>[1] Deloitte. 2026 Telecommunications Industry Outlook. https://www.deloitte.com/us/en/insights/industry/technology/technology-media-and-telecom-predictions/2026/telecommunications-industry-outlook.html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920240"/>
            <a:ext cx="489204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19" b="0">
                <a:solidFill>
                  <a:srgbClr val="D9EAF4"/>
                </a:solidFill>
                <a:latin typeface="Liberation Sans"/>
              </a:rPr>
              <a:t>[2] Company A Dataset Overview. ENG_Company.md. Supplied course material.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670048"/>
            <a:ext cx="489204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19" b="0">
                <a:solidFill>
                  <a:srgbClr val="D9EAF4"/>
                </a:solidFill>
                <a:latin typeface="Liberation Sans"/>
              </a:rPr>
              <a:t>[3] GCI World 2026 Final Assignment Tutorial. tutorial.ipynb. Supplied course material.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419856"/>
            <a:ext cx="489204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19" b="0">
                <a:solidFill>
                  <a:srgbClr val="D9EAF4"/>
                </a:solidFill>
                <a:latin typeface="Liberation Sans"/>
              </a:rPr>
              <a:t>[4] Company A analysis pipeline: train_models.py, train_improved_model.py, train_advanced_model.py.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169663"/>
            <a:ext cx="489204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19" b="0">
                <a:solidFill>
                  <a:srgbClr val="D9EAF4"/>
                </a:solidFill>
                <a:latin typeface="Liberation Sans"/>
              </a:rPr>
              <a:t>[5] Held-out metrics and figures: artifacts/advanced/metrics.json and feature_importance.csv.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4919472"/>
            <a:ext cx="489204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19" b="0">
                <a:solidFill>
                  <a:srgbClr val="D9EAF4"/>
                </a:solidFill>
                <a:latin typeface="Liberation Sans"/>
              </a:rPr>
              <a:t>[6] Sample presentation used for narrative reference: Sample1.pptx.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5833872"/>
            <a:ext cx="47548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Liberation Sans"/>
              </a:rPr>
              <a:t>All financial values on slide 13 are explicitly labeled scenario assumptions.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19672"/>
            <a:ext cx="5029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/>
            <a:r>
              <a:rPr sz="800" b="1">
                <a:solidFill>
                  <a:srgbClr val="AFC7D5"/>
                </a:solidFill>
                <a:latin typeface="Liberation San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