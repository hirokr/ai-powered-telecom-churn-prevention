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9144000" cy="6858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5" roundtripDataSignature="AMtx7mgGavYY40M6QD6VKiOMQh/igd93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7"/>
          <p:cNvSpPr txBox="1"/>
          <p:nvPr>
            <p:ph type="title"/>
          </p:nvPr>
        </p:nvSpPr>
        <p:spPr>
          <a:xfrm>
            <a:off x="342478" y="201901"/>
            <a:ext cx="7070090" cy="841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u="sng">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7"/>
          <p:cNvSpPr txBox="1"/>
          <p:nvPr>
            <p:ph idx="1" type="body"/>
          </p:nvPr>
        </p:nvSpPr>
        <p:spPr>
          <a:xfrm>
            <a:off x="645533" y="3076085"/>
            <a:ext cx="5969634" cy="291020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600" u="sng">
                <a:solidFill>
                  <a:schemeClr val="dk1"/>
                </a:solidFill>
                <a:latin typeface="Microsoft JhengHei"/>
                <a:ea typeface="Microsoft JhengHei"/>
                <a:cs typeface="Microsoft JhengHei"/>
                <a:sym typeface="Microsoft JhengHe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
        <p:nvSpPr>
          <p:cNvPr id="19" name="Google Shape;19;p1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 name="Shape 22"/>
        <p:cNvGrpSpPr/>
        <p:nvPr/>
      </p:nvGrpSpPr>
      <p:grpSpPr>
        <a:xfrm>
          <a:off x="0" y="0"/>
          <a:ext cx="0" cy="0"/>
          <a:chOff x="0" y="0"/>
          <a:chExt cx="0" cy="0"/>
        </a:xfrm>
      </p:grpSpPr>
      <p:sp>
        <p:nvSpPr>
          <p:cNvPr id="23" name="Google Shape;23;p19"/>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u="sng">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9"/>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u="sng">
                <a:solidFill>
                  <a:schemeClr val="dk1"/>
                </a:solidFill>
                <a:latin typeface="Microsoft JhengHei"/>
                <a:ea typeface="Microsoft JhengHei"/>
                <a:cs typeface="Microsoft JhengHei"/>
                <a:sym typeface="Microsoft JhengHe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20"/>
          <p:cNvSpPr txBox="1"/>
          <p:nvPr>
            <p:ph type="title"/>
          </p:nvPr>
        </p:nvSpPr>
        <p:spPr>
          <a:xfrm>
            <a:off x="342478" y="201901"/>
            <a:ext cx="7070090" cy="841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u="sng">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0"/>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20"/>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2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0"/>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5" name="Shape 35"/>
        <p:cNvGrpSpPr/>
        <p:nvPr/>
      </p:nvGrpSpPr>
      <p:grpSpPr>
        <a:xfrm>
          <a:off x="0" y="0"/>
          <a:ext cx="0" cy="0"/>
          <a:chOff x="0" y="0"/>
          <a:chExt cx="0" cy="0"/>
        </a:xfrm>
      </p:grpSpPr>
      <p:sp>
        <p:nvSpPr>
          <p:cNvPr id="36" name="Google Shape;36;p21"/>
          <p:cNvSpPr txBox="1"/>
          <p:nvPr>
            <p:ph type="title"/>
          </p:nvPr>
        </p:nvSpPr>
        <p:spPr>
          <a:xfrm>
            <a:off x="342478" y="201901"/>
            <a:ext cx="7070090" cy="841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u="sng">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p:nvPr/>
        </p:nvSpPr>
        <p:spPr>
          <a:xfrm>
            <a:off x="22670" y="1141111"/>
            <a:ext cx="0" cy="4700905"/>
          </a:xfrm>
          <a:custGeom>
            <a:rect b="b" l="l" r="r" t="t"/>
            <a:pathLst>
              <a:path extrusionOk="0" h="4700905" w="120000">
                <a:moveTo>
                  <a:pt x="0" y="0"/>
                </a:moveTo>
                <a:lnTo>
                  <a:pt x="0" y="4700469"/>
                </a:lnTo>
              </a:path>
            </a:pathLst>
          </a:custGeom>
          <a:noFill/>
          <a:ln cap="flat" cmpd="sng" w="7302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6"/>
          <p:cNvSpPr txBox="1"/>
          <p:nvPr>
            <p:ph type="title"/>
          </p:nvPr>
        </p:nvSpPr>
        <p:spPr>
          <a:xfrm>
            <a:off x="342478" y="201901"/>
            <a:ext cx="7070090" cy="8413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200" u="sng" cap="none" strike="noStrike">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6"/>
          <p:cNvSpPr txBox="1"/>
          <p:nvPr>
            <p:ph idx="1" type="body"/>
          </p:nvPr>
        </p:nvSpPr>
        <p:spPr>
          <a:xfrm>
            <a:off x="645533" y="3076085"/>
            <a:ext cx="5969634" cy="291020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600" u="sng" cap="none" strike="noStrike">
                <a:solidFill>
                  <a:schemeClr val="dk1"/>
                </a:solidFill>
                <a:latin typeface="Microsoft JhengHei"/>
                <a:ea typeface="Microsoft JhengHei"/>
                <a:cs typeface="Microsoft JhengHei"/>
                <a:sym typeface="Microsoft JhengHe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2" type="sldNum"/>
          </p:nvPr>
        </p:nvSpPr>
        <p:spPr>
          <a:xfrm>
            <a:off x="8228965" y="6428920"/>
            <a:ext cx="244475" cy="211454"/>
          </a:xfrm>
          <a:prstGeom prst="rect">
            <a:avLst/>
          </a:prstGeom>
          <a:noFill/>
          <a:ln>
            <a:noFill/>
          </a:ln>
        </p:spPr>
        <p:txBody>
          <a:bodyPr anchorCtr="0" anchor="t" bIns="0" lIns="0" spcFirstLastPara="1" rIns="0" wrap="square" tIns="0">
            <a:spAutoFit/>
          </a:bodyPr>
          <a:lstStyle>
            <a:lvl1pPr indent="0" lvl="0" marL="115570">
              <a:lnSpc>
                <a:spcPct val="100000"/>
              </a:lnSpc>
              <a:spcBef>
                <a:spcPts val="0"/>
              </a:spcBef>
              <a:buNone/>
              <a:defRPr b="0" i="0" sz="1200">
                <a:solidFill>
                  <a:srgbClr val="898989"/>
                </a:solidFill>
                <a:latin typeface="Calibri"/>
                <a:ea typeface="Calibri"/>
                <a:cs typeface="Calibri"/>
                <a:sym typeface="Calibri"/>
              </a:defRPr>
            </a:lvl1pPr>
            <a:lvl2pPr indent="0" lvl="1" marL="115570">
              <a:lnSpc>
                <a:spcPct val="100000"/>
              </a:lnSpc>
              <a:spcBef>
                <a:spcPts val="0"/>
              </a:spcBef>
              <a:buNone/>
              <a:defRPr b="0" i="0" sz="1200">
                <a:solidFill>
                  <a:srgbClr val="898989"/>
                </a:solidFill>
                <a:latin typeface="Calibri"/>
                <a:ea typeface="Calibri"/>
                <a:cs typeface="Calibri"/>
                <a:sym typeface="Calibri"/>
              </a:defRPr>
            </a:lvl2pPr>
            <a:lvl3pPr indent="0" lvl="2" marL="115570">
              <a:lnSpc>
                <a:spcPct val="100000"/>
              </a:lnSpc>
              <a:spcBef>
                <a:spcPts val="0"/>
              </a:spcBef>
              <a:buNone/>
              <a:defRPr b="0" i="0" sz="1200">
                <a:solidFill>
                  <a:srgbClr val="898989"/>
                </a:solidFill>
                <a:latin typeface="Calibri"/>
                <a:ea typeface="Calibri"/>
                <a:cs typeface="Calibri"/>
                <a:sym typeface="Calibri"/>
              </a:defRPr>
            </a:lvl3pPr>
            <a:lvl4pPr indent="0" lvl="3" marL="115570">
              <a:lnSpc>
                <a:spcPct val="100000"/>
              </a:lnSpc>
              <a:spcBef>
                <a:spcPts val="0"/>
              </a:spcBef>
              <a:buNone/>
              <a:defRPr b="0" i="0" sz="1200">
                <a:solidFill>
                  <a:srgbClr val="898989"/>
                </a:solidFill>
                <a:latin typeface="Calibri"/>
                <a:ea typeface="Calibri"/>
                <a:cs typeface="Calibri"/>
                <a:sym typeface="Calibri"/>
              </a:defRPr>
            </a:lvl4pPr>
            <a:lvl5pPr indent="0" lvl="4" marL="115570">
              <a:lnSpc>
                <a:spcPct val="100000"/>
              </a:lnSpc>
              <a:spcBef>
                <a:spcPts val="0"/>
              </a:spcBef>
              <a:buNone/>
              <a:defRPr b="0" i="0" sz="1200">
                <a:solidFill>
                  <a:srgbClr val="898989"/>
                </a:solidFill>
                <a:latin typeface="Calibri"/>
                <a:ea typeface="Calibri"/>
                <a:cs typeface="Calibri"/>
                <a:sym typeface="Calibri"/>
              </a:defRPr>
            </a:lvl5pPr>
            <a:lvl6pPr indent="0" lvl="5" marL="115570">
              <a:lnSpc>
                <a:spcPct val="100000"/>
              </a:lnSpc>
              <a:spcBef>
                <a:spcPts val="0"/>
              </a:spcBef>
              <a:buNone/>
              <a:defRPr b="0" i="0" sz="1200">
                <a:solidFill>
                  <a:srgbClr val="898989"/>
                </a:solidFill>
                <a:latin typeface="Calibri"/>
                <a:ea typeface="Calibri"/>
                <a:cs typeface="Calibri"/>
                <a:sym typeface="Calibri"/>
              </a:defRPr>
            </a:lvl6pPr>
            <a:lvl7pPr indent="0" lvl="6" marL="115570">
              <a:lnSpc>
                <a:spcPct val="100000"/>
              </a:lnSpc>
              <a:spcBef>
                <a:spcPts val="0"/>
              </a:spcBef>
              <a:buNone/>
              <a:defRPr b="0" i="0" sz="1200">
                <a:solidFill>
                  <a:srgbClr val="898989"/>
                </a:solidFill>
                <a:latin typeface="Calibri"/>
                <a:ea typeface="Calibri"/>
                <a:cs typeface="Calibri"/>
                <a:sym typeface="Calibri"/>
              </a:defRPr>
            </a:lvl7pPr>
            <a:lvl8pPr indent="0" lvl="7" marL="115570">
              <a:lnSpc>
                <a:spcPct val="100000"/>
              </a:lnSpc>
              <a:spcBef>
                <a:spcPts val="0"/>
              </a:spcBef>
              <a:buNone/>
              <a:defRPr b="0" i="0" sz="1200">
                <a:solidFill>
                  <a:srgbClr val="898989"/>
                </a:solidFill>
                <a:latin typeface="Calibri"/>
                <a:ea typeface="Calibri"/>
                <a:cs typeface="Calibri"/>
                <a:sym typeface="Calibri"/>
              </a:defRPr>
            </a:lvl8pPr>
            <a:lvl9pPr indent="0" lvl="8" marL="115570">
              <a:lnSpc>
                <a:spcPct val="100000"/>
              </a:lnSpc>
              <a:spcBef>
                <a:spcPts val="0"/>
              </a:spcBef>
              <a:buNone/>
              <a:defRPr b="0" i="0" sz="1200">
                <a:solidFill>
                  <a:srgbClr val="898989"/>
                </a:solidFill>
                <a:latin typeface="Calibri"/>
                <a:ea typeface="Calibri"/>
                <a:cs typeface="Calibri"/>
                <a:sym typeface="Calibri"/>
              </a:defRPr>
            </a:lvl9pPr>
          </a:lstStyle>
          <a:p>
            <a:pPr indent="0" lvl="0" marL="11557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3.jpg"/><Relationship Id="rId5" Type="http://schemas.openxmlformats.org/officeDocument/2006/relationships/image" Target="../media/image16.jp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jp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jpg"/><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523940" y="737100"/>
            <a:ext cx="8096100" cy="1830300"/>
          </a:xfrm>
          <a:prstGeom prst="rect">
            <a:avLst/>
          </a:prstGeom>
          <a:noFill/>
          <a:ln>
            <a:noFill/>
          </a:ln>
        </p:spPr>
        <p:txBody>
          <a:bodyPr anchorCtr="0" anchor="t" bIns="0" lIns="0" spcFirstLastPara="1" rIns="0" wrap="square" tIns="107950">
            <a:spAutoFit/>
          </a:bodyPr>
          <a:lstStyle/>
          <a:p>
            <a:pPr indent="0" lvl="0" marL="290830" rtl="0" algn="l">
              <a:lnSpc>
                <a:spcPct val="100000"/>
              </a:lnSpc>
              <a:spcBef>
                <a:spcPts val="459"/>
              </a:spcBef>
              <a:spcAft>
                <a:spcPts val="0"/>
              </a:spcAft>
              <a:buNone/>
            </a:pPr>
            <a:r>
              <a:rPr lang="en-US" sz="3600" u="none">
                <a:solidFill>
                  <a:srgbClr val="4472C4"/>
                </a:solidFill>
                <a:latin typeface="Calibri"/>
                <a:ea typeface="Calibri"/>
                <a:cs typeface="Calibri"/>
                <a:sym typeface="Calibri"/>
              </a:rPr>
              <a:t>Proposal for a New Service Using AI: </a:t>
            </a:r>
            <a:r>
              <a:rPr lang="en-US" sz="3600" u="none">
                <a:latin typeface="Calibri"/>
                <a:ea typeface="Calibri"/>
                <a:cs typeface="Calibri"/>
                <a:sym typeface="Calibri"/>
              </a:rPr>
              <a:t>Accelerating Business with Data Analysis</a:t>
            </a:r>
            <a:endParaRPr sz="3600" u="none">
              <a:latin typeface="Calibri"/>
              <a:ea typeface="Calibri"/>
              <a:cs typeface="Calibri"/>
              <a:sym typeface="Calibri"/>
            </a:endParaRPr>
          </a:p>
          <a:p>
            <a:pPr indent="0" lvl="0" marL="0" rtl="0" algn="l">
              <a:lnSpc>
                <a:spcPct val="100000"/>
              </a:lnSpc>
              <a:spcBef>
                <a:spcPts val="459"/>
              </a:spcBef>
              <a:spcAft>
                <a:spcPts val="0"/>
              </a:spcAft>
              <a:buNone/>
            </a:pPr>
            <a:r>
              <a:t/>
            </a:r>
            <a:endParaRPr sz="3600">
              <a:latin typeface="Calibri"/>
              <a:ea typeface="Calibri"/>
              <a:cs typeface="Calibri"/>
              <a:sym typeface="Calibri"/>
            </a:endParaRPr>
          </a:p>
        </p:txBody>
      </p:sp>
      <p:pic>
        <p:nvPicPr>
          <p:cNvPr id="45" name="Google Shape;45;p1"/>
          <p:cNvPicPr preferRelativeResize="0"/>
          <p:nvPr/>
        </p:nvPicPr>
        <p:blipFill rotWithShape="1">
          <a:blip r:embed="rId3">
            <a:alphaModFix/>
          </a:blip>
          <a:srcRect b="0" l="0" r="0" t="0"/>
          <a:stretch/>
        </p:blipFill>
        <p:spPr>
          <a:xfrm>
            <a:off x="335868" y="2968255"/>
            <a:ext cx="8179481" cy="2879170"/>
          </a:xfrm>
          <a:prstGeom prst="rect">
            <a:avLst/>
          </a:prstGeom>
          <a:noFill/>
          <a:ln>
            <a:noFill/>
          </a:ln>
        </p:spPr>
      </p:pic>
      <p:sp>
        <p:nvSpPr>
          <p:cNvPr id="46" name="Google Shape;46;p1"/>
          <p:cNvSpPr txBox="1"/>
          <p:nvPr/>
        </p:nvSpPr>
        <p:spPr>
          <a:xfrm>
            <a:off x="997450" y="3485340"/>
            <a:ext cx="6914400" cy="1845000"/>
          </a:xfrm>
          <a:prstGeom prst="rect">
            <a:avLst/>
          </a:prstGeom>
          <a:noFill/>
          <a:ln>
            <a:noFill/>
          </a:ln>
        </p:spPr>
        <p:txBody>
          <a:bodyPr anchorCtr="0" anchor="t" bIns="0" lIns="0" spcFirstLastPara="1" rIns="0" wrap="square" tIns="120000">
            <a:spAutoFit/>
          </a:bodyPr>
          <a:lstStyle/>
          <a:p>
            <a:pPr indent="0" lvl="0" marL="59055" rtl="0" algn="l">
              <a:lnSpc>
                <a:spcPct val="100000"/>
              </a:lnSpc>
              <a:spcBef>
                <a:spcPts val="0"/>
              </a:spcBef>
              <a:spcAft>
                <a:spcPts val="0"/>
              </a:spcAft>
              <a:buNone/>
            </a:pPr>
            <a:r>
              <a:rPr lang="en-US" sz="2800"/>
              <a:t>Table of contents</a:t>
            </a:r>
            <a:endParaRPr sz="2800"/>
          </a:p>
          <a:p>
            <a:pPr indent="-355600" lvl="0" marL="457200" rtl="0" algn="l">
              <a:spcBef>
                <a:spcPts val="760"/>
              </a:spcBef>
              <a:spcAft>
                <a:spcPts val="0"/>
              </a:spcAft>
              <a:buSzPts val="2000"/>
              <a:buChar char="⮚"/>
            </a:pPr>
            <a:r>
              <a:rPr lang="en-US" sz="2200"/>
              <a:t>Current State of the Consumer Finance Industry</a:t>
            </a:r>
            <a:endParaRPr sz="2200"/>
          </a:p>
          <a:p>
            <a:pPr indent="-361949" lvl="0" marL="457200" rtl="0" algn="l">
              <a:spcBef>
                <a:spcPts val="760"/>
              </a:spcBef>
              <a:spcAft>
                <a:spcPts val="0"/>
              </a:spcAft>
              <a:buSzPts val="2100"/>
              <a:buChar char="⮚"/>
            </a:pPr>
            <a:r>
              <a:rPr lang="en-US" sz="2000">
                <a:extLst>
                  <a:ext uri="http://customooxmlschemas.google.com/">
                    <go:slidesCustomData xmlns:go="http://customooxmlschemas.google.com/" textRoundtripDataId="0"/>
                  </a:ext>
                </a:extLst>
              </a:rPr>
              <a:t>Prediction Using Machine Learning Models</a:t>
            </a:r>
            <a:endParaRPr sz="2000"/>
          </a:p>
          <a:p>
            <a:pPr indent="-361949" lvl="0" marL="457200" rtl="0" algn="l">
              <a:spcBef>
                <a:spcPts val="760"/>
              </a:spcBef>
              <a:spcAft>
                <a:spcPts val="0"/>
              </a:spcAft>
              <a:buSzPts val="2100"/>
              <a:buChar char="⮚"/>
            </a:pPr>
            <a:r>
              <a:rPr lang="en-US" sz="2200"/>
              <a:t>Our Business Proposal</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342475" y="201900"/>
            <a:ext cx="7927200" cy="14289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Clr>
                <a:schemeClr val="dk1"/>
              </a:buClr>
              <a:buSzPts val="1100"/>
              <a:buFont typeface="Arial"/>
              <a:buNone/>
            </a:pPr>
            <a:r>
              <a:rPr lang="en-US" sz="2800">
                <a:latin typeface="Arial"/>
                <a:ea typeface="Arial"/>
                <a:cs typeface="Arial"/>
                <a:sym typeface="Arial"/>
              </a:rPr>
              <a:t>Current State of the Consumer Finance Industry</a:t>
            </a:r>
            <a:br>
              <a:rPr lang="en-US">
                <a:latin typeface="Arial"/>
                <a:ea typeface="Arial"/>
                <a:cs typeface="Arial"/>
                <a:sym typeface="Arial"/>
              </a:rPr>
            </a:br>
            <a:endParaRPr>
              <a:latin typeface="Arial"/>
              <a:ea typeface="Arial"/>
              <a:cs typeface="Arial"/>
              <a:sym typeface="Arial"/>
            </a:endParaRPr>
          </a:p>
          <a:p>
            <a:pPr indent="0" lvl="0" marL="12700" rtl="0" algn="l">
              <a:lnSpc>
                <a:spcPct val="100000"/>
              </a:lnSpc>
              <a:spcBef>
                <a:spcPts val="0"/>
              </a:spcBef>
              <a:spcAft>
                <a:spcPts val="0"/>
              </a:spcAft>
              <a:buNone/>
            </a:pPr>
            <a:r>
              <a:t/>
            </a:r>
            <a:endParaRPr>
              <a:latin typeface="Arial"/>
              <a:ea typeface="Arial"/>
              <a:cs typeface="Arial"/>
              <a:sym typeface="Arial"/>
            </a:endParaRPr>
          </a:p>
        </p:txBody>
      </p:sp>
      <p:sp>
        <p:nvSpPr>
          <p:cNvPr id="52" name="Google Shape;52;p2"/>
          <p:cNvSpPr txBox="1"/>
          <p:nvPr/>
        </p:nvSpPr>
        <p:spPr>
          <a:xfrm>
            <a:off x="851858" y="5833364"/>
            <a:ext cx="7340700" cy="535500"/>
          </a:xfrm>
          <a:prstGeom prst="rect">
            <a:avLst/>
          </a:prstGeom>
          <a:noFill/>
          <a:ln>
            <a:noFill/>
          </a:ln>
        </p:spPr>
        <p:txBody>
          <a:bodyPr anchorCtr="0" anchor="t" bIns="0" lIns="0" spcFirstLastPara="1" rIns="0" wrap="square" tIns="6350">
            <a:spAutoFit/>
          </a:bodyPr>
          <a:lstStyle/>
          <a:p>
            <a:pPr indent="0" lvl="0" marL="12700" marR="5080" rtl="0" algn="l">
              <a:lnSpc>
                <a:spcPct val="102200"/>
              </a:lnSpc>
              <a:spcBef>
                <a:spcPts val="0"/>
              </a:spcBef>
              <a:spcAft>
                <a:spcPts val="0"/>
              </a:spcAft>
              <a:buNone/>
            </a:pPr>
            <a:r>
              <a:rPr lang="en-US" sz="1700"/>
              <a:t>From large volumes of information such as customer data,</a:t>
            </a:r>
            <a:r>
              <a:rPr lang="en-US" sz="1700">
                <a:extLst>
                  <a:ext uri="http://customooxmlschemas.google.com/">
                    <go:slidesCustomData xmlns:go="http://customooxmlschemas.google.com/" textRoundtripDataId="1"/>
                  </a:ext>
                </a:extLst>
              </a:rPr>
              <a:t> it is </a:t>
            </a:r>
            <a:r>
              <a:rPr lang="en-US" sz="1700"/>
              <a:t>now </a:t>
            </a:r>
            <a:r>
              <a:rPr lang="en-US" sz="1700"/>
              <a:t>possible to represent complex relationships that humans </a:t>
            </a:r>
            <a:r>
              <a:rPr lang="en-US" sz="1700">
                <a:extLst>
                  <a:ext uri="http://customooxmlschemas.google.com/">
                    <go:slidesCustomData xmlns:go="http://customooxmlschemas.google.com/" textRoundtripDataId="2"/>
                  </a:ext>
                </a:extLst>
              </a:rPr>
              <a:t>could not </a:t>
            </a:r>
            <a:r>
              <a:rPr lang="en-US" sz="1700"/>
              <a:t>discover.</a:t>
            </a:r>
            <a:endParaRPr sz="1700"/>
          </a:p>
        </p:txBody>
      </p:sp>
      <p:sp>
        <p:nvSpPr>
          <p:cNvPr id="53" name="Google Shape;53;p2"/>
          <p:cNvSpPr/>
          <p:nvPr/>
        </p:nvSpPr>
        <p:spPr>
          <a:xfrm>
            <a:off x="2907525" y="1596876"/>
            <a:ext cx="1412239" cy="580930"/>
          </a:xfrm>
          <a:custGeom>
            <a:rect b="b" l="l" r="r" t="t"/>
            <a:pathLst>
              <a:path extrusionOk="0" h="723900" w="1412239">
                <a:moveTo>
                  <a:pt x="1291339" y="0"/>
                </a:moveTo>
                <a:lnTo>
                  <a:pt x="120596" y="0"/>
                </a:lnTo>
                <a:lnTo>
                  <a:pt x="73655" y="9477"/>
                </a:lnTo>
                <a:lnTo>
                  <a:pt x="35322" y="35321"/>
                </a:lnTo>
                <a:lnTo>
                  <a:pt x="9477" y="73654"/>
                </a:lnTo>
                <a:lnTo>
                  <a:pt x="0" y="120596"/>
                </a:lnTo>
                <a:lnTo>
                  <a:pt x="0" y="602971"/>
                </a:lnTo>
                <a:lnTo>
                  <a:pt x="9477" y="649913"/>
                </a:lnTo>
                <a:lnTo>
                  <a:pt x="35322" y="688246"/>
                </a:lnTo>
                <a:lnTo>
                  <a:pt x="73655" y="714091"/>
                </a:lnTo>
                <a:lnTo>
                  <a:pt x="120596" y="723568"/>
                </a:lnTo>
                <a:lnTo>
                  <a:pt x="1291339" y="723568"/>
                </a:lnTo>
                <a:lnTo>
                  <a:pt x="1338281" y="714091"/>
                </a:lnTo>
                <a:lnTo>
                  <a:pt x="1376614" y="688246"/>
                </a:lnTo>
                <a:lnTo>
                  <a:pt x="1402459" y="649913"/>
                </a:lnTo>
                <a:lnTo>
                  <a:pt x="1411936" y="602971"/>
                </a:lnTo>
                <a:lnTo>
                  <a:pt x="1411936" y="120596"/>
                </a:lnTo>
                <a:lnTo>
                  <a:pt x="1402459" y="73654"/>
                </a:lnTo>
                <a:lnTo>
                  <a:pt x="1376614" y="35321"/>
                </a:lnTo>
                <a:lnTo>
                  <a:pt x="1338281" y="9477"/>
                </a:lnTo>
                <a:lnTo>
                  <a:pt x="1291339" y="0"/>
                </a:lnTo>
                <a:close/>
              </a:path>
            </a:pathLst>
          </a:custGeom>
          <a:solidFill>
            <a:srgbClr val="D0CECE">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 name="Google Shape;54;p2"/>
          <p:cNvSpPr txBox="1"/>
          <p:nvPr/>
        </p:nvSpPr>
        <p:spPr>
          <a:xfrm>
            <a:off x="2981955" y="1624469"/>
            <a:ext cx="1322700" cy="12264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i="1" lang="en-US" sz="2000">
                <a:latin typeface="Calibri"/>
                <a:ea typeface="Calibri"/>
                <a:cs typeface="Calibri"/>
                <a:sym typeface="Calibri"/>
              </a:rPr>
              <a:t>  </a:t>
            </a:r>
            <a:r>
              <a:rPr b="1" i="1" lang="en-US" sz="2800">
                <a:latin typeface="Calibri"/>
                <a:ea typeface="Calibri"/>
                <a:cs typeface="Calibri"/>
                <a:sym typeface="Calibri"/>
              </a:rPr>
              <a:t>S</a:t>
            </a:r>
            <a:r>
              <a:rPr i="1" lang="en-US" sz="2000">
                <a:latin typeface="Calibri"/>
                <a:ea typeface="Calibri"/>
                <a:cs typeface="Calibri"/>
                <a:sym typeface="Calibri"/>
              </a:rPr>
              <a:t>implicity</a:t>
            </a:r>
            <a:br>
              <a:rPr lang="en-US" sz="2000">
                <a:latin typeface="Calibri"/>
                <a:ea typeface="Calibri"/>
                <a:cs typeface="Calibri"/>
                <a:sym typeface="Calibri"/>
              </a:rPr>
            </a:br>
            <a:endParaRPr>
              <a:latin typeface="Microsoft JhengHei"/>
              <a:ea typeface="Microsoft JhengHei"/>
              <a:cs typeface="Microsoft JhengHei"/>
              <a:sym typeface="Microsoft JhengHei"/>
            </a:endParaRPr>
          </a:p>
          <a:p>
            <a:pPr indent="0" lvl="0" marL="0" marR="5080" rtl="0" algn="l">
              <a:lnSpc>
                <a:spcPct val="105000"/>
              </a:lnSpc>
              <a:spcBef>
                <a:spcPts val="515"/>
              </a:spcBef>
              <a:spcAft>
                <a:spcPts val="0"/>
              </a:spcAft>
              <a:buNone/>
            </a:pPr>
            <a:r>
              <a:rPr lang="en-US" sz="1050">
                <a:solidFill>
                  <a:srgbClr val="444746"/>
                </a:solidFill>
                <a:latin typeface="Roboto"/>
                <a:ea typeface="Roboto"/>
                <a:cs typeface="Roboto"/>
                <a:sym typeface="Roboto"/>
              </a:rPr>
              <a:t>Apply in just three simple steps on your smartphone.</a:t>
            </a:r>
            <a:endParaRPr sz="1200">
              <a:latin typeface="Microsoft JhengHei"/>
              <a:ea typeface="Microsoft JhengHei"/>
              <a:cs typeface="Microsoft JhengHei"/>
              <a:sym typeface="Microsoft JhengHei"/>
            </a:endParaRPr>
          </a:p>
        </p:txBody>
      </p:sp>
      <p:sp>
        <p:nvSpPr>
          <p:cNvPr id="55" name="Google Shape;55;p2"/>
          <p:cNvSpPr/>
          <p:nvPr/>
        </p:nvSpPr>
        <p:spPr>
          <a:xfrm>
            <a:off x="4940400" y="1596877"/>
            <a:ext cx="1412239" cy="580930"/>
          </a:xfrm>
          <a:custGeom>
            <a:rect b="b" l="l" r="r" t="t"/>
            <a:pathLst>
              <a:path extrusionOk="0" h="723900" w="1412239">
                <a:moveTo>
                  <a:pt x="1291339" y="0"/>
                </a:moveTo>
                <a:lnTo>
                  <a:pt x="120596" y="0"/>
                </a:lnTo>
                <a:lnTo>
                  <a:pt x="73655" y="9477"/>
                </a:lnTo>
                <a:lnTo>
                  <a:pt x="35322" y="35321"/>
                </a:lnTo>
                <a:lnTo>
                  <a:pt x="9477" y="73654"/>
                </a:lnTo>
                <a:lnTo>
                  <a:pt x="0" y="120596"/>
                </a:lnTo>
                <a:lnTo>
                  <a:pt x="0" y="602971"/>
                </a:lnTo>
                <a:lnTo>
                  <a:pt x="9477" y="649913"/>
                </a:lnTo>
                <a:lnTo>
                  <a:pt x="35322" y="688246"/>
                </a:lnTo>
                <a:lnTo>
                  <a:pt x="73655" y="714091"/>
                </a:lnTo>
                <a:lnTo>
                  <a:pt x="120596" y="723568"/>
                </a:lnTo>
                <a:lnTo>
                  <a:pt x="1291339" y="723568"/>
                </a:lnTo>
                <a:lnTo>
                  <a:pt x="1338281" y="714091"/>
                </a:lnTo>
                <a:lnTo>
                  <a:pt x="1376614" y="688246"/>
                </a:lnTo>
                <a:lnTo>
                  <a:pt x="1402459" y="649913"/>
                </a:lnTo>
                <a:lnTo>
                  <a:pt x="1411936" y="602971"/>
                </a:lnTo>
                <a:lnTo>
                  <a:pt x="1411936" y="120596"/>
                </a:lnTo>
                <a:lnTo>
                  <a:pt x="1402459" y="73654"/>
                </a:lnTo>
                <a:lnTo>
                  <a:pt x="1376614" y="35321"/>
                </a:lnTo>
                <a:lnTo>
                  <a:pt x="1338281" y="9477"/>
                </a:lnTo>
                <a:lnTo>
                  <a:pt x="1291339" y="0"/>
                </a:lnTo>
                <a:close/>
              </a:path>
            </a:pathLst>
          </a:custGeom>
          <a:solidFill>
            <a:srgbClr val="D0CECE">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p2"/>
          <p:cNvSpPr txBox="1"/>
          <p:nvPr/>
        </p:nvSpPr>
        <p:spPr>
          <a:xfrm>
            <a:off x="4981175" y="1600702"/>
            <a:ext cx="1244700" cy="1305900"/>
          </a:xfrm>
          <a:prstGeom prst="rect">
            <a:avLst/>
          </a:prstGeom>
          <a:noFill/>
          <a:ln>
            <a:noFill/>
          </a:ln>
        </p:spPr>
        <p:txBody>
          <a:bodyPr anchorCtr="0" anchor="t" bIns="0" lIns="0" spcFirstLastPara="1" rIns="0" wrap="square" tIns="12700">
            <a:spAutoFit/>
          </a:bodyPr>
          <a:lstStyle/>
          <a:p>
            <a:pPr indent="0" lvl="0" marL="322580" rtl="0" algn="l">
              <a:lnSpc>
                <a:spcPct val="100000"/>
              </a:lnSpc>
              <a:spcBef>
                <a:spcPts val="0"/>
              </a:spcBef>
              <a:spcAft>
                <a:spcPts val="0"/>
              </a:spcAft>
              <a:buNone/>
            </a:pPr>
            <a:r>
              <a:rPr b="1" i="1" lang="en-US" sz="2800">
                <a:latin typeface="Calibri"/>
                <a:ea typeface="Calibri"/>
                <a:cs typeface="Calibri"/>
                <a:sym typeface="Calibri"/>
              </a:rPr>
              <a:t>S</a:t>
            </a:r>
            <a:r>
              <a:rPr i="1" lang="en-US" sz="2000">
                <a:latin typeface="Calibri"/>
                <a:ea typeface="Calibri"/>
                <a:cs typeface="Calibri"/>
                <a:sym typeface="Calibri"/>
              </a:rPr>
              <a:t>ecret</a:t>
            </a:r>
            <a:endParaRPr i="1" sz="2000">
              <a:latin typeface="Calibri"/>
              <a:ea typeface="Calibri"/>
              <a:cs typeface="Calibri"/>
              <a:sym typeface="Calibri"/>
            </a:endParaRPr>
          </a:p>
          <a:p>
            <a:pPr indent="0" lvl="0" marL="0" rtl="0" algn="l">
              <a:lnSpc>
                <a:spcPct val="100000"/>
              </a:lnSpc>
              <a:spcBef>
                <a:spcPts val="0"/>
              </a:spcBef>
              <a:spcAft>
                <a:spcPts val="0"/>
              </a:spcAft>
              <a:buNone/>
            </a:pPr>
            <a:br>
              <a:rPr i="1" lang="en-US" sz="2000">
                <a:latin typeface="Calibri"/>
                <a:ea typeface="Calibri"/>
                <a:cs typeface="Calibri"/>
                <a:sym typeface="Calibri"/>
              </a:rPr>
            </a:br>
            <a:r>
              <a:rPr lang="en-US" sz="1200">
                <a:latin typeface="Microsoft JhengHei"/>
                <a:ea typeface="Microsoft JhengHei"/>
                <a:cs typeface="Microsoft JhengHei"/>
                <a:sym typeface="Microsoft JhengHei"/>
              </a:rPr>
              <a:t>Get a l</a:t>
            </a:r>
            <a:r>
              <a:rPr lang="en-US" sz="1200">
                <a:latin typeface="Microsoft JhengHei"/>
                <a:ea typeface="Microsoft JhengHei"/>
                <a:cs typeface="Microsoft JhengHei"/>
                <a:sym typeface="Microsoft JhengHei"/>
                <a:extLst>
                  <a:ext uri="http://customooxmlschemas.google.com/">
                    <go:slidesCustomData xmlns:go="http://customooxmlschemas.google.com/" textRoundtripDataId="3"/>
                  </a:ext>
                </a:extLst>
              </a:rPr>
              <a:t>oan without your colleagues finding out</a:t>
            </a:r>
            <a:endParaRPr sz="1200">
              <a:latin typeface="Microsoft JhengHei"/>
              <a:ea typeface="Microsoft JhengHei"/>
              <a:cs typeface="Microsoft JhengHei"/>
              <a:sym typeface="Microsoft JhengHei"/>
            </a:endParaRPr>
          </a:p>
        </p:txBody>
      </p:sp>
      <p:sp>
        <p:nvSpPr>
          <p:cNvPr id="57" name="Google Shape;57;p2"/>
          <p:cNvSpPr/>
          <p:nvPr/>
        </p:nvSpPr>
        <p:spPr>
          <a:xfrm>
            <a:off x="6910175" y="1596877"/>
            <a:ext cx="1359534" cy="580930"/>
          </a:xfrm>
          <a:custGeom>
            <a:rect b="b" l="l" r="r" t="t"/>
            <a:pathLst>
              <a:path extrusionOk="0" h="723900" w="1359534">
                <a:moveTo>
                  <a:pt x="1238580" y="0"/>
                </a:moveTo>
                <a:lnTo>
                  <a:pt x="120597" y="0"/>
                </a:lnTo>
                <a:lnTo>
                  <a:pt x="73655" y="9477"/>
                </a:lnTo>
                <a:lnTo>
                  <a:pt x="35322" y="35322"/>
                </a:lnTo>
                <a:lnTo>
                  <a:pt x="9477" y="73655"/>
                </a:lnTo>
                <a:lnTo>
                  <a:pt x="0" y="120597"/>
                </a:lnTo>
                <a:lnTo>
                  <a:pt x="0" y="602971"/>
                </a:lnTo>
                <a:lnTo>
                  <a:pt x="9477" y="649913"/>
                </a:lnTo>
                <a:lnTo>
                  <a:pt x="35322" y="688247"/>
                </a:lnTo>
                <a:lnTo>
                  <a:pt x="73655" y="714092"/>
                </a:lnTo>
                <a:lnTo>
                  <a:pt x="120597" y="723569"/>
                </a:lnTo>
                <a:lnTo>
                  <a:pt x="1238580" y="723569"/>
                </a:lnTo>
                <a:lnTo>
                  <a:pt x="1285522" y="714092"/>
                </a:lnTo>
                <a:lnTo>
                  <a:pt x="1323855" y="688247"/>
                </a:lnTo>
                <a:lnTo>
                  <a:pt x="1349700" y="649913"/>
                </a:lnTo>
                <a:lnTo>
                  <a:pt x="1359178" y="602971"/>
                </a:lnTo>
                <a:lnTo>
                  <a:pt x="1359178" y="120597"/>
                </a:lnTo>
                <a:lnTo>
                  <a:pt x="1349700" y="73655"/>
                </a:lnTo>
                <a:lnTo>
                  <a:pt x="1323855" y="35322"/>
                </a:lnTo>
                <a:lnTo>
                  <a:pt x="1285522" y="9477"/>
                </a:lnTo>
                <a:lnTo>
                  <a:pt x="1238580" y="0"/>
                </a:lnTo>
                <a:close/>
              </a:path>
            </a:pathLst>
          </a:custGeom>
          <a:solidFill>
            <a:srgbClr val="D0CECE">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 name="Google Shape;58;p2"/>
          <p:cNvSpPr txBox="1"/>
          <p:nvPr/>
        </p:nvSpPr>
        <p:spPr>
          <a:xfrm>
            <a:off x="6959841" y="1600708"/>
            <a:ext cx="1244700" cy="1320000"/>
          </a:xfrm>
          <a:prstGeom prst="rect">
            <a:avLst/>
          </a:prstGeom>
          <a:noFill/>
          <a:ln>
            <a:noFill/>
          </a:ln>
        </p:spPr>
        <p:txBody>
          <a:bodyPr anchorCtr="0" anchor="t" bIns="0" lIns="0" spcFirstLastPara="1" rIns="0" wrap="square" tIns="12700">
            <a:spAutoFit/>
          </a:bodyPr>
          <a:lstStyle/>
          <a:p>
            <a:pPr indent="0" lvl="0" marL="285115" rtl="0" algn="l">
              <a:lnSpc>
                <a:spcPct val="100000"/>
              </a:lnSpc>
              <a:spcBef>
                <a:spcPts val="0"/>
              </a:spcBef>
              <a:spcAft>
                <a:spcPts val="0"/>
              </a:spcAft>
              <a:buNone/>
            </a:pPr>
            <a:r>
              <a:rPr b="1" i="1" lang="en-US" sz="2800">
                <a:latin typeface="Calibri"/>
                <a:ea typeface="Calibri"/>
                <a:cs typeface="Calibri"/>
                <a:sym typeface="Calibri"/>
              </a:rPr>
              <a:t>S</a:t>
            </a:r>
            <a:r>
              <a:rPr i="1" lang="en-US" sz="2000">
                <a:latin typeface="Calibri"/>
                <a:ea typeface="Calibri"/>
                <a:cs typeface="Calibri"/>
                <a:sym typeface="Calibri"/>
              </a:rPr>
              <a:t>afety</a:t>
            </a:r>
            <a:endParaRPr sz="2000">
              <a:latin typeface="Calibri"/>
              <a:ea typeface="Calibri"/>
              <a:cs typeface="Calibri"/>
              <a:sym typeface="Calibri"/>
            </a:endParaRPr>
          </a:p>
          <a:p>
            <a:pPr indent="0" lvl="0" marL="363220" rtl="0" algn="l">
              <a:lnSpc>
                <a:spcPct val="100000"/>
              </a:lnSpc>
              <a:spcBef>
                <a:spcPts val="30"/>
              </a:spcBef>
              <a:spcAft>
                <a:spcPts val="0"/>
              </a:spcAft>
              <a:buNone/>
            </a:pPr>
            <a:r>
              <a:t/>
            </a:r>
            <a:endParaRPr sz="1400">
              <a:latin typeface="Microsoft JhengHei"/>
              <a:ea typeface="Microsoft JhengHei"/>
              <a:cs typeface="Microsoft JhengHei"/>
              <a:sym typeface="Microsoft JhengHei"/>
            </a:endParaRPr>
          </a:p>
          <a:p>
            <a:pPr indent="0" lvl="0" marL="12700" marR="5080" rtl="0" algn="l">
              <a:lnSpc>
                <a:spcPct val="103299"/>
              </a:lnSpc>
              <a:spcBef>
                <a:spcPts val="705"/>
              </a:spcBef>
              <a:spcAft>
                <a:spcPts val="0"/>
              </a:spcAft>
              <a:buNone/>
            </a:pPr>
            <a:r>
              <a:rPr lang="en-US" sz="1200">
                <a:latin typeface="Microsoft JhengHei"/>
                <a:ea typeface="Microsoft JhengHei"/>
                <a:cs typeface="Microsoft JhengHei"/>
                <a:sym typeface="Microsoft JhengHei"/>
              </a:rPr>
              <a:t>A trustworthy lending　company</a:t>
            </a:r>
            <a:endParaRPr sz="1200">
              <a:latin typeface="Microsoft JhengHei"/>
              <a:ea typeface="Microsoft JhengHei"/>
              <a:cs typeface="Microsoft JhengHei"/>
              <a:sym typeface="Microsoft JhengHei"/>
            </a:endParaRPr>
          </a:p>
        </p:txBody>
      </p:sp>
      <p:sp>
        <p:nvSpPr>
          <p:cNvPr id="59" name="Google Shape;59;p2"/>
          <p:cNvSpPr txBox="1"/>
          <p:nvPr/>
        </p:nvSpPr>
        <p:spPr>
          <a:xfrm>
            <a:off x="851850" y="1258325"/>
            <a:ext cx="6023400" cy="289800"/>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SzPts val="1100"/>
              <a:buNone/>
            </a:pPr>
            <a:r>
              <a:rPr lang="en-US" sz="1800"/>
              <a:t>It has become an era where customers demand the 4 S’s.</a:t>
            </a:r>
            <a:endParaRPr sz="1800"/>
          </a:p>
        </p:txBody>
      </p:sp>
      <p:sp>
        <p:nvSpPr>
          <p:cNvPr id="60" name="Google Shape;60;p2"/>
          <p:cNvSpPr/>
          <p:nvPr/>
        </p:nvSpPr>
        <p:spPr>
          <a:xfrm>
            <a:off x="874650" y="1596877"/>
            <a:ext cx="1412239" cy="580930"/>
          </a:xfrm>
          <a:custGeom>
            <a:rect b="b" l="l" r="r" t="t"/>
            <a:pathLst>
              <a:path extrusionOk="0" h="723900" w="1412239">
                <a:moveTo>
                  <a:pt x="1291339" y="0"/>
                </a:moveTo>
                <a:lnTo>
                  <a:pt x="120596" y="0"/>
                </a:lnTo>
                <a:lnTo>
                  <a:pt x="73655" y="9477"/>
                </a:lnTo>
                <a:lnTo>
                  <a:pt x="35321" y="35321"/>
                </a:lnTo>
                <a:lnTo>
                  <a:pt x="9477" y="73654"/>
                </a:lnTo>
                <a:lnTo>
                  <a:pt x="0" y="120596"/>
                </a:lnTo>
                <a:lnTo>
                  <a:pt x="0" y="602971"/>
                </a:lnTo>
                <a:lnTo>
                  <a:pt x="9477" y="649913"/>
                </a:lnTo>
                <a:lnTo>
                  <a:pt x="35321" y="688246"/>
                </a:lnTo>
                <a:lnTo>
                  <a:pt x="73655" y="714091"/>
                </a:lnTo>
                <a:lnTo>
                  <a:pt x="120596" y="723568"/>
                </a:lnTo>
                <a:lnTo>
                  <a:pt x="1291339" y="723568"/>
                </a:lnTo>
                <a:lnTo>
                  <a:pt x="1338281" y="714091"/>
                </a:lnTo>
                <a:lnTo>
                  <a:pt x="1376614" y="688246"/>
                </a:lnTo>
                <a:lnTo>
                  <a:pt x="1402458" y="649913"/>
                </a:lnTo>
                <a:lnTo>
                  <a:pt x="1411935" y="602971"/>
                </a:lnTo>
                <a:lnTo>
                  <a:pt x="1411935" y="120596"/>
                </a:lnTo>
                <a:lnTo>
                  <a:pt x="1402458" y="73654"/>
                </a:lnTo>
                <a:lnTo>
                  <a:pt x="1376614" y="35321"/>
                </a:lnTo>
                <a:lnTo>
                  <a:pt x="1338281" y="9477"/>
                </a:lnTo>
                <a:lnTo>
                  <a:pt x="1291339" y="0"/>
                </a:lnTo>
                <a:close/>
              </a:path>
            </a:pathLst>
          </a:custGeom>
          <a:solidFill>
            <a:srgbClr val="D0CECE">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 name="Google Shape;61;p2"/>
          <p:cNvSpPr txBox="1"/>
          <p:nvPr/>
        </p:nvSpPr>
        <p:spPr>
          <a:xfrm>
            <a:off x="929471" y="1600708"/>
            <a:ext cx="1244700" cy="1511400"/>
          </a:xfrm>
          <a:prstGeom prst="rect">
            <a:avLst/>
          </a:prstGeom>
          <a:noFill/>
          <a:ln>
            <a:noFill/>
          </a:ln>
        </p:spPr>
        <p:txBody>
          <a:bodyPr anchorCtr="0" anchor="t" bIns="0" lIns="0" spcFirstLastPara="1" rIns="0" wrap="square" tIns="12700">
            <a:spAutoFit/>
          </a:bodyPr>
          <a:lstStyle/>
          <a:p>
            <a:pPr indent="0" lvl="0" marL="317500" rtl="0" algn="l">
              <a:lnSpc>
                <a:spcPct val="100000"/>
              </a:lnSpc>
              <a:spcBef>
                <a:spcPts val="0"/>
              </a:spcBef>
              <a:spcAft>
                <a:spcPts val="0"/>
              </a:spcAft>
              <a:buNone/>
            </a:pPr>
            <a:r>
              <a:rPr b="1" i="1" lang="en-US" sz="2800">
                <a:latin typeface="Calibri"/>
                <a:ea typeface="Calibri"/>
                <a:cs typeface="Calibri"/>
                <a:sym typeface="Calibri"/>
              </a:rPr>
              <a:t>S</a:t>
            </a:r>
            <a:r>
              <a:rPr i="1" lang="en-US" sz="2000">
                <a:latin typeface="Calibri"/>
                <a:ea typeface="Calibri"/>
                <a:cs typeface="Calibri"/>
                <a:sym typeface="Calibri"/>
              </a:rPr>
              <a:t>peed</a:t>
            </a:r>
            <a:endParaRPr i="1" sz="2000">
              <a:latin typeface="Calibri"/>
              <a:ea typeface="Calibri"/>
              <a:cs typeface="Calibri"/>
              <a:sym typeface="Calibri"/>
            </a:endParaRPr>
          </a:p>
          <a:p>
            <a:pPr indent="0" lvl="0" marL="317500" rtl="0" algn="l">
              <a:lnSpc>
                <a:spcPct val="100000"/>
              </a:lnSpc>
              <a:spcBef>
                <a:spcPts val="0"/>
              </a:spcBef>
              <a:spcAft>
                <a:spcPts val="0"/>
              </a:spcAft>
              <a:buNone/>
            </a:pPr>
            <a:r>
              <a:t/>
            </a:r>
            <a:endParaRPr i="1" sz="2000">
              <a:latin typeface="Calibri"/>
              <a:ea typeface="Calibri"/>
              <a:cs typeface="Calibri"/>
              <a:sym typeface="Calibri"/>
            </a:endParaRPr>
          </a:p>
          <a:p>
            <a:pPr indent="0" lvl="0" marL="12700" marR="5080" rtl="0" algn="l">
              <a:lnSpc>
                <a:spcPct val="105000"/>
              </a:lnSpc>
              <a:spcBef>
                <a:spcPts val="515"/>
              </a:spcBef>
              <a:spcAft>
                <a:spcPts val="0"/>
              </a:spcAft>
              <a:buNone/>
            </a:pPr>
            <a:r>
              <a:rPr lang="en-US" sz="1050">
                <a:solidFill>
                  <a:srgbClr val="444746"/>
                </a:solidFill>
                <a:latin typeface="Roboto"/>
                <a:ea typeface="Roboto"/>
                <a:cs typeface="Roboto"/>
                <a:sym typeface="Roboto"/>
              </a:rPr>
              <a:t>Review can be completed within a few minutes after </a:t>
            </a:r>
            <a:r>
              <a:rPr lang="en-US" sz="1200">
                <a:latin typeface="Microsoft JhengHei"/>
                <a:ea typeface="Microsoft JhengHei"/>
                <a:cs typeface="Microsoft JhengHei"/>
                <a:sym typeface="Microsoft JhengHei"/>
                <a:extLst>
                  <a:ext uri="http://customooxmlschemas.google.com/">
                    <go:slidesCustomData xmlns:go="http://customooxmlschemas.google.com/" textRoundtripDataId="4"/>
                  </a:ext>
                </a:extLst>
              </a:rPr>
              <a:t>application</a:t>
            </a:r>
            <a:endParaRPr sz="1200">
              <a:latin typeface="Microsoft JhengHei"/>
              <a:ea typeface="Microsoft JhengHei"/>
              <a:cs typeface="Microsoft JhengHei"/>
              <a:sym typeface="Microsoft JhengHei"/>
            </a:endParaRPr>
          </a:p>
        </p:txBody>
      </p:sp>
      <p:sp>
        <p:nvSpPr>
          <p:cNvPr id="62" name="Google Shape;62;p2"/>
          <p:cNvSpPr/>
          <p:nvPr/>
        </p:nvSpPr>
        <p:spPr>
          <a:xfrm>
            <a:off x="3225201" y="4880484"/>
            <a:ext cx="2852420" cy="466089"/>
          </a:xfrm>
          <a:custGeom>
            <a:rect b="b" l="l" r="r" t="t"/>
            <a:pathLst>
              <a:path extrusionOk="0" h="466089" w="2852420">
                <a:moveTo>
                  <a:pt x="2851804" y="0"/>
                </a:moveTo>
                <a:lnTo>
                  <a:pt x="0" y="0"/>
                </a:lnTo>
                <a:lnTo>
                  <a:pt x="1425901" y="465667"/>
                </a:lnTo>
                <a:lnTo>
                  <a:pt x="2851804" y="0"/>
                </a:lnTo>
                <a:close/>
              </a:path>
            </a:pathLst>
          </a:custGeom>
          <a:solidFill>
            <a:srgbClr val="A5A5A5">
              <a:alpha val="2352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 name="Google Shape;63;p2"/>
          <p:cNvSpPr txBox="1"/>
          <p:nvPr/>
        </p:nvSpPr>
        <p:spPr>
          <a:xfrm>
            <a:off x="762495" y="3144313"/>
            <a:ext cx="7147500" cy="15864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t/>
            </a:r>
            <a:endParaRPr sz="1800"/>
          </a:p>
          <a:p>
            <a:pPr indent="0" lvl="0" marL="0" rtl="0" algn="l">
              <a:lnSpc>
                <a:spcPct val="119375"/>
              </a:lnSpc>
              <a:spcBef>
                <a:spcPts val="30"/>
              </a:spcBef>
              <a:spcAft>
                <a:spcPts val="0"/>
              </a:spcAft>
              <a:buNone/>
            </a:pPr>
            <a:r>
              <a:rPr lang="en-US">
                <a:solidFill>
                  <a:schemeClr val="dk1"/>
                </a:solidFill>
              </a:rPr>
              <a:t>I</a:t>
            </a:r>
            <a:r>
              <a:rPr lang="en-US">
                <a:solidFill>
                  <a:schemeClr val="dk1"/>
                </a:solidFill>
              </a:rPr>
              <a:t>n order to improve profitability, the consumer finance industry</a:t>
            </a:r>
            <a:endParaRPr sz="1800"/>
          </a:p>
          <a:p>
            <a:pPr indent="-272415" lvl="0" marL="896618" rtl="0" algn="l">
              <a:lnSpc>
                <a:spcPct val="119375"/>
              </a:lnSpc>
              <a:spcBef>
                <a:spcPts val="30"/>
              </a:spcBef>
              <a:spcAft>
                <a:spcPts val="0"/>
              </a:spcAft>
              <a:buSzPts val="1400"/>
              <a:buChar char="⮚"/>
            </a:pPr>
            <a:r>
              <a:rPr lang="en-US">
                <a:solidFill>
                  <a:schemeClr val="dk1"/>
                </a:solidFill>
              </a:rPr>
              <a:t>wants to provide services to more customers while managing risk.</a:t>
            </a:r>
            <a:endParaRPr>
              <a:solidFill>
                <a:schemeClr val="dk1"/>
              </a:solidFill>
            </a:endParaRPr>
          </a:p>
          <a:p>
            <a:pPr indent="-285115" lvl="0" marL="896618" rtl="0" algn="l">
              <a:lnSpc>
                <a:spcPct val="119375"/>
              </a:lnSpc>
              <a:spcBef>
                <a:spcPts val="30"/>
              </a:spcBef>
              <a:spcAft>
                <a:spcPts val="0"/>
              </a:spcAft>
              <a:buSzPts val="1600"/>
              <a:buChar char="⮚"/>
            </a:pPr>
            <a:r>
              <a:rPr lang="en-US">
                <a:solidFill>
                  <a:schemeClr val="dk1"/>
                </a:solidFill>
              </a:rPr>
              <a:t>wants to offer larger loans to customers with high creditworthiness.</a:t>
            </a:r>
            <a:endParaRPr>
              <a:solidFill>
                <a:schemeClr val="dk1"/>
              </a:solidFill>
            </a:endParaRPr>
          </a:p>
          <a:p>
            <a:pPr indent="0" lvl="0" marL="0" rtl="0" algn="l">
              <a:lnSpc>
                <a:spcPct val="119375"/>
              </a:lnSpc>
              <a:spcBef>
                <a:spcPts val="30"/>
              </a:spcBef>
              <a:spcAft>
                <a:spcPts val="0"/>
              </a:spcAft>
              <a:buNone/>
            </a:pPr>
            <a:r>
              <a:rPr lang="en-US">
                <a:solidFill>
                  <a:schemeClr val="dk1"/>
                </a:solidFill>
              </a:rPr>
              <a:t>Accurate </a:t>
            </a:r>
            <a:r>
              <a:rPr b="1" lang="en-US">
                <a:solidFill>
                  <a:schemeClr val="dk1"/>
                </a:solidFill>
              </a:rPr>
              <a:t>risk management </a:t>
            </a:r>
            <a:r>
              <a:rPr lang="en-US">
                <a:solidFill>
                  <a:schemeClr val="dk1"/>
                </a:solidFill>
              </a:rPr>
              <a:t>and identification of </a:t>
            </a:r>
            <a:r>
              <a:rPr b="1" lang="en-US">
                <a:solidFill>
                  <a:schemeClr val="dk1"/>
                </a:solidFill>
              </a:rPr>
              <a:t>low-ri</a:t>
            </a:r>
            <a:r>
              <a:rPr b="1" lang="en-US">
                <a:solidFill>
                  <a:schemeClr val="dk1"/>
                </a:solidFill>
                <a:extLst>
                  <a:ext uri="http://customooxmlschemas.google.com/">
                    <go:slidesCustomData xmlns:go="http://customooxmlschemas.google.com/" textRoundtripDataId="5"/>
                  </a:ext>
                </a:extLst>
              </a:rPr>
              <a:t>sk </a:t>
            </a:r>
            <a:r>
              <a:rPr b="1" lang="en-US">
                <a:solidFill>
                  <a:schemeClr val="dk1"/>
                </a:solidFill>
              </a:rPr>
              <a:t>customers</a:t>
            </a:r>
            <a:r>
              <a:rPr lang="en-US">
                <a:solidFill>
                  <a:schemeClr val="dk1"/>
                </a:solidFill>
              </a:rPr>
              <a:t> through customer data analysis are required</a:t>
            </a:r>
            <a:endParaRPr>
              <a:solidFill>
                <a:schemeClr val="dk1"/>
              </a:solidFill>
            </a:endParaRPr>
          </a:p>
        </p:txBody>
      </p:sp>
      <p:pic>
        <p:nvPicPr>
          <p:cNvPr id="64" name="Google Shape;64;p2"/>
          <p:cNvPicPr preferRelativeResize="0"/>
          <p:nvPr/>
        </p:nvPicPr>
        <p:blipFill rotWithShape="1">
          <a:blip r:embed="rId3">
            <a:alphaModFix/>
          </a:blip>
          <a:srcRect b="0" l="0" r="0" t="0"/>
          <a:stretch/>
        </p:blipFill>
        <p:spPr>
          <a:xfrm>
            <a:off x="7291963" y="4653425"/>
            <a:ext cx="1592381" cy="1099738"/>
          </a:xfrm>
          <a:prstGeom prst="rect">
            <a:avLst/>
          </a:prstGeom>
          <a:noFill/>
          <a:ln>
            <a:noFill/>
          </a:ln>
        </p:spPr>
      </p:pic>
      <p:sp>
        <p:nvSpPr>
          <p:cNvPr id="65" name="Google Shape;65;p2"/>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115570" rtl="0" algn="l">
              <a:lnSpc>
                <a:spcPct val="100000"/>
              </a:lnSpc>
              <a:spcBef>
                <a:spcPts val="0"/>
              </a:spcBef>
              <a:spcAft>
                <a:spcPts val="0"/>
              </a:spcAft>
              <a:buNone/>
            </a:pPr>
            <a:fld id="{00000000-1234-1234-1234-123412341234}" type="slidenum">
              <a:rPr lang="en-US"/>
              <a:t>‹#›</a:t>
            </a:fld>
            <a:endParaRPr/>
          </a:p>
        </p:txBody>
      </p:sp>
      <p:sp>
        <p:nvSpPr>
          <p:cNvPr id="66" name="Google Shape;66;p2"/>
          <p:cNvSpPr txBox="1"/>
          <p:nvPr/>
        </p:nvSpPr>
        <p:spPr>
          <a:xfrm>
            <a:off x="4165375" y="4880475"/>
            <a:ext cx="948000" cy="274500"/>
          </a:xfrm>
          <a:prstGeom prst="rect">
            <a:avLst/>
          </a:prstGeom>
          <a:noFill/>
          <a:ln>
            <a:noFill/>
          </a:ln>
        </p:spPr>
        <p:txBody>
          <a:bodyPr anchorCtr="0" anchor="t" bIns="0" lIns="0" spcFirstLastPara="1" rIns="0" wrap="square" tIns="12700">
            <a:spAutoFit/>
          </a:bodyPr>
          <a:lstStyle/>
          <a:p>
            <a:pPr indent="0" lvl="0" marL="12700" marR="5080" rtl="0" algn="l">
              <a:lnSpc>
                <a:spcPct val="105000"/>
              </a:lnSpc>
              <a:spcBef>
                <a:spcPts val="515"/>
              </a:spcBef>
              <a:spcAft>
                <a:spcPts val="0"/>
              </a:spcAft>
              <a:buNone/>
            </a:pPr>
            <a:r>
              <a:rPr b="1" lang="en-US" sz="1700"/>
              <a:t>Utilize AI</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115570" rtl="0" algn="l">
              <a:lnSpc>
                <a:spcPct val="100000"/>
              </a:lnSpc>
              <a:spcBef>
                <a:spcPts val="0"/>
              </a:spcBef>
              <a:spcAft>
                <a:spcPts val="0"/>
              </a:spcAft>
              <a:buNone/>
            </a:pPr>
            <a:fld id="{00000000-1234-1234-1234-123412341234}" type="slidenum">
              <a:rPr lang="en-US"/>
              <a:t>‹#›</a:t>
            </a:fld>
            <a:endParaRPr/>
          </a:p>
        </p:txBody>
      </p:sp>
      <p:pic>
        <p:nvPicPr>
          <p:cNvPr id="72" name="Google Shape;72;p3"/>
          <p:cNvPicPr preferRelativeResize="0"/>
          <p:nvPr/>
        </p:nvPicPr>
        <p:blipFill rotWithShape="1">
          <a:blip r:embed="rId3">
            <a:alphaModFix/>
          </a:blip>
          <a:srcRect b="0" l="0" r="0" t="0"/>
          <a:stretch/>
        </p:blipFill>
        <p:spPr>
          <a:xfrm>
            <a:off x="344518" y="1767655"/>
            <a:ext cx="8179481" cy="2879170"/>
          </a:xfrm>
          <a:prstGeom prst="rect">
            <a:avLst/>
          </a:prstGeom>
          <a:noFill/>
          <a:ln>
            <a:noFill/>
          </a:ln>
        </p:spPr>
      </p:pic>
      <p:sp>
        <p:nvSpPr>
          <p:cNvPr id="73" name="Google Shape;73;p3"/>
          <p:cNvSpPr txBox="1"/>
          <p:nvPr/>
        </p:nvSpPr>
        <p:spPr>
          <a:xfrm>
            <a:off x="977059" y="2284740"/>
            <a:ext cx="6914400" cy="1845000"/>
          </a:xfrm>
          <a:prstGeom prst="rect">
            <a:avLst/>
          </a:prstGeom>
          <a:noFill/>
          <a:ln>
            <a:noFill/>
          </a:ln>
        </p:spPr>
        <p:txBody>
          <a:bodyPr anchorCtr="0" anchor="t" bIns="0" lIns="0" spcFirstLastPara="1" rIns="0" wrap="square" tIns="120000">
            <a:spAutoFit/>
          </a:bodyPr>
          <a:lstStyle/>
          <a:p>
            <a:pPr indent="0" lvl="0" marL="59055" rtl="0" algn="l">
              <a:lnSpc>
                <a:spcPct val="100000"/>
              </a:lnSpc>
              <a:spcBef>
                <a:spcPts val="0"/>
              </a:spcBef>
              <a:spcAft>
                <a:spcPts val="0"/>
              </a:spcAft>
              <a:buNone/>
            </a:pPr>
            <a:r>
              <a:rPr lang="en-US" sz="2800"/>
              <a:t>Table of contents</a:t>
            </a:r>
            <a:endParaRPr sz="2800"/>
          </a:p>
          <a:p>
            <a:pPr indent="-355600" lvl="0" marL="457200" rtl="0" algn="l">
              <a:spcBef>
                <a:spcPts val="760"/>
              </a:spcBef>
              <a:spcAft>
                <a:spcPts val="0"/>
              </a:spcAft>
              <a:buClr>
                <a:srgbClr val="D0CECE"/>
              </a:buClr>
              <a:buSzPts val="2000"/>
              <a:buChar char="⮚"/>
            </a:pPr>
            <a:r>
              <a:rPr lang="en-US" sz="2200">
                <a:solidFill>
                  <a:srgbClr val="D0CECE"/>
                </a:solidFill>
              </a:rPr>
              <a:t>Current State of the Consumer Finance Industry</a:t>
            </a:r>
            <a:endParaRPr sz="2200">
              <a:solidFill>
                <a:srgbClr val="D0CECE"/>
              </a:solidFill>
            </a:endParaRPr>
          </a:p>
          <a:p>
            <a:pPr indent="-361949" lvl="0" marL="457200" rtl="0" algn="l">
              <a:spcBef>
                <a:spcPts val="760"/>
              </a:spcBef>
              <a:spcAft>
                <a:spcPts val="0"/>
              </a:spcAft>
              <a:buClr>
                <a:schemeClr val="dk1"/>
              </a:buClr>
              <a:buSzPts val="2100"/>
              <a:buChar char="⮚"/>
            </a:pPr>
            <a:r>
              <a:rPr lang="en-US" sz="2000">
                <a:solidFill>
                  <a:schemeClr val="dk1"/>
                </a:solidFill>
                <a:extLst>
                  <a:ext uri="http://customooxmlschemas.google.com/">
                    <go:slidesCustomData xmlns:go="http://customooxmlschemas.google.com/" textRoundtripDataId="6"/>
                  </a:ext>
                </a:extLst>
              </a:rPr>
              <a:t>Prediction Using Machine Learning Models</a:t>
            </a:r>
            <a:endParaRPr sz="2000">
              <a:solidFill>
                <a:schemeClr val="dk1"/>
              </a:solidFill>
            </a:endParaRPr>
          </a:p>
          <a:p>
            <a:pPr indent="-361949" lvl="0" marL="457200" rtl="0" algn="l">
              <a:spcBef>
                <a:spcPts val="760"/>
              </a:spcBef>
              <a:spcAft>
                <a:spcPts val="0"/>
              </a:spcAft>
              <a:buClr>
                <a:srgbClr val="D0CECE"/>
              </a:buClr>
              <a:buSzPts val="2100"/>
              <a:buChar char="⮚"/>
            </a:pPr>
            <a:r>
              <a:rPr lang="en-US" sz="2200">
                <a:solidFill>
                  <a:srgbClr val="D0CECE"/>
                </a:solidFill>
              </a:rPr>
              <a:t>Our Business Proposal</a:t>
            </a:r>
            <a:endParaRPr sz="2200">
              <a:solidFill>
                <a:srgbClr val="D0CEC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33841" y="201901"/>
            <a:ext cx="7070100" cy="1578300"/>
          </a:xfrm>
          <a:prstGeom prst="rect">
            <a:avLst/>
          </a:prstGeom>
          <a:noFill/>
          <a:ln>
            <a:noFill/>
          </a:ln>
        </p:spPr>
        <p:txBody>
          <a:bodyPr anchorCtr="0" anchor="t" bIns="0" lIns="0" spcFirstLastPara="1" rIns="0" wrap="square" tIns="68575">
            <a:spAutoFit/>
          </a:bodyPr>
          <a:lstStyle/>
          <a:p>
            <a:pPr indent="0" lvl="0" marL="12700" rtl="0" algn="l">
              <a:lnSpc>
                <a:spcPct val="100000"/>
              </a:lnSpc>
              <a:spcBef>
                <a:spcPts val="0"/>
              </a:spcBef>
              <a:spcAft>
                <a:spcPts val="0"/>
              </a:spcAft>
              <a:buNone/>
            </a:pPr>
            <a:r>
              <a:rPr lang="en-US">
                <a:latin typeface="Arial"/>
                <a:ea typeface="Arial"/>
                <a:cs typeface="Arial"/>
                <a:sym typeface="Arial"/>
              </a:rPr>
              <a:t>Introduction of Data	</a:t>
            </a:r>
            <a:br>
              <a:rPr lang="en-US">
                <a:latin typeface="Arial"/>
                <a:ea typeface="Arial"/>
                <a:cs typeface="Arial"/>
                <a:sym typeface="Arial"/>
              </a:rPr>
            </a:br>
            <a:r>
              <a:rPr lang="en-US">
                <a:latin typeface="Arial"/>
                <a:ea typeface="Arial"/>
                <a:cs typeface="Arial"/>
                <a:sym typeface="Arial"/>
              </a:rPr>
              <a:t>	</a:t>
            </a:r>
            <a:r>
              <a:rPr lang="en-US" sz="1400" u="none">
                <a:latin typeface="Arial"/>
                <a:ea typeface="Arial"/>
                <a:cs typeface="Arial"/>
                <a:sym typeface="Arial"/>
              </a:rPr>
              <a:t>Approximately 200 types of customer information have been accumulated as data.</a:t>
            </a:r>
            <a:br>
              <a:rPr lang="en-US" sz="1400" u="none">
                <a:latin typeface="Arial"/>
                <a:ea typeface="Arial"/>
                <a:cs typeface="Arial"/>
                <a:sym typeface="Arial"/>
              </a:rPr>
            </a:br>
            <a:endParaRPr sz="1400" u="none">
              <a:latin typeface="Arial"/>
              <a:ea typeface="Arial"/>
              <a:cs typeface="Arial"/>
              <a:sym typeface="Arial"/>
            </a:endParaRPr>
          </a:p>
          <a:p>
            <a:pPr indent="0" lvl="0" marL="316865" rtl="0" algn="l">
              <a:lnSpc>
                <a:spcPct val="100000"/>
              </a:lnSpc>
              <a:spcBef>
                <a:spcPts val="245"/>
              </a:spcBef>
              <a:spcAft>
                <a:spcPts val="0"/>
              </a:spcAft>
              <a:buNone/>
            </a:pPr>
            <a:r>
              <a:t/>
            </a:r>
            <a:endParaRPr sz="1800" u="none">
              <a:latin typeface="Arial"/>
              <a:ea typeface="Arial"/>
              <a:cs typeface="Arial"/>
              <a:sym typeface="Arial"/>
            </a:endParaRPr>
          </a:p>
        </p:txBody>
      </p:sp>
      <p:sp>
        <p:nvSpPr>
          <p:cNvPr id="79" name="Google Shape;79;p4"/>
          <p:cNvSpPr txBox="1"/>
          <p:nvPr>
            <p:ph idx="1" type="body"/>
          </p:nvPr>
        </p:nvSpPr>
        <p:spPr>
          <a:xfrm>
            <a:off x="645533" y="2911977"/>
            <a:ext cx="5969700" cy="2389800"/>
          </a:xfrm>
          <a:prstGeom prst="rect">
            <a:avLst/>
          </a:prstGeom>
          <a:noFill/>
          <a:ln>
            <a:noFill/>
          </a:ln>
        </p:spPr>
        <p:txBody>
          <a:bodyPr anchorCtr="0" anchor="t" bIns="0" lIns="0" spcFirstLastPara="1" rIns="0" wrap="square" tIns="100950">
            <a:spAutoFit/>
          </a:bodyPr>
          <a:lstStyle/>
          <a:p>
            <a:pPr indent="0" lvl="0" marL="13970" rtl="0" algn="l">
              <a:lnSpc>
                <a:spcPct val="100000"/>
              </a:lnSpc>
              <a:spcBef>
                <a:spcPts val="0"/>
              </a:spcBef>
              <a:spcAft>
                <a:spcPts val="0"/>
              </a:spcAft>
              <a:buNone/>
            </a:pPr>
            <a:r>
              <a:rPr lang="en-US">
                <a:latin typeface="Arial"/>
                <a:ea typeface="Arial"/>
                <a:cs typeface="Arial"/>
                <a:sym typeface="Arial"/>
              </a:rPr>
              <a:t>Data Contents</a:t>
            </a:r>
            <a:endParaRPr>
              <a:latin typeface="Arial"/>
              <a:ea typeface="Arial"/>
              <a:cs typeface="Arial"/>
              <a:sym typeface="Arial"/>
            </a:endParaRPr>
          </a:p>
          <a:p>
            <a:pPr indent="-194309" lvl="0" marL="226059" rtl="0" algn="l">
              <a:lnSpc>
                <a:spcPct val="117500"/>
              </a:lnSpc>
              <a:spcBef>
                <a:spcPts val="605"/>
              </a:spcBef>
              <a:spcAft>
                <a:spcPts val="0"/>
              </a:spcAft>
              <a:buClr>
                <a:schemeClr val="dk1"/>
              </a:buClr>
              <a:buSzPts val="1100"/>
              <a:buChar char="⮚"/>
            </a:pPr>
            <a:r>
              <a:rPr lang="en-US" sz="1100" u="none">
                <a:latin typeface="Arial"/>
                <a:ea typeface="Arial"/>
                <a:cs typeface="Arial"/>
                <a:sym typeface="Arial"/>
                <a:extLst>
                  <a:ext uri="http://customooxmlschemas.google.com/">
                    <go:slidesCustomData xmlns:go="http://customooxmlschemas.google.com/" textRoundtripDataId="7"/>
                  </a:ext>
                </a:extLst>
              </a:rPr>
              <a:t>Key</a:t>
            </a:r>
            <a:r>
              <a:rPr lang="en-US" sz="1100" u="none">
                <a:latin typeface="Arial"/>
                <a:ea typeface="Arial"/>
                <a:cs typeface="Arial"/>
                <a:sym typeface="Arial"/>
              </a:rPr>
              <a:t> data for each customer (gender, occupation, family information, presence/absence of default, etc.)</a:t>
            </a:r>
            <a:endParaRPr sz="1100">
              <a:latin typeface="Arial"/>
              <a:ea typeface="Arial"/>
              <a:cs typeface="Arial"/>
              <a:sym typeface="Arial"/>
            </a:endParaRPr>
          </a:p>
          <a:p>
            <a:pPr indent="-194309" lvl="0" marL="226059" rtl="0" algn="l">
              <a:lnSpc>
                <a:spcPct val="113928"/>
              </a:lnSpc>
              <a:spcBef>
                <a:spcPts val="0"/>
              </a:spcBef>
              <a:spcAft>
                <a:spcPts val="0"/>
              </a:spcAft>
              <a:buClr>
                <a:schemeClr val="dk1"/>
              </a:buClr>
              <a:buSzPts val="1100"/>
              <a:buChar char="⮚"/>
            </a:pPr>
            <a:r>
              <a:rPr lang="en-US" sz="1100" u="none">
                <a:latin typeface="Arial"/>
                <a:ea typeface="Arial"/>
                <a:cs typeface="Arial"/>
                <a:sym typeface="Arial"/>
                <a:extLst>
                  <a:ext uri="http://customooxmlschemas.google.com/">
                    <go:slidesCustomData xmlns:go="http://customooxmlschemas.google.com/" textRoundtripDataId="8"/>
                  </a:ext>
                </a:extLst>
              </a:rPr>
              <a:t>Information</a:t>
            </a:r>
            <a:r>
              <a:rPr lang="en-US" sz="1100" u="none">
                <a:latin typeface="Arial"/>
                <a:ea typeface="Arial"/>
                <a:cs typeface="Arial"/>
                <a:sym typeface="Arial"/>
              </a:rPr>
              <a:t> on customers’ past borrowings at other financial institutions (delinquent amounts, credit limits, etc.)</a:t>
            </a:r>
            <a:endParaRPr sz="1100">
              <a:latin typeface="Arial"/>
              <a:ea typeface="Arial"/>
              <a:cs typeface="Arial"/>
              <a:sym typeface="Arial"/>
            </a:endParaRPr>
          </a:p>
          <a:p>
            <a:pPr indent="-194309" lvl="0" marL="226059" rtl="0" algn="l">
              <a:lnSpc>
                <a:spcPct val="113928"/>
              </a:lnSpc>
              <a:spcBef>
                <a:spcPts val="0"/>
              </a:spcBef>
              <a:spcAft>
                <a:spcPts val="0"/>
              </a:spcAft>
              <a:buClr>
                <a:schemeClr val="dk1"/>
              </a:buClr>
              <a:buSzPts val="1100"/>
              <a:buChar char="⮚"/>
            </a:pPr>
            <a:r>
              <a:rPr lang="en-US" sz="1100" u="none">
                <a:latin typeface="Arial"/>
                <a:ea typeface="Arial"/>
                <a:cs typeface="Arial"/>
                <a:sym typeface="Arial"/>
                <a:extLst>
                  <a:ext uri="http://customooxmlschemas.google.com/">
                    <go:slidesCustomData xmlns:go="http://customooxmlschemas.google.com/" textRoundtripDataId="9"/>
                  </a:ext>
                </a:extLst>
              </a:rPr>
              <a:t>Monthly </a:t>
            </a:r>
            <a:r>
              <a:rPr lang="en-US" sz="1100" u="none">
                <a:latin typeface="Arial"/>
                <a:ea typeface="Arial"/>
                <a:cs typeface="Arial"/>
                <a:sym typeface="Arial"/>
              </a:rPr>
              <a:t>balance status of customers</a:t>
            </a:r>
            <a:endParaRPr sz="1100">
              <a:latin typeface="Arial"/>
              <a:ea typeface="Arial"/>
              <a:cs typeface="Arial"/>
              <a:sym typeface="Arial"/>
            </a:endParaRPr>
          </a:p>
          <a:p>
            <a:pPr indent="-194309" lvl="0" marL="226059" rtl="0" algn="l">
              <a:lnSpc>
                <a:spcPct val="110000"/>
              </a:lnSpc>
              <a:spcBef>
                <a:spcPts val="0"/>
              </a:spcBef>
              <a:spcAft>
                <a:spcPts val="0"/>
              </a:spcAft>
              <a:buClr>
                <a:schemeClr val="dk1"/>
              </a:buClr>
              <a:buSzPts val="1100"/>
              <a:buChar char="⮚"/>
            </a:pPr>
            <a:r>
              <a:rPr lang="en-US" sz="1100" u="none">
                <a:latin typeface="Arial"/>
                <a:ea typeface="Arial"/>
                <a:cs typeface="Arial"/>
                <a:sym typeface="Arial"/>
              </a:rPr>
              <a:t>Credit card usage information and withdrawal amounts for the month prior to the application date</a:t>
            </a:r>
            <a:endParaRPr sz="1400">
              <a:latin typeface="Arial"/>
              <a:ea typeface="Arial"/>
              <a:cs typeface="Arial"/>
              <a:sym typeface="Arial"/>
            </a:endParaRPr>
          </a:p>
          <a:p>
            <a:pPr indent="-213359" lvl="0" marL="226059" rtl="0" algn="l">
              <a:lnSpc>
                <a:spcPct val="116428"/>
              </a:lnSpc>
              <a:spcBef>
                <a:spcPts val="0"/>
              </a:spcBef>
              <a:spcAft>
                <a:spcPts val="0"/>
              </a:spcAft>
              <a:buClr>
                <a:schemeClr val="dk1"/>
              </a:buClr>
              <a:buSzPts val="1400"/>
              <a:buChar char="⮚"/>
            </a:pPr>
            <a:r>
              <a:rPr lang="en-US" sz="1100" u="none">
                <a:latin typeface="Arial"/>
                <a:ea typeface="Arial"/>
                <a:cs typeface="Arial"/>
                <a:sym typeface="Arial"/>
              </a:rPr>
              <a:t>Key data at the time of past applications (contract type, application amount, purpose of use)</a:t>
            </a:r>
            <a:endParaRPr sz="1400">
              <a:latin typeface="Arial"/>
              <a:ea typeface="Arial"/>
              <a:cs typeface="Arial"/>
              <a:sym typeface="Arial"/>
            </a:endParaRPr>
          </a:p>
          <a:p>
            <a:pPr indent="-194309" lvl="0" marL="226059" rtl="0" algn="l">
              <a:lnSpc>
                <a:spcPct val="115000"/>
              </a:lnSpc>
              <a:spcBef>
                <a:spcPts val="0"/>
              </a:spcBef>
              <a:spcAft>
                <a:spcPts val="0"/>
              </a:spcAft>
              <a:buClr>
                <a:schemeClr val="dk1"/>
              </a:buClr>
              <a:buSzPts val="1100"/>
              <a:buChar char="⮚"/>
            </a:pPr>
            <a:r>
              <a:rPr lang="en-US" sz="1100" u="none">
                <a:latin typeface="Arial"/>
                <a:ea typeface="Arial"/>
                <a:cs typeface="Arial"/>
                <a:sym typeface="Arial"/>
              </a:rPr>
              <a:t>POS cash balance information</a:t>
            </a:r>
            <a:endParaRPr sz="1100">
              <a:latin typeface="Arial"/>
              <a:ea typeface="Arial"/>
              <a:cs typeface="Arial"/>
              <a:sym typeface="Arial"/>
            </a:endParaRPr>
          </a:p>
          <a:p>
            <a:pPr indent="-194309" lvl="0" marL="226059" rtl="0" algn="l">
              <a:lnSpc>
                <a:spcPct val="117499"/>
              </a:lnSpc>
              <a:spcBef>
                <a:spcPts val="0"/>
              </a:spcBef>
              <a:spcAft>
                <a:spcPts val="0"/>
              </a:spcAft>
              <a:buClr>
                <a:schemeClr val="dk1"/>
              </a:buClr>
              <a:buSzPts val="1100"/>
              <a:buChar char="⮚"/>
            </a:pPr>
            <a:r>
              <a:rPr lang="en-US" sz="1100" u="none">
                <a:latin typeface="Arial"/>
                <a:ea typeface="Arial"/>
                <a:cs typeface="Arial"/>
                <a:sym typeface="Arial"/>
              </a:rPr>
              <a:t>Installment payment information</a:t>
            </a:r>
            <a:endParaRPr sz="1100">
              <a:latin typeface="Arial"/>
              <a:ea typeface="Arial"/>
              <a:cs typeface="Arial"/>
              <a:sym typeface="Arial"/>
            </a:endParaRPr>
          </a:p>
        </p:txBody>
      </p:sp>
      <p:grpSp>
        <p:nvGrpSpPr>
          <p:cNvPr id="80" name="Google Shape;80;p4"/>
          <p:cNvGrpSpPr/>
          <p:nvPr/>
        </p:nvGrpSpPr>
        <p:grpSpPr>
          <a:xfrm>
            <a:off x="568233" y="1253005"/>
            <a:ext cx="7080948" cy="1550035"/>
            <a:chOff x="568233" y="1183907"/>
            <a:chExt cx="7080948" cy="1550035"/>
          </a:xfrm>
        </p:grpSpPr>
        <p:pic>
          <p:nvPicPr>
            <p:cNvPr id="81" name="Google Shape;81;p4"/>
            <p:cNvPicPr preferRelativeResize="0"/>
            <p:nvPr/>
          </p:nvPicPr>
          <p:blipFill rotWithShape="1">
            <a:blip r:embed="rId3">
              <a:alphaModFix/>
            </a:blip>
            <a:srcRect b="0" l="0" r="0" t="0"/>
            <a:stretch/>
          </p:blipFill>
          <p:spPr>
            <a:xfrm>
              <a:off x="568233" y="1222207"/>
              <a:ext cx="6457949" cy="857328"/>
            </a:xfrm>
            <a:prstGeom prst="rect">
              <a:avLst/>
            </a:prstGeom>
            <a:noFill/>
            <a:ln>
              <a:noFill/>
            </a:ln>
          </p:spPr>
        </p:pic>
        <p:pic>
          <p:nvPicPr>
            <p:cNvPr id="82" name="Google Shape;82;p4"/>
            <p:cNvPicPr preferRelativeResize="0"/>
            <p:nvPr/>
          </p:nvPicPr>
          <p:blipFill rotWithShape="1">
            <a:blip r:embed="rId4">
              <a:alphaModFix/>
            </a:blip>
            <a:srcRect b="0" l="0" r="0" t="0"/>
            <a:stretch/>
          </p:blipFill>
          <p:spPr>
            <a:xfrm>
              <a:off x="809739" y="1465336"/>
              <a:ext cx="6310567" cy="914251"/>
            </a:xfrm>
            <a:prstGeom prst="rect">
              <a:avLst/>
            </a:prstGeom>
            <a:noFill/>
            <a:ln>
              <a:noFill/>
            </a:ln>
          </p:spPr>
        </p:pic>
        <p:pic>
          <p:nvPicPr>
            <p:cNvPr id="83" name="Google Shape;83;p4"/>
            <p:cNvPicPr preferRelativeResize="0"/>
            <p:nvPr/>
          </p:nvPicPr>
          <p:blipFill rotWithShape="1">
            <a:blip r:embed="rId5">
              <a:alphaModFix/>
            </a:blip>
            <a:srcRect b="0" l="0" r="0" t="0"/>
            <a:stretch/>
          </p:blipFill>
          <p:spPr>
            <a:xfrm>
              <a:off x="1864304" y="1783294"/>
              <a:ext cx="5497509" cy="950481"/>
            </a:xfrm>
            <a:prstGeom prst="rect">
              <a:avLst/>
            </a:prstGeom>
            <a:noFill/>
            <a:ln>
              <a:noFill/>
            </a:ln>
          </p:spPr>
        </p:pic>
        <p:sp>
          <p:nvSpPr>
            <p:cNvPr id="84" name="Google Shape;84;p4"/>
            <p:cNvSpPr/>
            <p:nvPr/>
          </p:nvSpPr>
          <p:spPr>
            <a:xfrm>
              <a:off x="7299296" y="1183907"/>
              <a:ext cx="349885" cy="1550035"/>
            </a:xfrm>
            <a:custGeom>
              <a:rect b="b" l="l" r="r" t="t"/>
              <a:pathLst>
                <a:path extrusionOk="0" h="1550035" w="349884">
                  <a:moveTo>
                    <a:pt x="0" y="0"/>
                  </a:moveTo>
                  <a:lnTo>
                    <a:pt x="80219" y="769"/>
                  </a:lnTo>
                  <a:lnTo>
                    <a:pt x="153858" y="2963"/>
                  </a:lnTo>
                  <a:lnTo>
                    <a:pt x="218818" y="6404"/>
                  </a:lnTo>
                  <a:lnTo>
                    <a:pt x="272998" y="10919"/>
                  </a:lnTo>
                  <a:lnTo>
                    <a:pt x="314298" y="16332"/>
                  </a:lnTo>
                  <a:lnTo>
                    <a:pt x="349858" y="29153"/>
                  </a:lnTo>
                  <a:lnTo>
                    <a:pt x="349858" y="1520716"/>
                  </a:lnTo>
                  <a:lnTo>
                    <a:pt x="272998" y="1538949"/>
                  </a:lnTo>
                  <a:lnTo>
                    <a:pt x="218818" y="1543464"/>
                  </a:lnTo>
                  <a:lnTo>
                    <a:pt x="153858" y="1546905"/>
                  </a:lnTo>
                  <a:lnTo>
                    <a:pt x="80219" y="1549099"/>
                  </a:lnTo>
                  <a:lnTo>
                    <a:pt x="0" y="1549869"/>
                  </a:lnTo>
                </a:path>
              </a:pathLst>
            </a:custGeom>
            <a:noFill/>
            <a:ln cap="flat" cmpd="sng" w="25400">
              <a:solidFill>
                <a:srgbClr val="AFABA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5" name="Google Shape;85;p4"/>
          <p:cNvSpPr txBox="1"/>
          <p:nvPr/>
        </p:nvSpPr>
        <p:spPr>
          <a:xfrm>
            <a:off x="7720628" y="1803908"/>
            <a:ext cx="1244700" cy="350400"/>
          </a:xfrm>
          <a:prstGeom prst="rect">
            <a:avLst/>
          </a:prstGeom>
          <a:noFill/>
          <a:ln>
            <a:noFill/>
          </a:ln>
        </p:spPr>
        <p:txBody>
          <a:bodyPr anchorCtr="0" anchor="t" bIns="0" lIns="0" spcFirstLastPara="1" rIns="0" wrap="square" tIns="3175">
            <a:spAutoFit/>
          </a:bodyPr>
          <a:lstStyle/>
          <a:p>
            <a:pPr indent="0" lvl="0" marL="12700" marR="5080" rtl="0" algn="l">
              <a:lnSpc>
                <a:spcPct val="105000"/>
              </a:lnSpc>
              <a:spcBef>
                <a:spcPts val="0"/>
              </a:spcBef>
              <a:spcAft>
                <a:spcPts val="0"/>
              </a:spcAft>
              <a:buNone/>
            </a:pPr>
            <a:r>
              <a:rPr lang="en-US" sz="1100"/>
              <a:t>A portion of the data you  provided</a:t>
            </a:r>
            <a:endParaRPr sz="1100"/>
          </a:p>
        </p:txBody>
      </p:sp>
      <p:pic>
        <p:nvPicPr>
          <p:cNvPr id="86" name="Google Shape;86;p4"/>
          <p:cNvPicPr preferRelativeResize="0"/>
          <p:nvPr/>
        </p:nvPicPr>
        <p:blipFill rotWithShape="1">
          <a:blip r:embed="rId6">
            <a:alphaModFix/>
          </a:blip>
          <a:srcRect b="0" l="0" r="0" t="10088"/>
          <a:stretch/>
        </p:blipFill>
        <p:spPr>
          <a:xfrm>
            <a:off x="6657725" y="3593100"/>
            <a:ext cx="2014725" cy="2110225"/>
          </a:xfrm>
          <a:prstGeom prst="rect">
            <a:avLst/>
          </a:prstGeom>
          <a:noFill/>
          <a:ln>
            <a:noFill/>
          </a:ln>
        </p:spPr>
      </p:pic>
      <p:sp>
        <p:nvSpPr>
          <p:cNvPr id="87" name="Google Shape;87;p4"/>
          <p:cNvSpPr txBox="1"/>
          <p:nvPr/>
        </p:nvSpPr>
        <p:spPr>
          <a:xfrm>
            <a:off x="7727894" y="5637276"/>
            <a:ext cx="79057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Calibri"/>
                <a:ea typeface="Calibri"/>
                <a:cs typeface="Calibri"/>
                <a:sym typeface="Calibri"/>
              </a:rPr>
              <a:t>n= 307506</a:t>
            </a:r>
            <a:endParaRPr sz="1400">
              <a:latin typeface="Calibri"/>
              <a:ea typeface="Calibri"/>
              <a:cs typeface="Calibri"/>
              <a:sym typeface="Calibri"/>
            </a:endParaRPr>
          </a:p>
        </p:txBody>
      </p:sp>
      <p:sp>
        <p:nvSpPr>
          <p:cNvPr id="88" name="Google Shape;88;p4"/>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115570" rtl="0" algn="l">
              <a:lnSpc>
                <a:spcPct val="100000"/>
              </a:lnSpc>
              <a:spcBef>
                <a:spcPts val="0"/>
              </a:spcBef>
              <a:spcAft>
                <a:spcPts val="0"/>
              </a:spcAft>
              <a:buNone/>
            </a:pPr>
            <a:fld id="{00000000-1234-1234-1234-123412341234}" type="slidenum">
              <a:rPr lang="en-US"/>
              <a:t>‹#›</a:t>
            </a:fld>
            <a:endParaRPr/>
          </a:p>
        </p:txBody>
      </p:sp>
      <p:sp>
        <p:nvSpPr>
          <p:cNvPr id="89" name="Google Shape;89;p4"/>
          <p:cNvSpPr txBox="1"/>
          <p:nvPr/>
        </p:nvSpPr>
        <p:spPr>
          <a:xfrm>
            <a:off x="6770898" y="3330461"/>
            <a:ext cx="1961100" cy="182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100">
                <a:solidFill>
                  <a:schemeClr val="dk1"/>
                </a:solidFill>
              </a:rPr>
              <a:t>Proportion of </a:t>
            </a:r>
            <a:r>
              <a:rPr lang="en-US" sz="1100">
                <a:solidFill>
                  <a:schemeClr val="dk1"/>
                </a:solidFill>
              </a:rPr>
              <a:t>Non-</a:t>
            </a:r>
            <a:r>
              <a:rPr lang="en-US" sz="1100">
                <a:solidFill>
                  <a:schemeClr val="dk1"/>
                </a:solidFill>
              </a:rPr>
              <a:t>Defaulters</a:t>
            </a:r>
            <a:endParaRPr sz="1200">
              <a:latin typeface="Microsoft JhengHei"/>
              <a:ea typeface="Microsoft JhengHei"/>
              <a:cs typeface="Microsoft JhengHei"/>
              <a:sym typeface="Microsoft JhengHe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type="title"/>
          </p:nvPr>
        </p:nvSpPr>
        <p:spPr>
          <a:xfrm>
            <a:off x="342474" y="236225"/>
            <a:ext cx="48498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latin typeface="Arial"/>
                <a:ea typeface="Arial"/>
                <a:cs typeface="Arial"/>
                <a:sym typeface="Arial"/>
              </a:rPr>
              <a:t> Data Visualization</a:t>
            </a:r>
            <a:r>
              <a:rPr lang="en-US">
                <a:latin typeface="Arial"/>
                <a:ea typeface="Arial"/>
                <a:cs typeface="Arial"/>
                <a:sym typeface="Arial"/>
              </a:rPr>
              <a:t>	</a:t>
            </a:r>
            <a:endParaRPr>
              <a:latin typeface="Arial"/>
              <a:ea typeface="Arial"/>
              <a:cs typeface="Arial"/>
              <a:sym typeface="Arial"/>
            </a:endParaRPr>
          </a:p>
        </p:txBody>
      </p:sp>
      <p:sp>
        <p:nvSpPr>
          <p:cNvPr id="95" name="Google Shape;95;p5"/>
          <p:cNvSpPr txBox="1"/>
          <p:nvPr/>
        </p:nvSpPr>
        <p:spPr>
          <a:xfrm>
            <a:off x="8409888" y="6456177"/>
            <a:ext cx="1029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898989"/>
                </a:solidFill>
                <a:latin typeface="Calibri"/>
                <a:ea typeface="Calibri"/>
                <a:cs typeface="Calibri"/>
                <a:sym typeface="Calibri"/>
              </a:rPr>
              <a:t>5</a:t>
            </a:r>
            <a:endParaRPr sz="1200">
              <a:latin typeface="Calibri"/>
              <a:ea typeface="Calibri"/>
              <a:cs typeface="Calibri"/>
              <a:sym typeface="Calibri"/>
            </a:endParaRPr>
          </a:p>
        </p:txBody>
      </p:sp>
      <p:grpSp>
        <p:nvGrpSpPr>
          <p:cNvPr id="96" name="Google Shape;96;p5"/>
          <p:cNvGrpSpPr/>
          <p:nvPr/>
        </p:nvGrpSpPr>
        <p:grpSpPr>
          <a:xfrm>
            <a:off x="676655" y="3819642"/>
            <a:ext cx="3800855" cy="2658582"/>
            <a:chOff x="676655" y="3880103"/>
            <a:chExt cx="3800855" cy="2658582"/>
          </a:xfrm>
        </p:grpSpPr>
        <p:pic>
          <p:nvPicPr>
            <p:cNvPr id="97" name="Google Shape;97;p5"/>
            <p:cNvPicPr preferRelativeResize="0"/>
            <p:nvPr/>
          </p:nvPicPr>
          <p:blipFill rotWithShape="1">
            <a:blip r:embed="rId3">
              <a:alphaModFix/>
            </a:blip>
            <a:srcRect b="0" l="0" r="0" t="0"/>
            <a:stretch/>
          </p:blipFill>
          <p:spPr>
            <a:xfrm>
              <a:off x="676655" y="3880103"/>
              <a:ext cx="3800855" cy="2465832"/>
            </a:xfrm>
            <a:prstGeom prst="rect">
              <a:avLst/>
            </a:prstGeom>
            <a:noFill/>
            <a:ln>
              <a:noFill/>
            </a:ln>
          </p:spPr>
        </p:pic>
        <p:sp>
          <p:nvSpPr>
            <p:cNvPr id="98" name="Google Shape;98;p5"/>
            <p:cNvSpPr/>
            <p:nvPr/>
          </p:nvSpPr>
          <p:spPr>
            <a:xfrm>
              <a:off x="2439828" y="6261190"/>
              <a:ext cx="492759" cy="277495"/>
            </a:xfrm>
            <a:custGeom>
              <a:rect b="b" l="l" r="r" t="t"/>
              <a:pathLst>
                <a:path extrusionOk="0" h="277495" w="492760">
                  <a:moveTo>
                    <a:pt x="492442" y="0"/>
                  </a:moveTo>
                  <a:lnTo>
                    <a:pt x="0" y="0"/>
                  </a:lnTo>
                  <a:lnTo>
                    <a:pt x="0" y="276998"/>
                  </a:lnTo>
                  <a:lnTo>
                    <a:pt x="492442" y="276998"/>
                  </a:lnTo>
                  <a:lnTo>
                    <a:pt x="49244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9" name="Google Shape;99;p5"/>
          <p:cNvSpPr txBox="1"/>
          <p:nvPr/>
        </p:nvSpPr>
        <p:spPr>
          <a:xfrm>
            <a:off x="544405" y="813307"/>
            <a:ext cx="5283300" cy="2436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500">
                <a:solidFill>
                  <a:schemeClr val="dk1"/>
                </a:solidFill>
              </a:rPr>
              <a:t>We conducted various visualizations of the customer data.</a:t>
            </a:r>
            <a:endParaRPr sz="1500"/>
          </a:p>
        </p:txBody>
      </p:sp>
      <p:pic>
        <p:nvPicPr>
          <p:cNvPr id="100" name="Google Shape;100;p5"/>
          <p:cNvPicPr preferRelativeResize="0"/>
          <p:nvPr/>
        </p:nvPicPr>
        <p:blipFill rotWithShape="1">
          <a:blip r:embed="rId4">
            <a:alphaModFix/>
          </a:blip>
          <a:srcRect b="0" l="0" r="0" t="0"/>
          <a:stretch/>
        </p:blipFill>
        <p:spPr>
          <a:xfrm>
            <a:off x="4882896" y="1225794"/>
            <a:ext cx="3191256" cy="2459736"/>
          </a:xfrm>
          <a:prstGeom prst="rect">
            <a:avLst/>
          </a:prstGeom>
          <a:noFill/>
          <a:ln>
            <a:noFill/>
          </a:ln>
        </p:spPr>
      </p:pic>
      <p:grpSp>
        <p:nvGrpSpPr>
          <p:cNvPr id="101" name="Google Shape;101;p5"/>
          <p:cNvGrpSpPr/>
          <p:nvPr/>
        </p:nvGrpSpPr>
        <p:grpSpPr>
          <a:xfrm>
            <a:off x="643127" y="1222092"/>
            <a:ext cx="3791712" cy="2500015"/>
            <a:chOff x="643127" y="1282553"/>
            <a:chExt cx="3791712" cy="2500015"/>
          </a:xfrm>
        </p:grpSpPr>
        <p:pic>
          <p:nvPicPr>
            <p:cNvPr id="102" name="Google Shape;102;p5"/>
            <p:cNvPicPr preferRelativeResize="0"/>
            <p:nvPr/>
          </p:nvPicPr>
          <p:blipFill rotWithShape="1">
            <a:blip r:embed="rId5">
              <a:alphaModFix/>
            </a:blip>
            <a:srcRect b="0" l="0" r="0" t="0"/>
            <a:stretch/>
          </p:blipFill>
          <p:spPr>
            <a:xfrm>
              <a:off x="643127" y="1356360"/>
              <a:ext cx="3791712" cy="2426208"/>
            </a:xfrm>
            <a:prstGeom prst="rect">
              <a:avLst/>
            </a:prstGeom>
            <a:noFill/>
            <a:ln>
              <a:noFill/>
            </a:ln>
          </p:spPr>
        </p:pic>
        <p:sp>
          <p:nvSpPr>
            <p:cNvPr id="103" name="Google Shape;103;p5"/>
            <p:cNvSpPr/>
            <p:nvPr/>
          </p:nvSpPr>
          <p:spPr>
            <a:xfrm>
              <a:off x="2133597" y="1282553"/>
              <a:ext cx="954405" cy="277495"/>
            </a:xfrm>
            <a:custGeom>
              <a:rect b="b" l="l" r="r" t="t"/>
              <a:pathLst>
                <a:path extrusionOk="0" h="277494" w="954405">
                  <a:moveTo>
                    <a:pt x="954106" y="0"/>
                  </a:moveTo>
                  <a:lnTo>
                    <a:pt x="0" y="0"/>
                  </a:lnTo>
                  <a:lnTo>
                    <a:pt x="0" y="276998"/>
                  </a:lnTo>
                  <a:lnTo>
                    <a:pt x="954106" y="276998"/>
                  </a:lnTo>
                  <a:lnTo>
                    <a:pt x="95410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4" name="Google Shape;104;p5"/>
          <p:cNvSpPr/>
          <p:nvPr/>
        </p:nvSpPr>
        <p:spPr>
          <a:xfrm>
            <a:off x="7042406" y="1155218"/>
            <a:ext cx="237490" cy="228600"/>
          </a:xfrm>
          <a:custGeom>
            <a:rect b="b" l="l" r="r" t="t"/>
            <a:pathLst>
              <a:path extrusionOk="0" h="228600" w="237490">
                <a:moveTo>
                  <a:pt x="237067" y="0"/>
                </a:moveTo>
                <a:lnTo>
                  <a:pt x="0" y="0"/>
                </a:lnTo>
                <a:lnTo>
                  <a:pt x="0" y="228600"/>
                </a:lnTo>
                <a:lnTo>
                  <a:pt x="237067" y="228600"/>
                </a:lnTo>
                <a:lnTo>
                  <a:pt x="237067" y="0"/>
                </a:lnTo>
                <a:close/>
              </a:path>
            </a:pathLst>
          </a:custGeom>
          <a:solidFill>
            <a:srgbClr val="739C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5" name="Google Shape;105;p5"/>
          <p:cNvSpPr/>
          <p:nvPr/>
        </p:nvSpPr>
        <p:spPr>
          <a:xfrm>
            <a:off x="7042406" y="1484039"/>
            <a:ext cx="237490" cy="228600"/>
          </a:xfrm>
          <a:custGeom>
            <a:rect b="b" l="l" r="r" t="t"/>
            <a:pathLst>
              <a:path extrusionOk="0" h="228600" w="237490">
                <a:moveTo>
                  <a:pt x="237067" y="0"/>
                </a:moveTo>
                <a:lnTo>
                  <a:pt x="0" y="0"/>
                </a:lnTo>
                <a:lnTo>
                  <a:pt x="0" y="228600"/>
                </a:lnTo>
                <a:lnTo>
                  <a:pt x="237067" y="228600"/>
                </a:lnTo>
                <a:lnTo>
                  <a:pt x="237067" y="0"/>
                </a:lnTo>
                <a:close/>
              </a:path>
            </a:pathLst>
          </a:custGeom>
          <a:solidFill>
            <a:srgbClr val="FFA65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6" name="Google Shape;106;p5"/>
          <p:cNvSpPr txBox="1"/>
          <p:nvPr/>
        </p:nvSpPr>
        <p:spPr>
          <a:xfrm>
            <a:off x="7342713" y="1172635"/>
            <a:ext cx="1092300" cy="471900"/>
          </a:xfrm>
          <a:prstGeom prst="rect">
            <a:avLst/>
          </a:prstGeom>
          <a:noFill/>
          <a:ln>
            <a:noFill/>
          </a:ln>
        </p:spPr>
        <p:txBody>
          <a:bodyPr anchorCtr="0" anchor="t" bIns="0" lIns="0" spcFirstLastPara="1" rIns="0" wrap="square" tIns="12700">
            <a:spAutoFit/>
          </a:bodyPr>
          <a:lstStyle/>
          <a:p>
            <a:pPr indent="0" lvl="0" marL="12700" marR="5080" rtl="0" algn="l">
              <a:lnSpc>
                <a:spcPct val="148600"/>
              </a:lnSpc>
              <a:spcBef>
                <a:spcPts val="0"/>
              </a:spcBef>
              <a:spcAft>
                <a:spcPts val="0"/>
              </a:spcAft>
              <a:buNone/>
            </a:pPr>
            <a:r>
              <a:rPr lang="en-US" sz="1200">
                <a:solidFill>
                  <a:schemeClr val="dk1"/>
                </a:solidFill>
              </a:rPr>
              <a:t>Non-Defaulters</a:t>
            </a:r>
            <a:br>
              <a:rPr lang="en-US" sz="1100">
                <a:solidFill>
                  <a:schemeClr val="dk1"/>
                </a:solidFill>
              </a:rPr>
            </a:br>
            <a:r>
              <a:rPr lang="en-US" sz="1200">
                <a:solidFill>
                  <a:schemeClr val="dk1"/>
                </a:solidFill>
              </a:rPr>
              <a:t>Defaulters</a:t>
            </a:r>
            <a:endParaRPr sz="1500">
              <a:latin typeface="Microsoft JhengHei"/>
              <a:ea typeface="Microsoft JhengHei"/>
              <a:cs typeface="Microsoft JhengHei"/>
              <a:sym typeface="Microsoft JhengHei"/>
            </a:endParaRPr>
          </a:p>
        </p:txBody>
      </p:sp>
      <p:sp>
        <p:nvSpPr>
          <p:cNvPr id="107" name="Google Shape;107;p5"/>
          <p:cNvSpPr txBox="1"/>
          <p:nvPr/>
        </p:nvSpPr>
        <p:spPr>
          <a:xfrm>
            <a:off x="2212323" y="1228339"/>
            <a:ext cx="732900" cy="182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100">
                <a:solidFill>
                  <a:schemeClr val="dk1"/>
                </a:solidFill>
              </a:rPr>
              <a:t>Type of job</a:t>
            </a:r>
            <a:endParaRPr sz="1200">
              <a:latin typeface="Microsoft JhengHei"/>
              <a:ea typeface="Microsoft JhengHei"/>
              <a:cs typeface="Microsoft JhengHei"/>
              <a:sym typeface="Microsoft JhengHei"/>
            </a:endParaRPr>
          </a:p>
        </p:txBody>
      </p:sp>
      <p:sp>
        <p:nvSpPr>
          <p:cNvPr id="108" name="Google Shape;108;p5"/>
          <p:cNvSpPr txBox="1"/>
          <p:nvPr/>
        </p:nvSpPr>
        <p:spPr>
          <a:xfrm>
            <a:off x="2518568" y="6208767"/>
            <a:ext cx="3303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Microsoft JhengHei"/>
                <a:ea typeface="Microsoft JhengHei"/>
                <a:cs typeface="Microsoft JhengHei"/>
                <a:sym typeface="Microsoft JhengHei"/>
              </a:rPr>
              <a:t>Age</a:t>
            </a:r>
            <a:endParaRPr sz="1200">
              <a:latin typeface="Microsoft JhengHei"/>
              <a:ea typeface="Microsoft JhengHei"/>
              <a:cs typeface="Microsoft JhengHei"/>
              <a:sym typeface="Microsoft JhengHei"/>
            </a:endParaRPr>
          </a:p>
        </p:txBody>
      </p:sp>
      <p:sp>
        <p:nvSpPr>
          <p:cNvPr id="109" name="Google Shape;109;p5"/>
          <p:cNvSpPr/>
          <p:nvPr/>
        </p:nvSpPr>
        <p:spPr>
          <a:xfrm>
            <a:off x="6397896" y="3644343"/>
            <a:ext cx="1262379" cy="277495"/>
          </a:xfrm>
          <a:custGeom>
            <a:rect b="b" l="l" r="r" t="t"/>
            <a:pathLst>
              <a:path extrusionOk="0" h="277495" w="1262379">
                <a:moveTo>
                  <a:pt x="1261884" y="0"/>
                </a:moveTo>
                <a:lnTo>
                  <a:pt x="0" y="0"/>
                </a:lnTo>
                <a:lnTo>
                  <a:pt x="0" y="276999"/>
                </a:lnTo>
                <a:lnTo>
                  <a:pt x="1261884" y="276999"/>
                </a:lnTo>
                <a:lnTo>
                  <a:pt x="12618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0" name="Google Shape;110;p5"/>
          <p:cNvSpPr txBox="1"/>
          <p:nvPr/>
        </p:nvSpPr>
        <p:spPr>
          <a:xfrm>
            <a:off x="6476636" y="3651494"/>
            <a:ext cx="1092300" cy="182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100">
                <a:solidFill>
                  <a:schemeClr val="dk1"/>
                </a:solidFill>
              </a:rPr>
              <a:t>Credit balance</a:t>
            </a:r>
            <a:endParaRPr sz="1200">
              <a:latin typeface="Microsoft JhengHei"/>
              <a:ea typeface="Microsoft JhengHei"/>
              <a:cs typeface="Microsoft JhengHei"/>
              <a:sym typeface="Microsoft JhengHei"/>
            </a:endParaRPr>
          </a:p>
        </p:txBody>
      </p:sp>
      <p:sp>
        <p:nvSpPr>
          <p:cNvPr id="111" name="Google Shape;111;p5"/>
          <p:cNvSpPr txBox="1"/>
          <p:nvPr/>
        </p:nvSpPr>
        <p:spPr>
          <a:xfrm>
            <a:off x="1172699" y="1875515"/>
            <a:ext cx="3146100" cy="3768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100">
                <a:solidFill>
                  <a:schemeClr val="dk1"/>
                </a:solidFill>
              </a:rPr>
              <a:t>There are many NULL (unknown) entries; next most common is “Labor.”</a:t>
            </a:r>
            <a:endParaRPr>
              <a:latin typeface="Calibri"/>
              <a:ea typeface="Calibri"/>
              <a:cs typeface="Calibri"/>
              <a:sym typeface="Calibri"/>
            </a:endParaRPr>
          </a:p>
        </p:txBody>
      </p:sp>
      <p:sp>
        <p:nvSpPr>
          <p:cNvPr id="112" name="Google Shape;112;p5"/>
          <p:cNvSpPr txBox="1"/>
          <p:nvPr/>
        </p:nvSpPr>
        <p:spPr>
          <a:xfrm>
            <a:off x="6139778" y="2342426"/>
            <a:ext cx="2336700" cy="568500"/>
          </a:xfrm>
          <a:prstGeom prst="rect">
            <a:avLst/>
          </a:prstGeom>
          <a:noFill/>
          <a:ln>
            <a:noFill/>
          </a:ln>
        </p:spPr>
        <p:txBody>
          <a:bodyPr anchorCtr="0" anchor="t" bIns="0" lIns="0" spcFirstLastPara="1" rIns="0" wrap="square" tIns="9525">
            <a:spAutoFit/>
          </a:bodyPr>
          <a:lstStyle/>
          <a:p>
            <a:pPr indent="0" lvl="0" marL="0" rtl="0" algn="l">
              <a:lnSpc>
                <a:spcPct val="115000"/>
              </a:lnSpc>
              <a:spcBef>
                <a:spcPts val="1200"/>
              </a:spcBef>
              <a:spcAft>
                <a:spcPts val="1200"/>
              </a:spcAft>
              <a:buNone/>
            </a:pPr>
            <a:r>
              <a:rPr lang="en-US" sz="1100">
                <a:solidFill>
                  <a:schemeClr val="dk1"/>
                </a:solidFill>
              </a:rPr>
              <a:t>No difference in credit balance is observed between non-defaulters and defaulters.</a:t>
            </a:r>
            <a:endParaRPr>
              <a:latin typeface="Microsoft JhengHei"/>
              <a:ea typeface="Microsoft JhengHei"/>
              <a:cs typeface="Microsoft JhengHei"/>
              <a:sym typeface="Microsoft JhengHei"/>
            </a:endParaRPr>
          </a:p>
        </p:txBody>
      </p:sp>
      <p:sp>
        <p:nvSpPr>
          <p:cNvPr id="113" name="Google Shape;113;p5"/>
          <p:cNvSpPr txBox="1"/>
          <p:nvPr/>
        </p:nvSpPr>
        <p:spPr>
          <a:xfrm>
            <a:off x="1075405" y="6403321"/>
            <a:ext cx="3232200" cy="410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200">
                <a:solidFill>
                  <a:schemeClr val="dk1"/>
                </a:solidFill>
              </a:rPr>
              <a:t>There is a wide range of customers from their 20s to their 60s.</a:t>
            </a:r>
            <a:endParaRPr sz="1200">
              <a:latin typeface="Calibri"/>
              <a:ea typeface="Calibri"/>
              <a:cs typeface="Calibri"/>
              <a:sym typeface="Calibri"/>
            </a:endParaRPr>
          </a:p>
        </p:txBody>
      </p:sp>
      <p:sp>
        <p:nvSpPr>
          <p:cNvPr id="114" name="Google Shape;114;p5"/>
          <p:cNvSpPr/>
          <p:nvPr/>
        </p:nvSpPr>
        <p:spPr>
          <a:xfrm>
            <a:off x="5257800" y="4236657"/>
            <a:ext cx="3104515" cy="1016000"/>
          </a:xfrm>
          <a:custGeom>
            <a:rect b="b" l="l" r="r" t="t"/>
            <a:pathLst>
              <a:path extrusionOk="0" h="1016000" w="3104515">
                <a:moveTo>
                  <a:pt x="2934685" y="0"/>
                </a:moveTo>
                <a:lnTo>
                  <a:pt x="169336" y="0"/>
                </a:lnTo>
                <a:lnTo>
                  <a:pt x="124320" y="6048"/>
                </a:lnTo>
                <a:lnTo>
                  <a:pt x="83868" y="23119"/>
                </a:lnTo>
                <a:lnTo>
                  <a:pt x="49597" y="49597"/>
                </a:lnTo>
                <a:lnTo>
                  <a:pt x="23119" y="83868"/>
                </a:lnTo>
                <a:lnTo>
                  <a:pt x="6048" y="124320"/>
                </a:lnTo>
                <a:lnTo>
                  <a:pt x="0" y="169336"/>
                </a:lnTo>
                <a:lnTo>
                  <a:pt x="0" y="846663"/>
                </a:lnTo>
                <a:lnTo>
                  <a:pt x="6048" y="891679"/>
                </a:lnTo>
                <a:lnTo>
                  <a:pt x="23119" y="932130"/>
                </a:lnTo>
                <a:lnTo>
                  <a:pt x="49597" y="966402"/>
                </a:lnTo>
                <a:lnTo>
                  <a:pt x="83868" y="992880"/>
                </a:lnTo>
                <a:lnTo>
                  <a:pt x="124320" y="1009951"/>
                </a:lnTo>
                <a:lnTo>
                  <a:pt x="169336" y="1016000"/>
                </a:lnTo>
                <a:lnTo>
                  <a:pt x="2934685" y="1016000"/>
                </a:lnTo>
                <a:lnTo>
                  <a:pt x="2979701" y="1009951"/>
                </a:lnTo>
                <a:lnTo>
                  <a:pt x="3020152" y="992880"/>
                </a:lnTo>
                <a:lnTo>
                  <a:pt x="3054424" y="966402"/>
                </a:lnTo>
                <a:lnTo>
                  <a:pt x="3080902" y="932130"/>
                </a:lnTo>
                <a:lnTo>
                  <a:pt x="3097973" y="891679"/>
                </a:lnTo>
                <a:lnTo>
                  <a:pt x="3104022" y="846663"/>
                </a:lnTo>
                <a:lnTo>
                  <a:pt x="3104022" y="169336"/>
                </a:lnTo>
                <a:lnTo>
                  <a:pt x="3097973" y="124320"/>
                </a:lnTo>
                <a:lnTo>
                  <a:pt x="3080902" y="83868"/>
                </a:lnTo>
                <a:lnTo>
                  <a:pt x="3054424" y="49597"/>
                </a:lnTo>
                <a:lnTo>
                  <a:pt x="3020152" y="23119"/>
                </a:lnTo>
                <a:lnTo>
                  <a:pt x="2979701" y="6048"/>
                </a:lnTo>
                <a:lnTo>
                  <a:pt x="2934685"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5"/>
          <p:cNvSpPr txBox="1"/>
          <p:nvPr/>
        </p:nvSpPr>
        <p:spPr>
          <a:xfrm>
            <a:off x="5297527" y="4377614"/>
            <a:ext cx="2917800" cy="734100"/>
          </a:xfrm>
          <a:prstGeom prst="rect">
            <a:avLst/>
          </a:prstGeom>
          <a:noFill/>
          <a:ln>
            <a:noFill/>
          </a:ln>
        </p:spPr>
        <p:txBody>
          <a:bodyPr anchorCtr="0" anchor="t" bIns="0" lIns="0" spcFirstLastPara="1" rIns="0" wrap="square" tIns="22850">
            <a:spAutoFit/>
          </a:bodyPr>
          <a:lstStyle/>
          <a:p>
            <a:pPr indent="0" lvl="0" marL="457200" rtl="0" algn="l">
              <a:lnSpc>
                <a:spcPct val="115000"/>
              </a:lnSpc>
              <a:spcBef>
                <a:spcPts val="1200"/>
              </a:spcBef>
              <a:spcAft>
                <a:spcPts val="1200"/>
              </a:spcAft>
              <a:buNone/>
            </a:pPr>
            <a:r>
              <a:rPr lang="en-US">
                <a:solidFill>
                  <a:schemeClr val="dk1"/>
                </a:solidFill>
              </a:rPr>
              <a:t>It is difficult to distinguish non-defaulters from defaulters using individual features alone.</a:t>
            </a:r>
            <a:endParaRPr>
              <a:latin typeface="Microsoft JhengHei"/>
              <a:ea typeface="Microsoft JhengHei"/>
              <a:cs typeface="Microsoft JhengHei"/>
              <a:sym typeface="Microsoft JhengHei"/>
            </a:endParaRPr>
          </a:p>
        </p:txBody>
      </p:sp>
      <p:sp>
        <p:nvSpPr>
          <p:cNvPr id="116" name="Google Shape;116;p5"/>
          <p:cNvSpPr/>
          <p:nvPr/>
        </p:nvSpPr>
        <p:spPr>
          <a:xfrm>
            <a:off x="5383908" y="5356948"/>
            <a:ext cx="2852420" cy="466089"/>
          </a:xfrm>
          <a:custGeom>
            <a:rect b="b" l="l" r="r" t="t"/>
            <a:pathLst>
              <a:path extrusionOk="0" h="466089" w="2852420">
                <a:moveTo>
                  <a:pt x="2851804" y="0"/>
                </a:moveTo>
                <a:lnTo>
                  <a:pt x="0" y="0"/>
                </a:lnTo>
                <a:lnTo>
                  <a:pt x="1425902" y="465667"/>
                </a:lnTo>
                <a:lnTo>
                  <a:pt x="2851804" y="0"/>
                </a:lnTo>
                <a:close/>
              </a:path>
            </a:pathLst>
          </a:custGeom>
          <a:solidFill>
            <a:srgbClr val="A5A5A5">
              <a:alpha val="2352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7" name="Google Shape;117;p5"/>
          <p:cNvSpPr txBox="1"/>
          <p:nvPr/>
        </p:nvSpPr>
        <p:spPr>
          <a:xfrm>
            <a:off x="5252850" y="5919214"/>
            <a:ext cx="2852400" cy="403500"/>
          </a:xfrm>
          <a:prstGeom prst="rect">
            <a:avLst/>
          </a:prstGeom>
          <a:noFill/>
          <a:ln>
            <a:noFill/>
          </a:ln>
        </p:spPr>
        <p:txBody>
          <a:bodyPr anchorCtr="0" anchor="t" bIns="0" lIns="0" spcFirstLastPara="1" rIns="0" wrap="square" tIns="6350">
            <a:spAutoFit/>
          </a:bodyPr>
          <a:lstStyle/>
          <a:p>
            <a:pPr indent="0" lvl="0" marL="457200" rtl="0" algn="ctr">
              <a:lnSpc>
                <a:spcPct val="115000"/>
              </a:lnSpc>
              <a:spcBef>
                <a:spcPts val="1200"/>
              </a:spcBef>
              <a:spcAft>
                <a:spcPts val="1200"/>
              </a:spcAft>
              <a:buNone/>
            </a:pPr>
            <a:r>
              <a:rPr lang="en-US" sz="1200">
                <a:solidFill>
                  <a:schemeClr val="dk1"/>
                </a:solidFill>
              </a:rPr>
              <a:t>Advanced analysis using machine learning methods is necessary.</a:t>
            </a:r>
            <a:endParaRPr sz="1200">
              <a:latin typeface="Microsoft JhengHei"/>
              <a:ea typeface="Microsoft JhengHei"/>
              <a:cs typeface="Microsoft JhengHei"/>
              <a:sym typeface="Microsoft JhengHe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342478" y="131458"/>
            <a:ext cx="7584300" cy="1164600"/>
          </a:xfrm>
          <a:prstGeom prst="rect">
            <a:avLst/>
          </a:prstGeom>
          <a:noFill/>
          <a:ln>
            <a:noFill/>
          </a:ln>
        </p:spPr>
        <p:txBody>
          <a:bodyPr anchorCtr="0" anchor="t" bIns="0" lIns="0" spcFirstLastPara="1" rIns="0" wrap="square" tIns="117475">
            <a:spAutoFit/>
          </a:bodyPr>
          <a:lstStyle/>
          <a:p>
            <a:pPr indent="0" lvl="0" marL="12700" rtl="0" algn="l">
              <a:lnSpc>
                <a:spcPct val="100000"/>
              </a:lnSpc>
              <a:spcBef>
                <a:spcPts val="0"/>
              </a:spcBef>
              <a:spcAft>
                <a:spcPts val="0"/>
              </a:spcAft>
              <a:buNone/>
            </a:pPr>
            <a:r>
              <a:rPr lang="en-US" sz="3000">
                <a:latin typeface="Arial"/>
                <a:ea typeface="Arial"/>
                <a:cs typeface="Arial"/>
                <a:sym typeface="Arial"/>
              </a:rPr>
              <a:t> Overview of the Machine Learning </a:t>
            </a:r>
            <a:r>
              <a:rPr lang="en-US" sz="3000">
                <a:latin typeface="Arial"/>
                <a:ea typeface="Arial"/>
                <a:cs typeface="Arial"/>
                <a:sym typeface="Arial"/>
                <a:extLst>
                  <a:ext uri="http://customooxmlschemas.google.com/">
                    <go:slidesCustomData xmlns:go="http://customooxmlschemas.google.com/" textRoundtripDataId="10"/>
                  </a:ext>
                </a:extLst>
              </a:rPr>
              <a:t>Model</a:t>
            </a:r>
            <a:endParaRPr sz="3000">
              <a:latin typeface="Arial"/>
              <a:ea typeface="Arial"/>
              <a:cs typeface="Arial"/>
              <a:sym typeface="Arial"/>
            </a:endParaRPr>
          </a:p>
          <a:p>
            <a:pPr indent="0" lvl="0" marL="457200" rtl="0" algn="l">
              <a:lnSpc>
                <a:spcPct val="115000"/>
              </a:lnSpc>
              <a:spcBef>
                <a:spcPts val="1200"/>
              </a:spcBef>
              <a:spcAft>
                <a:spcPts val="1200"/>
              </a:spcAft>
              <a:buNone/>
            </a:pPr>
            <a:r>
              <a:rPr lang="en-US" sz="1300" u="none">
                <a:latin typeface="Arial"/>
                <a:ea typeface="Arial"/>
                <a:cs typeface="Arial"/>
                <a:sym typeface="Arial"/>
              </a:rPr>
              <a:t>From customer information such as gender, occupation, family information, and credit card usage amounts,</a:t>
            </a:r>
            <a:r>
              <a:rPr lang="en-US" sz="1300" u="none">
                <a:latin typeface="Arial"/>
                <a:ea typeface="Arial"/>
                <a:cs typeface="Arial"/>
                <a:sym typeface="Arial"/>
                <a:extLst>
                  <a:ext uri="http://customooxmlschemas.google.com/">
                    <go:slidesCustomData xmlns:go="http://customooxmlschemas.google.com/" textRoundtripDataId="11"/>
                  </a:ext>
                </a:extLst>
              </a:rPr>
              <a:t> </a:t>
            </a:r>
            <a:r>
              <a:rPr lang="en-US" sz="1300" u="none">
                <a:latin typeface="Arial"/>
                <a:ea typeface="Arial"/>
                <a:cs typeface="Arial"/>
                <a:sym typeface="Arial"/>
              </a:rPr>
              <a:t>the proposed model predicts the probability of default</a:t>
            </a:r>
            <a:r>
              <a:rPr lang="en-US" sz="1300" u="none">
                <a:latin typeface="Arial"/>
                <a:ea typeface="Arial"/>
                <a:cs typeface="Arial"/>
                <a:sym typeface="Arial"/>
              </a:rPr>
              <a:t>.</a:t>
            </a:r>
            <a:endParaRPr sz="1300">
              <a:latin typeface="Arial"/>
              <a:ea typeface="Arial"/>
              <a:cs typeface="Arial"/>
              <a:sym typeface="Arial"/>
            </a:endParaRPr>
          </a:p>
        </p:txBody>
      </p:sp>
      <p:sp>
        <p:nvSpPr>
          <p:cNvPr id="123" name="Google Shape;123;p6"/>
          <p:cNvSpPr/>
          <p:nvPr/>
        </p:nvSpPr>
        <p:spPr>
          <a:xfrm>
            <a:off x="4164225" y="5585226"/>
            <a:ext cx="2700798" cy="289457"/>
          </a:xfrm>
          <a:custGeom>
            <a:rect b="b" l="l" r="r" t="t"/>
            <a:pathLst>
              <a:path extrusionOk="0" h="284479" w="1771015">
                <a:moveTo>
                  <a:pt x="174240" y="0"/>
                </a:moveTo>
                <a:lnTo>
                  <a:pt x="142986" y="0"/>
                </a:lnTo>
                <a:lnTo>
                  <a:pt x="75232" y="253937"/>
                </a:lnTo>
                <a:lnTo>
                  <a:pt x="36611" y="167766"/>
                </a:lnTo>
                <a:lnTo>
                  <a:pt x="0" y="184509"/>
                </a:lnTo>
                <a:lnTo>
                  <a:pt x="3459" y="192881"/>
                </a:lnTo>
                <a:lnTo>
                  <a:pt x="22324" y="184509"/>
                </a:lnTo>
                <a:lnTo>
                  <a:pt x="68535" y="283852"/>
                </a:lnTo>
                <a:lnTo>
                  <a:pt x="79362" y="283852"/>
                </a:lnTo>
                <a:lnTo>
                  <a:pt x="151916" y="14845"/>
                </a:lnTo>
                <a:lnTo>
                  <a:pt x="170718" y="14845"/>
                </a:lnTo>
                <a:lnTo>
                  <a:pt x="170718" y="16266"/>
                </a:lnTo>
                <a:lnTo>
                  <a:pt x="1770918" y="16266"/>
                </a:lnTo>
                <a:lnTo>
                  <a:pt x="1770918" y="3566"/>
                </a:lnTo>
                <a:lnTo>
                  <a:pt x="174240" y="3566"/>
                </a:lnTo>
                <a:lnTo>
                  <a:pt x="174240"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24" name="Google Shape;124;p6"/>
          <p:cNvGrpSpPr/>
          <p:nvPr/>
        </p:nvGrpSpPr>
        <p:grpSpPr>
          <a:xfrm>
            <a:off x="1764254" y="5447029"/>
            <a:ext cx="1543685" cy="478790"/>
            <a:chOff x="2467579" y="5473341"/>
            <a:chExt cx="1543685" cy="478790"/>
          </a:xfrm>
        </p:grpSpPr>
        <p:sp>
          <p:nvSpPr>
            <p:cNvPr id="125" name="Google Shape;125;p6"/>
            <p:cNvSpPr/>
            <p:nvPr/>
          </p:nvSpPr>
          <p:spPr>
            <a:xfrm>
              <a:off x="2467579" y="5473341"/>
              <a:ext cx="1543685" cy="478790"/>
            </a:xfrm>
            <a:custGeom>
              <a:rect b="b" l="l" r="r" t="t"/>
              <a:pathLst>
                <a:path extrusionOk="0" h="478789" w="1543685">
                  <a:moveTo>
                    <a:pt x="1463498" y="0"/>
                  </a:moveTo>
                  <a:lnTo>
                    <a:pt x="79728" y="0"/>
                  </a:lnTo>
                  <a:lnTo>
                    <a:pt x="48693" y="6265"/>
                  </a:lnTo>
                  <a:lnTo>
                    <a:pt x="23351" y="23351"/>
                  </a:lnTo>
                  <a:lnTo>
                    <a:pt x="6265" y="48694"/>
                  </a:lnTo>
                  <a:lnTo>
                    <a:pt x="0" y="79728"/>
                  </a:lnTo>
                  <a:lnTo>
                    <a:pt x="0" y="398630"/>
                  </a:lnTo>
                  <a:lnTo>
                    <a:pt x="6265" y="429664"/>
                  </a:lnTo>
                  <a:lnTo>
                    <a:pt x="23351" y="455006"/>
                  </a:lnTo>
                  <a:lnTo>
                    <a:pt x="48693" y="472093"/>
                  </a:lnTo>
                  <a:lnTo>
                    <a:pt x="79728" y="478358"/>
                  </a:lnTo>
                  <a:lnTo>
                    <a:pt x="1463498" y="478358"/>
                  </a:lnTo>
                  <a:lnTo>
                    <a:pt x="1494532" y="472093"/>
                  </a:lnTo>
                  <a:lnTo>
                    <a:pt x="1519874" y="455006"/>
                  </a:lnTo>
                  <a:lnTo>
                    <a:pt x="1536961" y="429664"/>
                  </a:lnTo>
                  <a:lnTo>
                    <a:pt x="1543226" y="398630"/>
                  </a:lnTo>
                  <a:lnTo>
                    <a:pt x="1543226" y="79728"/>
                  </a:lnTo>
                  <a:lnTo>
                    <a:pt x="1536961" y="48694"/>
                  </a:lnTo>
                  <a:lnTo>
                    <a:pt x="1519874" y="23351"/>
                  </a:lnTo>
                  <a:lnTo>
                    <a:pt x="1494532" y="6265"/>
                  </a:lnTo>
                  <a:lnTo>
                    <a:pt x="1463498" y="0"/>
                  </a:lnTo>
                  <a:close/>
                </a:path>
              </a:pathLst>
            </a:custGeom>
            <a:solidFill>
              <a:srgbClr val="4472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b="1"/>
            </a:p>
          </p:txBody>
        </p:sp>
        <p:sp>
          <p:nvSpPr>
            <p:cNvPr id="126" name="Google Shape;126;p6"/>
            <p:cNvSpPr/>
            <p:nvPr/>
          </p:nvSpPr>
          <p:spPr>
            <a:xfrm>
              <a:off x="2467579" y="5473341"/>
              <a:ext cx="1543685" cy="478790"/>
            </a:xfrm>
            <a:custGeom>
              <a:rect b="b" l="l" r="r" t="t"/>
              <a:pathLst>
                <a:path extrusionOk="0" h="478789" w="1543685">
                  <a:moveTo>
                    <a:pt x="0" y="79728"/>
                  </a:moveTo>
                  <a:lnTo>
                    <a:pt x="6265" y="48694"/>
                  </a:lnTo>
                  <a:lnTo>
                    <a:pt x="23351" y="23351"/>
                  </a:lnTo>
                  <a:lnTo>
                    <a:pt x="48694" y="6265"/>
                  </a:lnTo>
                  <a:lnTo>
                    <a:pt x="79728" y="0"/>
                  </a:lnTo>
                  <a:lnTo>
                    <a:pt x="1463499" y="0"/>
                  </a:lnTo>
                  <a:lnTo>
                    <a:pt x="1494532" y="6265"/>
                  </a:lnTo>
                  <a:lnTo>
                    <a:pt x="1519875" y="23351"/>
                  </a:lnTo>
                  <a:lnTo>
                    <a:pt x="1536961" y="48694"/>
                  </a:lnTo>
                  <a:lnTo>
                    <a:pt x="1543227" y="79728"/>
                  </a:lnTo>
                  <a:lnTo>
                    <a:pt x="1543227" y="398630"/>
                  </a:lnTo>
                  <a:lnTo>
                    <a:pt x="1536961" y="429664"/>
                  </a:lnTo>
                  <a:lnTo>
                    <a:pt x="1519875" y="455007"/>
                  </a:lnTo>
                  <a:lnTo>
                    <a:pt x="1494532" y="472093"/>
                  </a:lnTo>
                  <a:lnTo>
                    <a:pt x="1463499" y="478359"/>
                  </a:lnTo>
                  <a:lnTo>
                    <a:pt x="79728" y="478359"/>
                  </a:lnTo>
                  <a:lnTo>
                    <a:pt x="48694" y="472093"/>
                  </a:lnTo>
                  <a:lnTo>
                    <a:pt x="23351" y="455007"/>
                  </a:lnTo>
                  <a:lnTo>
                    <a:pt x="6265" y="429664"/>
                  </a:lnTo>
                  <a:lnTo>
                    <a:pt x="0" y="398630"/>
                  </a:lnTo>
                  <a:lnTo>
                    <a:pt x="0" y="79728"/>
                  </a:lnTo>
                  <a:close/>
                </a:path>
              </a:pathLst>
            </a:cu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US">
                  <a:solidFill>
                    <a:schemeClr val="lt1"/>
                  </a:solidFill>
                </a:rPr>
                <a:t>Credit Score</a:t>
              </a:r>
              <a:endParaRPr b="1">
                <a:solidFill>
                  <a:schemeClr val="lt1"/>
                </a:solidFill>
              </a:endParaRPr>
            </a:p>
          </p:txBody>
        </p:sp>
      </p:grpSp>
      <p:sp>
        <p:nvSpPr>
          <p:cNvPr id="127" name="Google Shape;127;p6"/>
          <p:cNvSpPr txBox="1"/>
          <p:nvPr/>
        </p:nvSpPr>
        <p:spPr>
          <a:xfrm>
            <a:off x="880225" y="4702086"/>
            <a:ext cx="6245700" cy="274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t>Defined as a credit score that is easy for humans to </a:t>
            </a:r>
            <a:r>
              <a:rPr lang="en-US" sz="1700"/>
              <a:t>interpret</a:t>
            </a:r>
            <a:r>
              <a:rPr lang="en-US" sz="1700"/>
              <a:t>*</a:t>
            </a:r>
            <a:endParaRPr sz="1700"/>
          </a:p>
        </p:txBody>
      </p:sp>
      <p:sp>
        <p:nvSpPr>
          <p:cNvPr id="128" name="Google Shape;128;p6"/>
          <p:cNvSpPr txBox="1"/>
          <p:nvPr/>
        </p:nvSpPr>
        <p:spPr>
          <a:xfrm>
            <a:off x="1117001" y="1834376"/>
            <a:ext cx="5415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t>Input</a:t>
            </a:r>
            <a:endParaRPr sz="1800"/>
          </a:p>
        </p:txBody>
      </p:sp>
      <p:sp>
        <p:nvSpPr>
          <p:cNvPr id="129" name="Google Shape;129;p6"/>
          <p:cNvSpPr txBox="1"/>
          <p:nvPr/>
        </p:nvSpPr>
        <p:spPr>
          <a:xfrm>
            <a:off x="7571900" y="1851650"/>
            <a:ext cx="745800" cy="274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t>Output</a:t>
            </a:r>
            <a:endParaRPr sz="1700"/>
          </a:p>
        </p:txBody>
      </p:sp>
      <p:sp>
        <p:nvSpPr>
          <p:cNvPr id="130" name="Google Shape;130;p6"/>
          <p:cNvSpPr txBox="1"/>
          <p:nvPr/>
        </p:nvSpPr>
        <p:spPr>
          <a:xfrm>
            <a:off x="7175326" y="2433825"/>
            <a:ext cx="1459500" cy="182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100">
                <a:solidFill>
                  <a:schemeClr val="dk1"/>
                </a:solidFill>
              </a:rPr>
              <a:t>Probability of Default</a:t>
            </a:r>
            <a:endParaRPr sz="1400">
              <a:latin typeface="Microsoft JhengHei"/>
              <a:ea typeface="Microsoft JhengHei"/>
              <a:cs typeface="Microsoft JhengHei"/>
              <a:sym typeface="Microsoft JhengHei"/>
            </a:endParaRPr>
          </a:p>
        </p:txBody>
      </p:sp>
      <p:sp>
        <p:nvSpPr>
          <p:cNvPr id="131" name="Google Shape;131;p6"/>
          <p:cNvSpPr txBox="1"/>
          <p:nvPr/>
        </p:nvSpPr>
        <p:spPr>
          <a:xfrm>
            <a:off x="3599850" y="1674975"/>
            <a:ext cx="2064900" cy="5670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1800"/>
              <a:t>Machine Learning Methods</a:t>
            </a:r>
            <a:endParaRPr sz="1800"/>
          </a:p>
        </p:txBody>
      </p:sp>
      <p:sp>
        <p:nvSpPr>
          <p:cNvPr id="132" name="Google Shape;132;p6"/>
          <p:cNvSpPr/>
          <p:nvPr/>
        </p:nvSpPr>
        <p:spPr>
          <a:xfrm>
            <a:off x="3744239" y="2380957"/>
            <a:ext cx="1710689" cy="1658620"/>
          </a:xfrm>
          <a:custGeom>
            <a:rect b="b" l="l" r="r" t="t"/>
            <a:pathLst>
              <a:path extrusionOk="0" h="1658620" w="1710689">
                <a:moveTo>
                  <a:pt x="1675371" y="80733"/>
                </a:moveTo>
                <a:lnTo>
                  <a:pt x="1669034" y="49301"/>
                </a:lnTo>
                <a:lnTo>
                  <a:pt x="1651723" y="23647"/>
                </a:lnTo>
                <a:lnTo>
                  <a:pt x="1626069" y="6350"/>
                </a:lnTo>
                <a:lnTo>
                  <a:pt x="1594650" y="0"/>
                </a:lnTo>
                <a:lnTo>
                  <a:pt x="80721" y="0"/>
                </a:lnTo>
                <a:lnTo>
                  <a:pt x="49301" y="6350"/>
                </a:lnTo>
                <a:lnTo>
                  <a:pt x="23634" y="23647"/>
                </a:lnTo>
                <a:lnTo>
                  <a:pt x="6337" y="49301"/>
                </a:lnTo>
                <a:lnTo>
                  <a:pt x="0" y="80733"/>
                </a:lnTo>
                <a:lnTo>
                  <a:pt x="0" y="403618"/>
                </a:lnTo>
                <a:lnTo>
                  <a:pt x="6337" y="435038"/>
                </a:lnTo>
                <a:lnTo>
                  <a:pt x="23634" y="460692"/>
                </a:lnTo>
                <a:lnTo>
                  <a:pt x="49301" y="478002"/>
                </a:lnTo>
                <a:lnTo>
                  <a:pt x="80721" y="484339"/>
                </a:lnTo>
                <a:lnTo>
                  <a:pt x="1594650" y="484339"/>
                </a:lnTo>
                <a:lnTo>
                  <a:pt x="1626069" y="478002"/>
                </a:lnTo>
                <a:lnTo>
                  <a:pt x="1651723" y="460692"/>
                </a:lnTo>
                <a:lnTo>
                  <a:pt x="1669034" y="435038"/>
                </a:lnTo>
                <a:lnTo>
                  <a:pt x="1675371" y="403618"/>
                </a:lnTo>
                <a:lnTo>
                  <a:pt x="1675371" y="80733"/>
                </a:lnTo>
                <a:close/>
              </a:path>
              <a:path extrusionOk="0" h="1658620" w="1710689">
                <a:moveTo>
                  <a:pt x="1694078" y="669366"/>
                </a:moveTo>
                <a:lnTo>
                  <a:pt x="1687728" y="637946"/>
                </a:lnTo>
                <a:lnTo>
                  <a:pt x="1670431" y="612292"/>
                </a:lnTo>
                <a:lnTo>
                  <a:pt x="1644777" y="594995"/>
                </a:lnTo>
                <a:lnTo>
                  <a:pt x="1613357" y="588645"/>
                </a:lnTo>
                <a:lnTo>
                  <a:pt x="99428" y="588645"/>
                </a:lnTo>
                <a:lnTo>
                  <a:pt x="67995" y="594995"/>
                </a:lnTo>
                <a:lnTo>
                  <a:pt x="42341" y="612292"/>
                </a:lnTo>
                <a:lnTo>
                  <a:pt x="25044" y="637946"/>
                </a:lnTo>
                <a:lnTo>
                  <a:pt x="18694" y="669366"/>
                </a:lnTo>
                <a:lnTo>
                  <a:pt x="18694" y="992263"/>
                </a:lnTo>
                <a:lnTo>
                  <a:pt x="25044" y="1023683"/>
                </a:lnTo>
                <a:lnTo>
                  <a:pt x="42341" y="1049337"/>
                </a:lnTo>
                <a:lnTo>
                  <a:pt x="67995" y="1066634"/>
                </a:lnTo>
                <a:lnTo>
                  <a:pt x="99428" y="1072984"/>
                </a:lnTo>
                <a:lnTo>
                  <a:pt x="1613357" y="1072984"/>
                </a:lnTo>
                <a:lnTo>
                  <a:pt x="1644777" y="1066634"/>
                </a:lnTo>
                <a:lnTo>
                  <a:pt x="1670431" y="1049337"/>
                </a:lnTo>
                <a:lnTo>
                  <a:pt x="1687728" y="1023683"/>
                </a:lnTo>
                <a:lnTo>
                  <a:pt x="1694078" y="992263"/>
                </a:lnTo>
                <a:lnTo>
                  <a:pt x="1694078" y="669366"/>
                </a:lnTo>
                <a:close/>
              </a:path>
              <a:path extrusionOk="0" h="1658620" w="1710689">
                <a:moveTo>
                  <a:pt x="1710182" y="1254772"/>
                </a:moveTo>
                <a:lnTo>
                  <a:pt x="1703844" y="1223352"/>
                </a:lnTo>
                <a:lnTo>
                  <a:pt x="1686534" y="1197698"/>
                </a:lnTo>
                <a:lnTo>
                  <a:pt x="1660880" y="1180401"/>
                </a:lnTo>
                <a:lnTo>
                  <a:pt x="1629460" y="1174051"/>
                </a:lnTo>
                <a:lnTo>
                  <a:pt x="115531" y="1174051"/>
                </a:lnTo>
                <a:lnTo>
                  <a:pt x="84112" y="1180401"/>
                </a:lnTo>
                <a:lnTo>
                  <a:pt x="58445" y="1197698"/>
                </a:lnTo>
                <a:lnTo>
                  <a:pt x="41148" y="1223352"/>
                </a:lnTo>
                <a:lnTo>
                  <a:pt x="34810" y="1254772"/>
                </a:lnTo>
                <a:lnTo>
                  <a:pt x="34810" y="1577670"/>
                </a:lnTo>
                <a:lnTo>
                  <a:pt x="41148" y="1609090"/>
                </a:lnTo>
                <a:lnTo>
                  <a:pt x="58445" y="1634744"/>
                </a:lnTo>
                <a:lnTo>
                  <a:pt x="84112" y="1652041"/>
                </a:lnTo>
                <a:lnTo>
                  <a:pt x="115531" y="1658391"/>
                </a:lnTo>
                <a:lnTo>
                  <a:pt x="1629460" y="1658391"/>
                </a:lnTo>
                <a:lnTo>
                  <a:pt x="1660880" y="1652041"/>
                </a:lnTo>
                <a:lnTo>
                  <a:pt x="1686534" y="1634744"/>
                </a:lnTo>
                <a:lnTo>
                  <a:pt x="1703844" y="1609090"/>
                </a:lnTo>
                <a:lnTo>
                  <a:pt x="1710182" y="1577670"/>
                </a:lnTo>
                <a:lnTo>
                  <a:pt x="1710182" y="1254772"/>
                </a:lnTo>
                <a:close/>
              </a:path>
            </a:pathLst>
          </a:custGeom>
          <a:solidFill>
            <a:srgbClr val="FBE5D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3" name="Google Shape;133;p6"/>
          <p:cNvSpPr txBox="1"/>
          <p:nvPr/>
        </p:nvSpPr>
        <p:spPr>
          <a:xfrm>
            <a:off x="3644650" y="2241975"/>
            <a:ext cx="1944300" cy="1909200"/>
          </a:xfrm>
          <a:prstGeom prst="rect">
            <a:avLst/>
          </a:prstGeom>
          <a:noFill/>
          <a:ln cap="flat" cmpd="sng" w="12700">
            <a:solidFill>
              <a:srgbClr val="AFABAB"/>
            </a:solidFill>
            <a:prstDash val="solid"/>
            <a:round/>
            <a:headEnd len="sm" w="sm" type="none"/>
            <a:tailEnd len="sm" w="sm" type="none"/>
          </a:ln>
        </p:spPr>
        <p:txBody>
          <a:bodyPr anchorCtr="0" anchor="t" bIns="0" lIns="0" spcFirstLastPara="1" rIns="0" wrap="square" tIns="244475">
            <a:spAutoFit/>
          </a:bodyPr>
          <a:lstStyle/>
          <a:p>
            <a:pPr indent="0" lvl="0" marL="501015" rtl="0" algn="l">
              <a:lnSpc>
                <a:spcPct val="100000"/>
              </a:lnSpc>
              <a:spcBef>
                <a:spcPts val="0"/>
              </a:spcBef>
              <a:spcAft>
                <a:spcPts val="0"/>
              </a:spcAft>
              <a:buNone/>
            </a:pPr>
            <a:r>
              <a:rPr lang="en-US" sz="1800">
                <a:latin typeface="Calibri"/>
                <a:ea typeface="Calibri"/>
                <a:cs typeface="Calibri"/>
                <a:sym typeface="Calibri"/>
              </a:rPr>
              <a:t>LightGBM</a:t>
            </a:r>
            <a:br>
              <a:rPr lang="en-US" sz="1800">
                <a:latin typeface="Calibri"/>
                <a:ea typeface="Calibri"/>
                <a:cs typeface="Calibri"/>
                <a:sym typeface="Calibri"/>
              </a:rPr>
            </a:br>
            <a:br>
              <a:rPr lang="en-US" sz="1800">
                <a:latin typeface="Calibri"/>
                <a:ea typeface="Calibri"/>
                <a:cs typeface="Calibri"/>
                <a:sym typeface="Calibri"/>
              </a:rPr>
            </a:br>
            <a:r>
              <a:rPr lang="en-US" sz="1800">
                <a:latin typeface="Calibri"/>
                <a:ea typeface="Calibri"/>
                <a:cs typeface="Calibri"/>
                <a:sym typeface="Calibri"/>
              </a:rPr>
              <a:t>XGBoost</a:t>
            </a:r>
            <a:br>
              <a:rPr lang="en-US" sz="1800">
                <a:latin typeface="Calibri"/>
                <a:ea typeface="Calibri"/>
                <a:cs typeface="Calibri"/>
                <a:sym typeface="Calibri"/>
              </a:rPr>
            </a:br>
            <a:br>
              <a:rPr lang="en-US" sz="1800">
                <a:latin typeface="Calibri"/>
                <a:ea typeface="Calibri"/>
                <a:cs typeface="Calibri"/>
                <a:sym typeface="Calibri"/>
              </a:rPr>
            </a:br>
            <a:r>
              <a:rPr lang="en-US" sz="1800">
                <a:latin typeface="Calibri"/>
                <a:ea typeface="Calibri"/>
                <a:cs typeface="Calibri"/>
                <a:sym typeface="Calibri"/>
              </a:rPr>
              <a:t>Neural Net</a:t>
            </a:r>
            <a:endParaRPr sz="1800">
              <a:latin typeface="Calibri"/>
              <a:ea typeface="Calibri"/>
              <a:cs typeface="Calibri"/>
              <a:sym typeface="Calibri"/>
            </a:endParaRPr>
          </a:p>
          <a:p>
            <a:pPr indent="0" lvl="0" marL="501015" rtl="0" algn="l">
              <a:lnSpc>
                <a:spcPct val="100000"/>
              </a:lnSpc>
              <a:spcBef>
                <a:spcPts val="0"/>
              </a:spcBef>
              <a:spcAft>
                <a:spcPts val="0"/>
              </a:spcAft>
              <a:buNone/>
            </a:pPr>
            <a:r>
              <a:t/>
            </a:r>
            <a:endParaRPr sz="1800">
              <a:latin typeface="Calibri"/>
              <a:ea typeface="Calibri"/>
              <a:cs typeface="Calibri"/>
              <a:sym typeface="Calibri"/>
            </a:endParaRPr>
          </a:p>
        </p:txBody>
      </p:sp>
      <p:sp>
        <p:nvSpPr>
          <p:cNvPr id="134" name="Google Shape;134;p6"/>
          <p:cNvSpPr txBox="1"/>
          <p:nvPr/>
        </p:nvSpPr>
        <p:spPr>
          <a:xfrm>
            <a:off x="577000" y="2240375"/>
            <a:ext cx="1621500" cy="1956900"/>
          </a:xfrm>
          <a:prstGeom prst="rect">
            <a:avLst/>
          </a:prstGeom>
          <a:noFill/>
          <a:ln cap="flat" cmpd="sng" w="12700">
            <a:solidFill>
              <a:srgbClr val="AFABAB"/>
            </a:solidFill>
            <a:prstDash val="solid"/>
            <a:round/>
            <a:headEnd len="sm" w="sm" type="none"/>
            <a:tailEnd len="sm" w="sm" type="none"/>
          </a:ln>
        </p:spPr>
        <p:txBody>
          <a:bodyPr anchorCtr="0" anchor="t" bIns="0" lIns="0" spcFirstLastPara="1" rIns="0" wrap="square" tIns="40000">
            <a:spAutoFit/>
          </a:bodyPr>
          <a:lstStyle/>
          <a:p>
            <a:pPr indent="0" lvl="0" marL="377190" marR="382270" rtl="0" algn="ctr">
              <a:lnSpc>
                <a:spcPct val="141400"/>
              </a:lnSpc>
              <a:spcBef>
                <a:spcPts val="0"/>
              </a:spcBef>
              <a:spcAft>
                <a:spcPts val="0"/>
              </a:spcAft>
              <a:buNone/>
            </a:pPr>
            <a:r>
              <a:rPr lang="en-US">
                <a:latin typeface="Microsoft JhengHei"/>
                <a:ea typeface="Microsoft JhengHei"/>
                <a:cs typeface="Microsoft JhengHei"/>
                <a:sym typeface="Microsoft JhengHei"/>
              </a:rPr>
              <a:t>Gender</a:t>
            </a:r>
            <a:br>
              <a:rPr lang="en-US">
                <a:latin typeface="Microsoft JhengHei"/>
                <a:ea typeface="Microsoft JhengHei"/>
                <a:cs typeface="Microsoft JhengHei"/>
                <a:sym typeface="Microsoft JhengHei"/>
              </a:rPr>
            </a:br>
            <a:r>
              <a:rPr lang="en-US">
                <a:latin typeface="Microsoft JhengHei"/>
                <a:ea typeface="Microsoft JhengHei"/>
                <a:cs typeface="Microsoft JhengHei"/>
                <a:sym typeface="Microsoft JhengHei"/>
              </a:rPr>
              <a:t>Occupation</a:t>
            </a:r>
            <a:endParaRPr sz="1400">
              <a:latin typeface="Microsoft JhengHei"/>
              <a:ea typeface="Microsoft JhengHei"/>
              <a:cs typeface="Microsoft JhengHei"/>
              <a:sym typeface="Microsoft JhengHei"/>
            </a:endParaRPr>
          </a:p>
          <a:p>
            <a:pPr indent="0" lvl="0" marL="0" rtl="0" algn="ctr">
              <a:lnSpc>
                <a:spcPct val="100000"/>
              </a:lnSpc>
              <a:spcBef>
                <a:spcPts val="935"/>
              </a:spcBef>
              <a:spcAft>
                <a:spcPts val="0"/>
              </a:spcAft>
              <a:buNone/>
            </a:pPr>
            <a:r>
              <a:rPr lang="en-US">
                <a:latin typeface="Microsoft JhengHei"/>
                <a:ea typeface="Microsoft JhengHei"/>
                <a:cs typeface="Microsoft JhengHei"/>
                <a:sym typeface="Microsoft JhengHei"/>
              </a:rPr>
              <a:t>Family info</a:t>
            </a:r>
            <a:endParaRPr sz="1400">
              <a:latin typeface="Microsoft JhengHei"/>
              <a:ea typeface="Microsoft JhengHei"/>
              <a:cs typeface="Microsoft JhengHei"/>
              <a:sym typeface="Microsoft JhengHei"/>
            </a:endParaRPr>
          </a:p>
          <a:p>
            <a:pPr indent="0" lvl="0" marL="0" marR="237490" rtl="0" algn="ctr">
              <a:lnSpc>
                <a:spcPct val="100000"/>
              </a:lnSpc>
              <a:spcBef>
                <a:spcPts val="575"/>
              </a:spcBef>
              <a:spcAft>
                <a:spcPts val="0"/>
              </a:spcAft>
              <a:buNone/>
            </a:pPr>
            <a:r>
              <a:rPr lang="en-US" sz="1400">
                <a:latin typeface="Calibri"/>
                <a:ea typeface="Calibri"/>
                <a:cs typeface="Calibri"/>
                <a:sym typeface="Calibri"/>
              </a:rPr>
              <a:t>…</a:t>
            </a:r>
            <a:endParaRPr sz="1400">
              <a:latin typeface="Calibri"/>
              <a:ea typeface="Calibri"/>
              <a:cs typeface="Calibri"/>
              <a:sym typeface="Calibri"/>
            </a:endParaRPr>
          </a:p>
          <a:p>
            <a:pPr indent="0" lvl="0" marL="0" marR="29209" rtl="0" algn="ctr">
              <a:lnSpc>
                <a:spcPct val="119285"/>
              </a:lnSpc>
              <a:spcBef>
                <a:spcPts val="1635"/>
              </a:spcBef>
              <a:spcAft>
                <a:spcPts val="0"/>
              </a:spcAft>
              <a:buNone/>
            </a:pPr>
            <a:r>
              <a:rPr lang="en-US">
                <a:latin typeface="Microsoft JhengHei"/>
                <a:ea typeface="Microsoft JhengHei"/>
                <a:cs typeface="Microsoft JhengHei"/>
                <a:sym typeface="Microsoft JhengHei"/>
              </a:rPr>
              <a:t>Account info</a:t>
            </a:r>
            <a:endParaRPr sz="1400">
              <a:latin typeface="Microsoft JhengHei"/>
              <a:ea typeface="Microsoft JhengHei"/>
              <a:cs typeface="Microsoft JhengHei"/>
              <a:sym typeface="Microsoft JhengHei"/>
            </a:endParaRPr>
          </a:p>
          <a:p>
            <a:pPr indent="0" lvl="0" marL="0" marR="237490" rtl="0" algn="ctr">
              <a:lnSpc>
                <a:spcPct val="119285"/>
              </a:lnSpc>
              <a:spcBef>
                <a:spcPts val="0"/>
              </a:spcBef>
              <a:spcAft>
                <a:spcPts val="0"/>
              </a:spcAft>
              <a:buNone/>
            </a:pPr>
            <a:r>
              <a:rPr lang="en-US" sz="1400">
                <a:latin typeface="Calibri"/>
                <a:ea typeface="Calibri"/>
                <a:cs typeface="Calibri"/>
                <a:sym typeface="Calibri"/>
              </a:rPr>
              <a:t>…</a:t>
            </a:r>
            <a:endParaRPr sz="1400">
              <a:latin typeface="Calibri"/>
              <a:ea typeface="Calibri"/>
              <a:cs typeface="Calibri"/>
              <a:sym typeface="Calibri"/>
            </a:endParaRPr>
          </a:p>
        </p:txBody>
      </p:sp>
      <p:sp>
        <p:nvSpPr>
          <p:cNvPr id="135" name="Google Shape;135;p6"/>
          <p:cNvSpPr/>
          <p:nvPr/>
        </p:nvSpPr>
        <p:spPr>
          <a:xfrm>
            <a:off x="2416292" y="2852449"/>
            <a:ext cx="827405" cy="715645"/>
          </a:xfrm>
          <a:custGeom>
            <a:rect b="b" l="l" r="r" t="t"/>
            <a:pathLst>
              <a:path extrusionOk="0" h="715645" w="827405">
                <a:moveTo>
                  <a:pt x="469221" y="0"/>
                </a:moveTo>
                <a:lnTo>
                  <a:pt x="469221" y="178904"/>
                </a:lnTo>
                <a:lnTo>
                  <a:pt x="0" y="178904"/>
                </a:lnTo>
                <a:lnTo>
                  <a:pt x="0" y="536713"/>
                </a:lnTo>
                <a:lnTo>
                  <a:pt x="469221" y="536713"/>
                </a:lnTo>
                <a:lnTo>
                  <a:pt x="469221" y="715618"/>
                </a:lnTo>
                <a:lnTo>
                  <a:pt x="827031" y="357809"/>
                </a:lnTo>
                <a:lnTo>
                  <a:pt x="469221" y="0"/>
                </a:lnTo>
                <a:close/>
              </a:path>
            </a:pathLst>
          </a:custGeom>
          <a:solidFill>
            <a:srgbClr val="AFABAB">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 name="Google Shape;136;p6"/>
          <p:cNvSpPr txBox="1"/>
          <p:nvPr/>
        </p:nvSpPr>
        <p:spPr>
          <a:xfrm>
            <a:off x="2286625" y="2279551"/>
            <a:ext cx="1269900" cy="568500"/>
          </a:xfrm>
          <a:prstGeom prst="rect">
            <a:avLst/>
          </a:prstGeom>
          <a:noFill/>
          <a:ln>
            <a:noFill/>
          </a:ln>
        </p:spPr>
        <p:txBody>
          <a:bodyPr anchorCtr="0" anchor="t" bIns="0" lIns="0" spcFirstLastPara="1" rIns="0" wrap="square" tIns="9525">
            <a:spAutoFit/>
          </a:bodyPr>
          <a:lstStyle/>
          <a:p>
            <a:pPr indent="0" lvl="0" marL="0" rtl="0" algn="l">
              <a:lnSpc>
                <a:spcPct val="115000"/>
              </a:lnSpc>
              <a:spcBef>
                <a:spcPts val="1200"/>
              </a:spcBef>
              <a:spcAft>
                <a:spcPts val="1200"/>
              </a:spcAft>
              <a:buNone/>
            </a:pPr>
            <a:r>
              <a:rPr lang="en-US" sz="1100">
                <a:solidFill>
                  <a:schemeClr val="dk1"/>
                </a:solidFill>
              </a:rPr>
              <a:t>Input data into machine learning methods</a:t>
            </a:r>
            <a:endParaRPr sz="1400"/>
          </a:p>
        </p:txBody>
      </p:sp>
      <p:sp>
        <p:nvSpPr>
          <p:cNvPr id="137" name="Google Shape;137;p6"/>
          <p:cNvSpPr/>
          <p:nvPr/>
        </p:nvSpPr>
        <p:spPr>
          <a:xfrm>
            <a:off x="355275" y="1560196"/>
            <a:ext cx="8488626" cy="2888285"/>
          </a:xfrm>
          <a:custGeom>
            <a:rect b="b" l="l" r="r" t="t"/>
            <a:pathLst>
              <a:path extrusionOk="0" h="2804160" w="8342630">
                <a:moveTo>
                  <a:pt x="0" y="467333"/>
                </a:moveTo>
                <a:lnTo>
                  <a:pt x="2412" y="419550"/>
                </a:lnTo>
                <a:lnTo>
                  <a:pt x="9494" y="373149"/>
                </a:lnTo>
                <a:lnTo>
                  <a:pt x="21010" y="328362"/>
                </a:lnTo>
                <a:lnTo>
                  <a:pt x="36725" y="285425"/>
                </a:lnTo>
                <a:lnTo>
                  <a:pt x="56404" y="244574"/>
                </a:lnTo>
                <a:lnTo>
                  <a:pt x="79812" y="206042"/>
                </a:lnTo>
                <a:lnTo>
                  <a:pt x="106715" y="170065"/>
                </a:lnTo>
                <a:lnTo>
                  <a:pt x="136878" y="136878"/>
                </a:lnTo>
                <a:lnTo>
                  <a:pt x="170065" y="106716"/>
                </a:lnTo>
                <a:lnTo>
                  <a:pt x="206042" y="79813"/>
                </a:lnTo>
                <a:lnTo>
                  <a:pt x="244573" y="56404"/>
                </a:lnTo>
                <a:lnTo>
                  <a:pt x="285425" y="36725"/>
                </a:lnTo>
                <a:lnTo>
                  <a:pt x="328361" y="21010"/>
                </a:lnTo>
                <a:lnTo>
                  <a:pt x="373148" y="9494"/>
                </a:lnTo>
                <a:lnTo>
                  <a:pt x="419549" y="2412"/>
                </a:lnTo>
                <a:lnTo>
                  <a:pt x="467331" y="0"/>
                </a:lnTo>
                <a:lnTo>
                  <a:pt x="7874849" y="0"/>
                </a:lnTo>
                <a:lnTo>
                  <a:pt x="7922631" y="2412"/>
                </a:lnTo>
                <a:lnTo>
                  <a:pt x="7969032" y="9494"/>
                </a:lnTo>
                <a:lnTo>
                  <a:pt x="8013819" y="21010"/>
                </a:lnTo>
                <a:lnTo>
                  <a:pt x="8056755" y="36725"/>
                </a:lnTo>
                <a:lnTo>
                  <a:pt x="8097606" y="56404"/>
                </a:lnTo>
                <a:lnTo>
                  <a:pt x="8136138" y="79813"/>
                </a:lnTo>
                <a:lnTo>
                  <a:pt x="8172115" y="106716"/>
                </a:lnTo>
                <a:lnTo>
                  <a:pt x="8205302" y="136878"/>
                </a:lnTo>
                <a:lnTo>
                  <a:pt x="8235464" y="170065"/>
                </a:lnTo>
                <a:lnTo>
                  <a:pt x="8262367" y="206042"/>
                </a:lnTo>
                <a:lnTo>
                  <a:pt x="8285775" y="244574"/>
                </a:lnTo>
                <a:lnTo>
                  <a:pt x="8305454" y="285425"/>
                </a:lnTo>
                <a:lnTo>
                  <a:pt x="8321169" y="328362"/>
                </a:lnTo>
                <a:lnTo>
                  <a:pt x="8332685" y="373149"/>
                </a:lnTo>
                <a:lnTo>
                  <a:pt x="8339767" y="419550"/>
                </a:lnTo>
                <a:lnTo>
                  <a:pt x="8342180" y="467333"/>
                </a:lnTo>
                <a:lnTo>
                  <a:pt x="8342180" y="2336592"/>
                </a:lnTo>
                <a:lnTo>
                  <a:pt x="8339767" y="2384374"/>
                </a:lnTo>
                <a:lnTo>
                  <a:pt x="8332685" y="2430775"/>
                </a:lnTo>
                <a:lnTo>
                  <a:pt x="8321169" y="2475562"/>
                </a:lnTo>
                <a:lnTo>
                  <a:pt x="8305454" y="2518499"/>
                </a:lnTo>
                <a:lnTo>
                  <a:pt x="8285775" y="2559350"/>
                </a:lnTo>
                <a:lnTo>
                  <a:pt x="8262367" y="2597882"/>
                </a:lnTo>
                <a:lnTo>
                  <a:pt x="8235464" y="2633859"/>
                </a:lnTo>
                <a:lnTo>
                  <a:pt x="8205302" y="2667046"/>
                </a:lnTo>
                <a:lnTo>
                  <a:pt x="8172115" y="2697208"/>
                </a:lnTo>
                <a:lnTo>
                  <a:pt x="8136138" y="2724111"/>
                </a:lnTo>
                <a:lnTo>
                  <a:pt x="8097606" y="2747520"/>
                </a:lnTo>
                <a:lnTo>
                  <a:pt x="8056755" y="2767199"/>
                </a:lnTo>
                <a:lnTo>
                  <a:pt x="8013819" y="2782914"/>
                </a:lnTo>
                <a:lnTo>
                  <a:pt x="7969032" y="2794430"/>
                </a:lnTo>
                <a:lnTo>
                  <a:pt x="7922631" y="2801512"/>
                </a:lnTo>
                <a:lnTo>
                  <a:pt x="7874849" y="2803925"/>
                </a:lnTo>
                <a:lnTo>
                  <a:pt x="467331" y="2803925"/>
                </a:lnTo>
                <a:lnTo>
                  <a:pt x="419549" y="2801512"/>
                </a:lnTo>
                <a:lnTo>
                  <a:pt x="373148" y="2794430"/>
                </a:lnTo>
                <a:lnTo>
                  <a:pt x="328361" y="2782914"/>
                </a:lnTo>
                <a:lnTo>
                  <a:pt x="285425" y="2767199"/>
                </a:lnTo>
                <a:lnTo>
                  <a:pt x="244573" y="2747520"/>
                </a:lnTo>
                <a:lnTo>
                  <a:pt x="206042" y="2724111"/>
                </a:lnTo>
                <a:lnTo>
                  <a:pt x="170065" y="2697208"/>
                </a:lnTo>
                <a:lnTo>
                  <a:pt x="136878" y="2667046"/>
                </a:lnTo>
                <a:lnTo>
                  <a:pt x="106715" y="2633859"/>
                </a:lnTo>
                <a:lnTo>
                  <a:pt x="79812" y="2597882"/>
                </a:lnTo>
                <a:lnTo>
                  <a:pt x="56404" y="2559350"/>
                </a:lnTo>
                <a:lnTo>
                  <a:pt x="36725" y="2518499"/>
                </a:lnTo>
                <a:lnTo>
                  <a:pt x="21010" y="2475562"/>
                </a:lnTo>
                <a:lnTo>
                  <a:pt x="9494" y="2430775"/>
                </a:lnTo>
                <a:lnTo>
                  <a:pt x="2412" y="2384374"/>
                </a:lnTo>
                <a:lnTo>
                  <a:pt x="0" y="2336592"/>
                </a:lnTo>
                <a:lnTo>
                  <a:pt x="0" y="467333"/>
                </a:lnTo>
                <a:close/>
              </a:path>
            </a:pathLst>
          </a:custGeom>
          <a:noFill/>
          <a:ln cap="flat" cmpd="sng" w="34925">
            <a:solidFill>
              <a:srgbClr val="8FAAD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6"/>
          <p:cNvSpPr/>
          <p:nvPr/>
        </p:nvSpPr>
        <p:spPr>
          <a:xfrm>
            <a:off x="5887826" y="2764856"/>
            <a:ext cx="827405" cy="715645"/>
          </a:xfrm>
          <a:custGeom>
            <a:rect b="b" l="l" r="r" t="t"/>
            <a:pathLst>
              <a:path extrusionOk="0" h="715645" w="827404">
                <a:moveTo>
                  <a:pt x="469221" y="0"/>
                </a:moveTo>
                <a:lnTo>
                  <a:pt x="469221" y="178904"/>
                </a:lnTo>
                <a:lnTo>
                  <a:pt x="0" y="178904"/>
                </a:lnTo>
                <a:lnTo>
                  <a:pt x="0" y="536714"/>
                </a:lnTo>
                <a:lnTo>
                  <a:pt x="469221" y="536714"/>
                </a:lnTo>
                <a:lnTo>
                  <a:pt x="469221" y="715618"/>
                </a:lnTo>
                <a:lnTo>
                  <a:pt x="827031" y="357809"/>
                </a:lnTo>
                <a:lnTo>
                  <a:pt x="469221" y="0"/>
                </a:lnTo>
                <a:close/>
              </a:path>
            </a:pathLst>
          </a:custGeom>
          <a:solidFill>
            <a:srgbClr val="AFABAB">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6"/>
          <p:cNvSpPr txBox="1"/>
          <p:nvPr/>
        </p:nvSpPr>
        <p:spPr>
          <a:xfrm>
            <a:off x="5715828" y="2279550"/>
            <a:ext cx="1459500" cy="213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t>Output Prediction</a:t>
            </a:r>
            <a:endParaRPr sz="1300"/>
          </a:p>
        </p:txBody>
      </p:sp>
      <p:pic>
        <p:nvPicPr>
          <p:cNvPr id="140" name="Google Shape;140;p6"/>
          <p:cNvPicPr preferRelativeResize="0"/>
          <p:nvPr/>
        </p:nvPicPr>
        <p:blipFill rotWithShape="1">
          <a:blip r:embed="rId3">
            <a:alphaModFix/>
          </a:blip>
          <a:srcRect b="0" l="0" r="0" t="0"/>
          <a:stretch/>
        </p:blipFill>
        <p:spPr>
          <a:xfrm>
            <a:off x="7035075" y="2747162"/>
            <a:ext cx="1458582" cy="1263235"/>
          </a:xfrm>
          <a:prstGeom prst="rect">
            <a:avLst/>
          </a:prstGeom>
          <a:noFill/>
          <a:ln>
            <a:noFill/>
          </a:ln>
        </p:spPr>
      </p:pic>
      <p:pic>
        <p:nvPicPr>
          <p:cNvPr id="141" name="Google Shape;141;p6"/>
          <p:cNvPicPr preferRelativeResize="0"/>
          <p:nvPr/>
        </p:nvPicPr>
        <p:blipFill rotWithShape="1">
          <a:blip r:embed="rId4">
            <a:alphaModFix/>
          </a:blip>
          <a:srcRect b="0" l="0" r="0" t="0"/>
          <a:stretch/>
        </p:blipFill>
        <p:spPr>
          <a:xfrm>
            <a:off x="7175276" y="4992764"/>
            <a:ext cx="1459608" cy="1234410"/>
          </a:xfrm>
          <a:prstGeom prst="rect">
            <a:avLst/>
          </a:prstGeom>
          <a:noFill/>
          <a:ln>
            <a:noFill/>
          </a:ln>
        </p:spPr>
      </p:pic>
      <p:sp>
        <p:nvSpPr>
          <p:cNvPr id="142" name="Google Shape;142;p6"/>
          <p:cNvSpPr txBox="1"/>
          <p:nvPr/>
        </p:nvSpPr>
        <p:spPr>
          <a:xfrm>
            <a:off x="817075" y="6480375"/>
            <a:ext cx="6635100" cy="344400"/>
          </a:xfrm>
          <a:prstGeom prst="rect">
            <a:avLst/>
          </a:prstGeom>
          <a:noFill/>
          <a:ln>
            <a:noFill/>
          </a:ln>
        </p:spPr>
        <p:txBody>
          <a:bodyPr anchorCtr="0" anchor="t" bIns="0" lIns="0" spcFirstLastPara="1" rIns="0" wrap="square" tIns="5700">
            <a:spAutoFit/>
          </a:bodyPr>
          <a:lstStyle/>
          <a:p>
            <a:pPr indent="0" lvl="0" marL="12700" rtl="0" algn="l">
              <a:lnSpc>
                <a:spcPct val="100000"/>
              </a:lnSpc>
              <a:spcBef>
                <a:spcPts val="0"/>
              </a:spcBef>
              <a:spcAft>
                <a:spcPts val="0"/>
              </a:spcAft>
              <a:buNone/>
            </a:pPr>
            <a:r>
              <a:rPr lang="en-US" sz="1100">
                <a:latin typeface="Calibri"/>
                <a:ea typeface="Calibri"/>
                <a:cs typeface="Calibri"/>
                <a:sym typeface="Calibri"/>
              </a:rPr>
              <a:t>*</a:t>
            </a:r>
            <a:r>
              <a:rPr lang="en-US" sz="1100">
                <a:solidFill>
                  <a:schemeClr val="dk1"/>
                </a:solidFill>
              </a:rPr>
              <a:t>When calculating the credit score considering the distribution of default probability, a square root is taken.</a:t>
            </a:r>
            <a:br>
              <a:rPr lang="en-US" sz="1100">
                <a:solidFill>
                  <a:schemeClr val="dk1"/>
                </a:solidFill>
              </a:rPr>
            </a:br>
            <a:endParaRPr sz="1100">
              <a:latin typeface="Microsoft JhengHei"/>
              <a:ea typeface="Microsoft JhengHei"/>
              <a:cs typeface="Microsoft JhengHei"/>
              <a:sym typeface="Microsoft JhengHei"/>
            </a:endParaRPr>
          </a:p>
        </p:txBody>
      </p:sp>
      <p:sp>
        <p:nvSpPr>
          <p:cNvPr id="143" name="Google Shape;143;p6"/>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115570" rtl="0" algn="l">
              <a:lnSpc>
                <a:spcPct val="100000"/>
              </a:lnSpc>
              <a:spcBef>
                <a:spcPts val="0"/>
              </a:spcBef>
              <a:spcAft>
                <a:spcPts val="0"/>
              </a:spcAft>
              <a:buNone/>
            </a:pPr>
            <a:fld id="{00000000-1234-1234-1234-123412341234}" type="slidenum">
              <a:rPr lang="en-US"/>
              <a:t>‹#›</a:t>
            </a:fld>
            <a:endParaRPr/>
          </a:p>
        </p:txBody>
      </p:sp>
      <p:sp>
        <p:nvSpPr>
          <p:cNvPr id="144" name="Google Shape;144;p6"/>
          <p:cNvSpPr txBox="1"/>
          <p:nvPr/>
        </p:nvSpPr>
        <p:spPr>
          <a:xfrm>
            <a:off x="3496375" y="5529150"/>
            <a:ext cx="11226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icrosoft JhengHei"/>
                <a:ea typeface="Microsoft JhengHei"/>
                <a:cs typeface="Microsoft JhengHei"/>
                <a:sym typeface="Microsoft JhengHei"/>
              </a:rPr>
              <a:t>= 1 - </a:t>
            </a:r>
            <a:endParaRPr sz="1600">
              <a:solidFill>
                <a:schemeClr val="dk1"/>
              </a:solidFill>
              <a:latin typeface="Microsoft JhengHei"/>
              <a:ea typeface="Microsoft JhengHei"/>
              <a:cs typeface="Microsoft JhengHei"/>
              <a:sym typeface="Microsoft JhengHei"/>
            </a:endParaRPr>
          </a:p>
        </p:txBody>
      </p:sp>
      <p:sp>
        <p:nvSpPr>
          <p:cNvPr id="145" name="Google Shape;145;p6"/>
          <p:cNvSpPr txBox="1"/>
          <p:nvPr/>
        </p:nvSpPr>
        <p:spPr>
          <a:xfrm>
            <a:off x="4448875" y="5529149"/>
            <a:ext cx="24162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icrosoft JhengHei"/>
                <a:ea typeface="Microsoft JhengHei"/>
                <a:cs typeface="Microsoft JhengHei"/>
                <a:sym typeface="Microsoft JhengHei"/>
              </a:rPr>
              <a:t>Probability of default</a:t>
            </a:r>
            <a:endParaRPr sz="1600">
              <a:solidFill>
                <a:schemeClr val="dk1"/>
              </a:solidFill>
              <a:latin typeface="Microsoft JhengHei"/>
              <a:ea typeface="Microsoft JhengHei"/>
              <a:cs typeface="Microsoft JhengHei"/>
              <a:sym typeface="Microsoft JhengHei"/>
            </a:endParaRPr>
          </a:p>
        </p:txBody>
      </p:sp>
      <p:sp>
        <p:nvSpPr>
          <p:cNvPr id="146" name="Google Shape;146;p6"/>
          <p:cNvSpPr/>
          <p:nvPr/>
        </p:nvSpPr>
        <p:spPr>
          <a:xfrm>
            <a:off x="8056125" y="4880725"/>
            <a:ext cx="541500" cy="228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147" name="Google Shape;147;p6"/>
          <p:cNvSpPr txBox="1"/>
          <p:nvPr/>
        </p:nvSpPr>
        <p:spPr>
          <a:xfrm>
            <a:off x="7930265" y="4874302"/>
            <a:ext cx="15438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rPr>
              <a:t>Credit Score</a:t>
            </a:r>
            <a:endParaRPr b="1" sz="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342475" y="201900"/>
            <a:ext cx="8061600" cy="8940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sz="3100">
                <a:latin typeface="Arial"/>
                <a:ea typeface="Arial"/>
                <a:cs typeface="Arial"/>
                <a:sym typeface="Arial"/>
              </a:rPr>
              <a:t>Important Features for Prediction	</a:t>
            </a:r>
            <a:endParaRPr sz="3100">
              <a:latin typeface="Arial"/>
              <a:ea typeface="Arial"/>
              <a:cs typeface="Arial"/>
              <a:sym typeface="Arial"/>
            </a:endParaRPr>
          </a:p>
          <a:p>
            <a:pPr indent="0" lvl="0" marL="457200" rtl="0" algn="l">
              <a:lnSpc>
                <a:spcPct val="115000"/>
              </a:lnSpc>
              <a:spcBef>
                <a:spcPts val="1200"/>
              </a:spcBef>
              <a:spcAft>
                <a:spcPts val="1200"/>
              </a:spcAft>
              <a:buNone/>
            </a:pPr>
            <a:r>
              <a:rPr lang="en-US" sz="1400" u="none">
                <a:latin typeface="Arial"/>
                <a:ea typeface="Arial"/>
                <a:cs typeface="Arial"/>
                <a:sym typeface="Arial"/>
              </a:rPr>
              <a:t>Many of the features important for prediction are those related to values from external sources.</a:t>
            </a:r>
            <a:endParaRPr sz="1400">
              <a:latin typeface="Arial"/>
              <a:ea typeface="Arial"/>
              <a:cs typeface="Arial"/>
              <a:sym typeface="Arial"/>
            </a:endParaRPr>
          </a:p>
        </p:txBody>
      </p:sp>
      <p:grpSp>
        <p:nvGrpSpPr>
          <p:cNvPr id="153" name="Google Shape;153;p7"/>
          <p:cNvGrpSpPr/>
          <p:nvPr/>
        </p:nvGrpSpPr>
        <p:grpSpPr>
          <a:xfrm>
            <a:off x="3429152" y="1294330"/>
            <a:ext cx="3183612" cy="3355721"/>
            <a:chOff x="3429152" y="1294330"/>
            <a:chExt cx="3183612" cy="3355721"/>
          </a:xfrm>
        </p:grpSpPr>
        <p:pic>
          <p:nvPicPr>
            <p:cNvPr id="154" name="Google Shape;154;p7"/>
            <p:cNvPicPr preferRelativeResize="0"/>
            <p:nvPr/>
          </p:nvPicPr>
          <p:blipFill rotWithShape="1">
            <a:blip r:embed="rId3">
              <a:alphaModFix/>
            </a:blip>
            <a:srcRect b="0" l="0" r="0" t="0"/>
            <a:stretch/>
          </p:blipFill>
          <p:spPr>
            <a:xfrm>
              <a:off x="3485399" y="1294330"/>
              <a:ext cx="3127365" cy="3181123"/>
            </a:xfrm>
            <a:prstGeom prst="rect">
              <a:avLst/>
            </a:prstGeom>
            <a:noFill/>
            <a:ln>
              <a:noFill/>
            </a:ln>
          </p:spPr>
        </p:pic>
        <p:sp>
          <p:nvSpPr>
            <p:cNvPr id="155" name="Google Shape;155;p7"/>
            <p:cNvSpPr/>
            <p:nvPr/>
          </p:nvSpPr>
          <p:spPr>
            <a:xfrm>
              <a:off x="3429152" y="1369504"/>
              <a:ext cx="300990" cy="715645"/>
            </a:xfrm>
            <a:custGeom>
              <a:rect b="b" l="l" r="r" t="t"/>
              <a:pathLst>
                <a:path extrusionOk="0" h="715644" w="300989">
                  <a:moveTo>
                    <a:pt x="300773" y="715060"/>
                  </a:moveTo>
                  <a:lnTo>
                    <a:pt x="242235" y="713090"/>
                  </a:lnTo>
                  <a:lnTo>
                    <a:pt x="194433" y="707719"/>
                  </a:lnTo>
                  <a:lnTo>
                    <a:pt x="162204" y="699752"/>
                  </a:lnTo>
                  <a:lnTo>
                    <a:pt x="150386" y="689996"/>
                  </a:lnTo>
                  <a:lnTo>
                    <a:pt x="150386" y="382593"/>
                  </a:lnTo>
                  <a:lnTo>
                    <a:pt x="138568" y="372837"/>
                  </a:lnTo>
                  <a:lnTo>
                    <a:pt x="106339" y="364870"/>
                  </a:lnTo>
                  <a:lnTo>
                    <a:pt x="58537" y="359499"/>
                  </a:lnTo>
                  <a:lnTo>
                    <a:pt x="0" y="357530"/>
                  </a:lnTo>
                  <a:lnTo>
                    <a:pt x="58537" y="355560"/>
                  </a:lnTo>
                  <a:lnTo>
                    <a:pt x="106339" y="350189"/>
                  </a:lnTo>
                  <a:lnTo>
                    <a:pt x="138568" y="342222"/>
                  </a:lnTo>
                  <a:lnTo>
                    <a:pt x="150386" y="332466"/>
                  </a:lnTo>
                  <a:lnTo>
                    <a:pt x="150386" y="25063"/>
                  </a:lnTo>
                  <a:lnTo>
                    <a:pt x="162204" y="15307"/>
                  </a:lnTo>
                  <a:lnTo>
                    <a:pt x="194433" y="7340"/>
                  </a:lnTo>
                  <a:lnTo>
                    <a:pt x="242235" y="1969"/>
                  </a:lnTo>
                  <a:lnTo>
                    <a:pt x="300773" y="0"/>
                  </a:lnTo>
                </a:path>
              </a:pathLst>
            </a:custGeom>
            <a:noFill/>
            <a:ln cap="flat" cmpd="sng" w="22225">
              <a:solidFill>
                <a:srgbClr val="AFABA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7"/>
            <p:cNvSpPr/>
            <p:nvPr/>
          </p:nvSpPr>
          <p:spPr>
            <a:xfrm>
              <a:off x="5234298" y="4422086"/>
              <a:ext cx="651510" cy="227965"/>
            </a:xfrm>
            <a:custGeom>
              <a:rect b="b" l="l" r="r" t="t"/>
              <a:pathLst>
                <a:path extrusionOk="0" h="227964" w="651510">
                  <a:moveTo>
                    <a:pt x="651463" y="0"/>
                  </a:moveTo>
                  <a:lnTo>
                    <a:pt x="0" y="0"/>
                  </a:lnTo>
                  <a:lnTo>
                    <a:pt x="0" y="227700"/>
                  </a:lnTo>
                  <a:lnTo>
                    <a:pt x="651463" y="227700"/>
                  </a:lnTo>
                  <a:lnTo>
                    <a:pt x="65146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7" name="Google Shape;157;p7"/>
          <p:cNvSpPr txBox="1"/>
          <p:nvPr/>
        </p:nvSpPr>
        <p:spPr>
          <a:xfrm rot="-5400000">
            <a:off x="3192161" y="2667900"/>
            <a:ext cx="606900" cy="194400"/>
          </a:xfrm>
          <a:prstGeom prst="rect">
            <a:avLst/>
          </a:prstGeom>
          <a:noFill/>
          <a:ln>
            <a:noFill/>
          </a:ln>
        </p:spPr>
        <p:txBody>
          <a:bodyPr anchorCtr="0" anchor="t" bIns="0" lIns="0" spcFirstLastPara="1" rIns="0" wrap="square" tIns="46975">
            <a:spAutoFit/>
          </a:bodyPr>
          <a:lstStyle/>
          <a:p>
            <a:pPr indent="0" lvl="0" marL="0" marR="5080" rtl="0" algn="just">
              <a:lnSpc>
                <a:spcPct val="79500"/>
              </a:lnSpc>
              <a:spcBef>
                <a:spcPts val="0"/>
              </a:spcBef>
              <a:spcAft>
                <a:spcPts val="0"/>
              </a:spcAft>
              <a:buNone/>
            </a:pPr>
            <a:r>
              <a:rPr lang="en-US" sz="1200">
                <a:latin typeface="Microsoft JhengHei"/>
                <a:ea typeface="Microsoft JhengHei"/>
                <a:cs typeface="Microsoft JhengHei"/>
                <a:sym typeface="Microsoft JhengHei"/>
              </a:rPr>
              <a:t>Features</a:t>
            </a:r>
            <a:endParaRPr sz="1200">
              <a:latin typeface="Microsoft JhengHei"/>
              <a:ea typeface="Microsoft JhengHei"/>
              <a:cs typeface="Microsoft JhengHei"/>
              <a:sym typeface="Microsoft JhengHei"/>
            </a:endParaRPr>
          </a:p>
        </p:txBody>
      </p:sp>
      <p:sp>
        <p:nvSpPr>
          <p:cNvPr id="158" name="Google Shape;158;p7"/>
          <p:cNvSpPr txBox="1"/>
          <p:nvPr/>
        </p:nvSpPr>
        <p:spPr>
          <a:xfrm>
            <a:off x="1079648" y="1509675"/>
            <a:ext cx="2349600" cy="408600"/>
          </a:xfrm>
          <a:prstGeom prst="rect">
            <a:avLst/>
          </a:prstGeom>
          <a:noFill/>
          <a:ln cap="flat" cmpd="sng" w="9525">
            <a:solidFill>
              <a:srgbClr val="AFABAB"/>
            </a:solidFill>
            <a:prstDash val="solid"/>
            <a:round/>
            <a:headEnd len="sm" w="sm" type="none"/>
            <a:tailEnd len="sm" w="sm" type="none"/>
          </a:ln>
        </p:spPr>
        <p:txBody>
          <a:bodyPr anchorCtr="0" anchor="t" bIns="0" lIns="0" spcFirstLastPara="1" rIns="0" wrap="square" tIns="19050">
            <a:spAutoFit/>
          </a:bodyPr>
          <a:lstStyle/>
          <a:p>
            <a:pPr indent="0" lvl="0" marL="0" marR="52705" rtl="0" algn="ctr">
              <a:lnSpc>
                <a:spcPct val="100000"/>
              </a:lnSpc>
              <a:spcBef>
                <a:spcPts val="0"/>
              </a:spcBef>
              <a:spcAft>
                <a:spcPts val="0"/>
              </a:spcAft>
              <a:buNone/>
            </a:pPr>
            <a:r>
              <a:rPr lang="en-US" sz="1300"/>
              <a:t>Values from external </a:t>
            </a:r>
            <a:r>
              <a:rPr lang="en-US" sz="1300"/>
              <a:t>sources</a:t>
            </a:r>
            <a:endParaRPr sz="1300"/>
          </a:p>
          <a:p>
            <a:pPr indent="0" lvl="0" marL="0" rtl="0" algn="ctr">
              <a:lnSpc>
                <a:spcPct val="100000"/>
              </a:lnSpc>
              <a:spcBef>
                <a:spcPts val="35"/>
              </a:spcBef>
              <a:spcAft>
                <a:spcPts val="0"/>
              </a:spcAft>
              <a:buNone/>
            </a:pPr>
            <a:r>
              <a:rPr lang="en-US" sz="1200">
                <a:latin typeface="Calibri"/>
                <a:ea typeface="Calibri"/>
                <a:cs typeface="Calibri"/>
                <a:sym typeface="Calibri"/>
              </a:rPr>
              <a:t>EXT_SOURCES_</a:t>
            </a:r>
            <a:r>
              <a:rPr lang="en-US" sz="1200">
                <a:latin typeface="Microsoft JhengHei"/>
                <a:ea typeface="Microsoft JhengHei"/>
                <a:cs typeface="Microsoft JhengHei"/>
                <a:sym typeface="Microsoft JhengHei"/>
              </a:rPr>
              <a:t>○○</a:t>
            </a:r>
            <a:endParaRPr sz="1200">
              <a:latin typeface="Microsoft JhengHei"/>
              <a:ea typeface="Microsoft JhengHei"/>
              <a:cs typeface="Microsoft JhengHei"/>
              <a:sym typeface="Microsoft JhengHei"/>
            </a:endParaRPr>
          </a:p>
        </p:txBody>
      </p:sp>
      <p:sp>
        <p:nvSpPr>
          <p:cNvPr id="159" name="Google Shape;159;p7"/>
          <p:cNvSpPr txBox="1"/>
          <p:nvPr/>
        </p:nvSpPr>
        <p:spPr>
          <a:xfrm>
            <a:off x="572713" y="4428744"/>
            <a:ext cx="8118600" cy="10077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t/>
            </a:r>
            <a:endParaRPr sz="1100"/>
          </a:p>
          <a:p>
            <a:pPr indent="0" lvl="0" marL="0" rtl="0" algn="l">
              <a:lnSpc>
                <a:spcPct val="100000"/>
              </a:lnSpc>
              <a:spcBef>
                <a:spcPts val="305"/>
              </a:spcBef>
              <a:spcAft>
                <a:spcPts val="0"/>
              </a:spcAft>
              <a:buNone/>
            </a:pPr>
            <a:r>
              <a:t/>
            </a:r>
            <a:endParaRPr sz="1100"/>
          </a:p>
          <a:p>
            <a:pPr indent="0" lvl="0" marL="0" rtl="0" algn="l">
              <a:lnSpc>
                <a:spcPct val="115000"/>
              </a:lnSpc>
              <a:spcBef>
                <a:spcPts val="1200"/>
              </a:spcBef>
              <a:spcAft>
                <a:spcPts val="1200"/>
              </a:spcAft>
              <a:buNone/>
            </a:pPr>
            <a:r>
              <a:rPr lang="en-US">
                <a:solidFill>
                  <a:srgbClr val="444746"/>
                </a:solidFill>
                <a:highlight>
                  <a:srgbClr val="FFFFFF"/>
                </a:highlight>
              </a:rPr>
              <a:t>F</a:t>
            </a:r>
            <a:r>
              <a:rPr lang="en-US">
                <a:solidFill>
                  <a:srgbClr val="444746"/>
                </a:solidFill>
                <a:highlight>
                  <a:srgbClr val="FFFFFF"/>
                </a:highlight>
              </a:rPr>
              <a:t>eatures derived from processed data and statistical measures are important for AI predictions, indicating that the AI takes a different approach from human decision-making.</a:t>
            </a:r>
            <a:endParaRPr/>
          </a:p>
        </p:txBody>
      </p:sp>
      <p:sp>
        <p:nvSpPr>
          <p:cNvPr id="160" name="Google Shape;160;p7"/>
          <p:cNvSpPr txBox="1"/>
          <p:nvPr/>
        </p:nvSpPr>
        <p:spPr>
          <a:xfrm>
            <a:off x="1643287" y="6001009"/>
            <a:ext cx="6492900" cy="476100"/>
          </a:xfrm>
          <a:prstGeom prst="rect">
            <a:avLst/>
          </a:prstGeom>
          <a:noFill/>
          <a:ln>
            <a:noFill/>
          </a:ln>
        </p:spPr>
        <p:txBody>
          <a:bodyPr anchorCtr="0" anchor="t" bIns="0" lIns="0" spcFirstLastPara="1" rIns="0" wrap="square" tIns="12700">
            <a:spAutoFit/>
          </a:bodyPr>
          <a:lstStyle/>
          <a:p>
            <a:pPr indent="0" lvl="0" marL="0" rtl="0" algn="ctr">
              <a:lnSpc>
                <a:spcPct val="115000"/>
              </a:lnSpc>
              <a:spcBef>
                <a:spcPts val="1200"/>
              </a:spcBef>
              <a:spcAft>
                <a:spcPts val="1200"/>
              </a:spcAft>
              <a:buSzPts val="1100"/>
              <a:buNone/>
            </a:pPr>
            <a:r>
              <a:rPr lang="en-US">
                <a:solidFill>
                  <a:schemeClr val="dk1"/>
                </a:solidFill>
              </a:rPr>
              <a:t>By utilizing both AI and human decision-making, highly accurate lending decisions become possible.</a:t>
            </a:r>
            <a:endParaRPr>
              <a:latin typeface="Calibri"/>
              <a:ea typeface="Calibri"/>
              <a:cs typeface="Calibri"/>
              <a:sym typeface="Calibri"/>
            </a:endParaRPr>
          </a:p>
        </p:txBody>
      </p:sp>
      <p:sp>
        <p:nvSpPr>
          <p:cNvPr id="161" name="Google Shape;161;p7"/>
          <p:cNvSpPr/>
          <p:nvPr/>
        </p:nvSpPr>
        <p:spPr>
          <a:xfrm>
            <a:off x="3623179" y="5534920"/>
            <a:ext cx="2852420" cy="466090"/>
          </a:xfrm>
          <a:custGeom>
            <a:rect b="b" l="l" r="r" t="t"/>
            <a:pathLst>
              <a:path extrusionOk="0" h="466089" w="2852420">
                <a:moveTo>
                  <a:pt x="2851805" y="0"/>
                </a:moveTo>
                <a:lnTo>
                  <a:pt x="0" y="0"/>
                </a:lnTo>
                <a:lnTo>
                  <a:pt x="1425902" y="465666"/>
                </a:lnTo>
                <a:lnTo>
                  <a:pt x="2851805" y="0"/>
                </a:lnTo>
                <a:close/>
              </a:path>
            </a:pathLst>
          </a:custGeom>
          <a:solidFill>
            <a:srgbClr val="A5A5A5">
              <a:alpha val="2352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p7"/>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63" name="Google Shape;163;p7"/>
          <p:cNvSpPr txBox="1"/>
          <p:nvPr/>
        </p:nvSpPr>
        <p:spPr>
          <a:xfrm>
            <a:off x="5184298" y="4405702"/>
            <a:ext cx="714900" cy="194400"/>
          </a:xfrm>
          <a:prstGeom prst="rect">
            <a:avLst/>
          </a:prstGeom>
          <a:noFill/>
          <a:ln>
            <a:noFill/>
          </a:ln>
        </p:spPr>
        <p:txBody>
          <a:bodyPr anchorCtr="0" anchor="t" bIns="0" lIns="0" spcFirstLastPara="1" rIns="0" wrap="square" tIns="46975">
            <a:spAutoFit/>
          </a:bodyPr>
          <a:lstStyle/>
          <a:p>
            <a:pPr indent="0" lvl="0" marL="0" marR="5080" rtl="0" algn="just">
              <a:lnSpc>
                <a:spcPct val="79500"/>
              </a:lnSpc>
              <a:spcBef>
                <a:spcPts val="0"/>
              </a:spcBef>
              <a:spcAft>
                <a:spcPts val="0"/>
              </a:spcAft>
              <a:buNone/>
            </a:pPr>
            <a:r>
              <a:rPr lang="en-US" sz="1200">
                <a:latin typeface="Microsoft JhengHei"/>
                <a:ea typeface="Microsoft JhengHei"/>
                <a:cs typeface="Microsoft JhengHei"/>
                <a:sym typeface="Microsoft JhengHei"/>
              </a:rPr>
              <a:t>Importance</a:t>
            </a:r>
            <a:endParaRPr sz="1200">
              <a:latin typeface="Microsoft JhengHei"/>
              <a:ea typeface="Microsoft JhengHei"/>
              <a:cs typeface="Microsoft JhengHei"/>
              <a:sym typeface="Microsoft JhengHe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169" name="Google Shape;169;p8"/>
          <p:cNvPicPr preferRelativeResize="0"/>
          <p:nvPr/>
        </p:nvPicPr>
        <p:blipFill rotWithShape="1">
          <a:blip r:embed="rId3">
            <a:alphaModFix/>
          </a:blip>
          <a:srcRect b="0" l="0" r="0" t="0"/>
          <a:stretch/>
        </p:blipFill>
        <p:spPr>
          <a:xfrm>
            <a:off x="482256" y="1989417"/>
            <a:ext cx="8179481" cy="2879170"/>
          </a:xfrm>
          <a:prstGeom prst="rect">
            <a:avLst/>
          </a:prstGeom>
          <a:noFill/>
          <a:ln>
            <a:noFill/>
          </a:ln>
        </p:spPr>
      </p:pic>
      <p:sp>
        <p:nvSpPr>
          <p:cNvPr id="170" name="Google Shape;170;p8"/>
          <p:cNvSpPr txBox="1"/>
          <p:nvPr/>
        </p:nvSpPr>
        <p:spPr>
          <a:xfrm>
            <a:off x="1143838" y="2506502"/>
            <a:ext cx="6914400" cy="1845000"/>
          </a:xfrm>
          <a:prstGeom prst="rect">
            <a:avLst/>
          </a:prstGeom>
          <a:noFill/>
          <a:ln>
            <a:noFill/>
          </a:ln>
        </p:spPr>
        <p:txBody>
          <a:bodyPr anchorCtr="0" anchor="t" bIns="0" lIns="0" spcFirstLastPara="1" rIns="0" wrap="square" tIns="120000">
            <a:spAutoFit/>
          </a:bodyPr>
          <a:lstStyle/>
          <a:p>
            <a:pPr indent="0" lvl="0" marL="59055" rtl="0" algn="l">
              <a:lnSpc>
                <a:spcPct val="100000"/>
              </a:lnSpc>
              <a:spcBef>
                <a:spcPts val="0"/>
              </a:spcBef>
              <a:spcAft>
                <a:spcPts val="0"/>
              </a:spcAft>
              <a:buNone/>
            </a:pPr>
            <a:r>
              <a:rPr lang="en-US" sz="2800"/>
              <a:t>Table of contents</a:t>
            </a:r>
            <a:endParaRPr sz="2800"/>
          </a:p>
          <a:p>
            <a:pPr indent="-355600" lvl="0" marL="457200" rtl="0" algn="l">
              <a:spcBef>
                <a:spcPts val="760"/>
              </a:spcBef>
              <a:spcAft>
                <a:spcPts val="0"/>
              </a:spcAft>
              <a:buClr>
                <a:srgbClr val="D0CECE"/>
              </a:buClr>
              <a:buSzPts val="2000"/>
              <a:buChar char="⮚"/>
            </a:pPr>
            <a:r>
              <a:rPr lang="en-US" sz="2200">
                <a:solidFill>
                  <a:srgbClr val="D0CECE"/>
                </a:solidFill>
              </a:rPr>
              <a:t>Current State of the Consumer Finance Industry</a:t>
            </a:r>
            <a:endParaRPr sz="2200">
              <a:solidFill>
                <a:srgbClr val="D0CECE"/>
              </a:solidFill>
            </a:endParaRPr>
          </a:p>
          <a:p>
            <a:pPr indent="-361949" lvl="0" marL="457200" rtl="0" algn="l">
              <a:spcBef>
                <a:spcPts val="760"/>
              </a:spcBef>
              <a:spcAft>
                <a:spcPts val="0"/>
              </a:spcAft>
              <a:buClr>
                <a:srgbClr val="D0CECE"/>
              </a:buClr>
              <a:buSzPts val="2100"/>
              <a:buChar char="⮚"/>
            </a:pPr>
            <a:r>
              <a:rPr lang="en-US" sz="2000">
                <a:solidFill>
                  <a:srgbClr val="D0CECE"/>
                </a:solidFill>
                <a:extLst>
                  <a:ext uri="http://customooxmlschemas.google.com/">
                    <go:slidesCustomData xmlns:go="http://customooxmlschemas.google.com/" textRoundtripDataId="12"/>
                  </a:ext>
                </a:extLst>
              </a:rPr>
              <a:t>Prediction Using Machine Learning Models</a:t>
            </a:r>
            <a:endParaRPr sz="2000">
              <a:solidFill>
                <a:srgbClr val="D0CECE"/>
              </a:solidFill>
            </a:endParaRPr>
          </a:p>
          <a:p>
            <a:pPr indent="-361949" lvl="0" marL="457200" rtl="0" algn="l">
              <a:spcBef>
                <a:spcPts val="760"/>
              </a:spcBef>
              <a:spcAft>
                <a:spcPts val="0"/>
              </a:spcAft>
              <a:buClr>
                <a:schemeClr val="dk1"/>
              </a:buClr>
              <a:buSzPts val="2100"/>
              <a:buChar char="⮚"/>
            </a:pPr>
            <a:r>
              <a:rPr lang="en-US" sz="2200">
                <a:solidFill>
                  <a:schemeClr val="dk1"/>
                </a:solidFill>
              </a:rPr>
              <a:t>Our Business Proposal</a:t>
            </a:r>
            <a:endParaRPr sz="2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342478" y="201901"/>
            <a:ext cx="7070100" cy="7092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sz="3100">
                <a:latin typeface="Arial"/>
                <a:ea typeface="Arial"/>
                <a:cs typeface="Arial"/>
                <a:sym typeface="Arial"/>
              </a:rPr>
              <a:t>Our Business Proposals	</a:t>
            </a:r>
            <a:endParaRPr sz="3100">
              <a:latin typeface="Arial"/>
              <a:ea typeface="Arial"/>
              <a:cs typeface="Arial"/>
              <a:sym typeface="Arial"/>
            </a:endParaRPr>
          </a:p>
          <a:p>
            <a:pPr indent="444500" lvl="0" marL="12700" rtl="0" algn="l">
              <a:lnSpc>
                <a:spcPct val="100000"/>
              </a:lnSpc>
              <a:spcBef>
                <a:spcPts val="0"/>
              </a:spcBef>
              <a:spcAft>
                <a:spcPts val="0"/>
              </a:spcAft>
              <a:buNone/>
            </a:pPr>
            <a:r>
              <a:rPr lang="en-US" sz="1200" u="none">
                <a:highlight>
                  <a:srgbClr val="FFFFFF"/>
                </a:highlight>
                <a:latin typeface="Arial"/>
                <a:ea typeface="Arial"/>
                <a:cs typeface="Arial"/>
                <a:sym typeface="Arial"/>
              </a:rPr>
              <a:t>Business proposals utilizing credit scores and long-term support.</a:t>
            </a:r>
            <a:endParaRPr sz="1200">
              <a:latin typeface="Arial"/>
              <a:ea typeface="Arial"/>
              <a:cs typeface="Arial"/>
              <a:sym typeface="Arial"/>
            </a:endParaRPr>
          </a:p>
        </p:txBody>
      </p:sp>
      <p:sp>
        <p:nvSpPr>
          <p:cNvPr id="176" name="Google Shape;176;p9"/>
          <p:cNvSpPr/>
          <p:nvPr/>
        </p:nvSpPr>
        <p:spPr>
          <a:xfrm>
            <a:off x="930303" y="1757238"/>
            <a:ext cx="3220720" cy="0"/>
          </a:xfrm>
          <a:custGeom>
            <a:rect b="b" l="l" r="r" t="t"/>
            <a:pathLst>
              <a:path extrusionOk="0" h="120000" w="3220720">
                <a:moveTo>
                  <a:pt x="0" y="0"/>
                </a:moveTo>
                <a:lnTo>
                  <a:pt x="3220277"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7" name="Google Shape;177;p9"/>
          <p:cNvSpPr/>
          <p:nvPr/>
        </p:nvSpPr>
        <p:spPr>
          <a:xfrm>
            <a:off x="4738977" y="1757238"/>
            <a:ext cx="3220720" cy="0"/>
          </a:xfrm>
          <a:custGeom>
            <a:rect b="b" l="l" r="r" t="t"/>
            <a:pathLst>
              <a:path extrusionOk="0" h="120000" w="3220720">
                <a:moveTo>
                  <a:pt x="0" y="0"/>
                </a:moveTo>
                <a:lnTo>
                  <a:pt x="3220277"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8" name="Google Shape;178;p9"/>
          <p:cNvSpPr txBox="1"/>
          <p:nvPr/>
        </p:nvSpPr>
        <p:spPr>
          <a:xfrm>
            <a:off x="1014000" y="1376175"/>
            <a:ext cx="6728100" cy="25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t>Busines</a:t>
            </a:r>
            <a:r>
              <a:rPr lang="en-US" sz="1600"/>
              <a:t>ses</a:t>
            </a:r>
            <a:r>
              <a:rPr lang="en-US" sz="1600"/>
              <a:t> Utilizing Credit Scores  </a:t>
            </a:r>
            <a:r>
              <a:rPr lang="en-US" sz="1600"/>
              <a:t>	 Long-Term Support</a:t>
            </a:r>
            <a:endParaRPr sz="1600"/>
          </a:p>
        </p:txBody>
      </p:sp>
      <p:sp>
        <p:nvSpPr>
          <p:cNvPr id="179" name="Google Shape;179;p9"/>
          <p:cNvSpPr/>
          <p:nvPr/>
        </p:nvSpPr>
        <p:spPr>
          <a:xfrm>
            <a:off x="895751" y="2014350"/>
            <a:ext cx="2152904" cy="369569"/>
          </a:xfrm>
          <a:custGeom>
            <a:rect b="b" l="l" r="r" t="t"/>
            <a:pathLst>
              <a:path extrusionOk="0" h="369569" w="2070100">
                <a:moveTo>
                  <a:pt x="2008413" y="0"/>
                </a:moveTo>
                <a:lnTo>
                  <a:pt x="61555" y="0"/>
                </a:lnTo>
                <a:lnTo>
                  <a:pt x="37595" y="4837"/>
                </a:lnTo>
                <a:lnTo>
                  <a:pt x="18029" y="18029"/>
                </a:lnTo>
                <a:lnTo>
                  <a:pt x="4837" y="37595"/>
                </a:lnTo>
                <a:lnTo>
                  <a:pt x="0" y="61555"/>
                </a:lnTo>
                <a:lnTo>
                  <a:pt x="0" y="307776"/>
                </a:lnTo>
                <a:lnTo>
                  <a:pt x="4837" y="331737"/>
                </a:lnTo>
                <a:lnTo>
                  <a:pt x="18029" y="351303"/>
                </a:lnTo>
                <a:lnTo>
                  <a:pt x="37595" y="364495"/>
                </a:lnTo>
                <a:lnTo>
                  <a:pt x="61555" y="369332"/>
                </a:lnTo>
                <a:lnTo>
                  <a:pt x="2008413" y="369332"/>
                </a:lnTo>
                <a:lnTo>
                  <a:pt x="2032373" y="364495"/>
                </a:lnTo>
                <a:lnTo>
                  <a:pt x="2051939" y="351303"/>
                </a:lnTo>
                <a:lnTo>
                  <a:pt x="2065131" y="331737"/>
                </a:lnTo>
                <a:lnTo>
                  <a:pt x="2069969" y="307776"/>
                </a:lnTo>
                <a:lnTo>
                  <a:pt x="2069969" y="61555"/>
                </a:lnTo>
                <a:lnTo>
                  <a:pt x="2065131" y="37595"/>
                </a:lnTo>
                <a:lnTo>
                  <a:pt x="2051939" y="18029"/>
                </a:lnTo>
                <a:lnTo>
                  <a:pt x="2032373" y="4837"/>
                </a:lnTo>
                <a:lnTo>
                  <a:pt x="200841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9"/>
          <p:cNvSpPr txBox="1"/>
          <p:nvPr/>
        </p:nvSpPr>
        <p:spPr>
          <a:xfrm>
            <a:off x="1009043" y="1922780"/>
            <a:ext cx="3048000" cy="878400"/>
          </a:xfrm>
          <a:prstGeom prst="rect">
            <a:avLst/>
          </a:prstGeom>
          <a:noFill/>
          <a:ln>
            <a:noFill/>
          </a:ln>
        </p:spPr>
        <p:txBody>
          <a:bodyPr anchorCtr="0" anchor="t" bIns="0" lIns="0" spcFirstLastPara="1" rIns="0" wrap="square" tIns="113025">
            <a:spAutoFit/>
          </a:bodyPr>
          <a:lstStyle/>
          <a:p>
            <a:pPr indent="0" lvl="0" marL="0" rtl="0" algn="l">
              <a:lnSpc>
                <a:spcPct val="100000"/>
              </a:lnSpc>
              <a:spcBef>
                <a:spcPts val="0"/>
              </a:spcBef>
              <a:spcAft>
                <a:spcPts val="0"/>
              </a:spcAft>
              <a:buNone/>
            </a:pPr>
            <a:r>
              <a:rPr lang="en-US" sz="1600"/>
              <a:t>①</a:t>
            </a:r>
            <a:r>
              <a:rPr lang="en-US" sz="1500"/>
              <a:t>Risk Management</a:t>
            </a:r>
            <a:endParaRPr sz="1500"/>
          </a:p>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Enables risk management for customers with a high likelihood of default</a:t>
            </a:r>
            <a:endParaRPr sz="1400"/>
          </a:p>
        </p:txBody>
      </p:sp>
      <p:sp>
        <p:nvSpPr>
          <p:cNvPr id="181" name="Google Shape;181;p9"/>
          <p:cNvSpPr/>
          <p:nvPr/>
        </p:nvSpPr>
        <p:spPr>
          <a:xfrm>
            <a:off x="4738977" y="1987943"/>
            <a:ext cx="2306320" cy="369570"/>
          </a:xfrm>
          <a:custGeom>
            <a:rect b="b" l="l" r="r" t="t"/>
            <a:pathLst>
              <a:path extrusionOk="0" h="369569" w="2306320">
                <a:moveTo>
                  <a:pt x="2244323" y="0"/>
                </a:moveTo>
                <a:lnTo>
                  <a:pt x="61555" y="0"/>
                </a:lnTo>
                <a:lnTo>
                  <a:pt x="37595" y="4837"/>
                </a:lnTo>
                <a:lnTo>
                  <a:pt x="18029" y="18029"/>
                </a:lnTo>
                <a:lnTo>
                  <a:pt x="4837" y="37595"/>
                </a:lnTo>
                <a:lnTo>
                  <a:pt x="0" y="61555"/>
                </a:lnTo>
                <a:lnTo>
                  <a:pt x="0" y="307776"/>
                </a:lnTo>
                <a:lnTo>
                  <a:pt x="4837" y="331737"/>
                </a:lnTo>
                <a:lnTo>
                  <a:pt x="18029" y="351304"/>
                </a:lnTo>
                <a:lnTo>
                  <a:pt x="37595" y="364496"/>
                </a:lnTo>
                <a:lnTo>
                  <a:pt x="61555" y="369333"/>
                </a:lnTo>
                <a:lnTo>
                  <a:pt x="2244323" y="369333"/>
                </a:lnTo>
                <a:lnTo>
                  <a:pt x="2268283" y="364496"/>
                </a:lnTo>
                <a:lnTo>
                  <a:pt x="2287849" y="351304"/>
                </a:lnTo>
                <a:lnTo>
                  <a:pt x="2301041" y="331737"/>
                </a:lnTo>
                <a:lnTo>
                  <a:pt x="2305879" y="307776"/>
                </a:lnTo>
                <a:lnTo>
                  <a:pt x="2305879" y="61555"/>
                </a:lnTo>
                <a:lnTo>
                  <a:pt x="2301041" y="37595"/>
                </a:lnTo>
                <a:lnTo>
                  <a:pt x="2287849" y="18029"/>
                </a:lnTo>
                <a:lnTo>
                  <a:pt x="2268283" y="4837"/>
                </a:lnTo>
                <a:lnTo>
                  <a:pt x="224432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2" name="Google Shape;182;p9"/>
          <p:cNvSpPr txBox="1"/>
          <p:nvPr/>
        </p:nvSpPr>
        <p:spPr>
          <a:xfrm>
            <a:off x="4817715" y="1866396"/>
            <a:ext cx="2870100" cy="948900"/>
          </a:xfrm>
          <a:prstGeom prst="rect">
            <a:avLst/>
          </a:prstGeom>
          <a:noFill/>
          <a:ln>
            <a:noFill/>
          </a:ln>
        </p:spPr>
        <p:txBody>
          <a:bodyPr anchorCtr="0" anchor="t" bIns="0" lIns="0" spcFirstLastPara="1" rIns="0" wrap="square" tIns="167625">
            <a:spAutoFit/>
          </a:bodyPr>
          <a:lstStyle/>
          <a:p>
            <a:pPr indent="0" lvl="0" marL="0" rtl="0" algn="l">
              <a:lnSpc>
                <a:spcPct val="100000"/>
              </a:lnSpc>
              <a:spcBef>
                <a:spcPts val="0"/>
              </a:spcBef>
              <a:spcAft>
                <a:spcPts val="0"/>
              </a:spcAft>
              <a:buNone/>
            </a:pPr>
            <a:r>
              <a:rPr lang="en-US" sz="1700"/>
              <a:t>Time Series Analysis</a:t>
            </a:r>
            <a:endParaRPr sz="1700"/>
          </a:p>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Enables lending decisions aligned with economic trends in each country</a:t>
            </a:r>
            <a:endParaRPr sz="1400"/>
          </a:p>
        </p:txBody>
      </p:sp>
      <p:sp>
        <p:nvSpPr>
          <p:cNvPr id="183" name="Google Shape;183;p9"/>
          <p:cNvSpPr/>
          <p:nvPr/>
        </p:nvSpPr>
        <p:spPr>
          <a:xfrm>
            <a:off x="930300" y="3119500"/>
            <a:ext cx="3125851" cy="369570"/>
          </a:xfrm>
          <a:custGeom>
            <a:rect b="b" l="l" r="r" t="t"/>
            <a:pathLst>
              <a:path extrusionOk="0" h="369570" w="2070100">
                <a:moveTo>
                  <a:pt x="2008413" y="0"/>
                </a:moveTo>
                <a:lnTo>
                  <a:pt x="61555" y="0"/>
                </a:lnTo>
                <a:lnTo>
                  <a:pt x="37595" y="4837"/>
                </a:lnTo>
                <a:lnTo>
                  <a:pt x="18029" y="18029"/>
                </a:lnTo>
                <a:lnTo>
                  <a:pt x="4837" y="37595"/>
                </a:lnTo>
                <a:lnTo>
                  <a:pt x="0" y="61555"/>
                </a:lnTo>
                <a:lnTo>
                  <a:pt x="0" y="307776"/>
                </a:lnTo>
                <a:lnTo>
                  <a:pt x="4837" y="331737"/>
                </a:lnTo>
                <a:lnTo>
                  <a:pt x="18029" y="351303"/>
                </a:lnTo>
                <a:lnTo>
                  <a:pt x="37595" y="364495"/>
                </a:lnTo>
                <a:lnTo>
                  <a:pt x="61555" y="369332"/>
                </a:lnTo>
                <a:lnTo>
                  <a:pt x="2008413" y="369332"/>
                </a:lnTo>
                <a:lnTo>
                  <a:pt x="2032373" y="364495"/>
                </a:lnTo>
                <a:lnTo>
                  <a:pt x="2051939" y="351303"/>
                </a:lnTo>
                <a:lnTo>
                  <a:pt x="2065131" y="331737"/>
                </a:lnTo>
                <a:lnTo>
                  <a:pt x="2069969" y="307776"/>
                </a:lnTo>
                <a:lnTo>
                  <a:pt x="2069969" y="61555"/>
                </a:lnTo>
                <a:lnTo>
                  <a:pt x="2065131" y="37595"/>
                </a:lnTo>
                <a:lnTo>
                  <a:pt x="2051939" y="18029"/>
                </a:lnTo>
                <a:lnTo>
                  <a:pt x="2032373" y="4837"/>
                </a:lnTo>
                <a:lnTo>
                  <a:pt x="200841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 name="Google Shape;184;p9"/>
          <p:cNvSpPr txBox="1"/>
          <p:nvPr/>
        </p:nvSpPr>
        <p:spPr>
          <a:xfrm>
            <a:off x="991768" y="3181612"/>
            <a:ext cx="3048000" cy="730800"/>
          </a:xfrm>
          <a:prstGeom prst="rect">
            <a:avLst/>
          </a:prstGeom>
          <a:noFill/>
          <a:ln>
            <a:noFill/>
          </a:ln>
        </p:spPr>
        <p:txBody>
          <a:bodyPr anchorCtr="0" anchor="t" bIns="0" lIns="0" spcFirstLastPara="1" rIns="0" wrap="square" tIns="12700">
            <a:spAutoFit/>
          </a:bodyPr>
          <a:lstStyle/>
          <a:p>
            <a:pPr indent="0" lvl="0" marL="41275" rtl="0" algn="l">
              <a:lnSpc>
                <a:spcPct val="100000"/>
              </a:lnSpc>
              <a:spcBef>
                <a:spcPts val="0"/>
              </a:spcBef>
              <a:spcAft>
                <a:spcPts val="0"/>
              </a:spcAft>
              <a:buNone/>
            </a:pPr>
            <a:r>
              <a:rPr lang="en-US" sz="1300">
                <a:latin typeface="Microsoft JhengHei"/>
                <a:ea typeface="Microsoft JhengHei"/>
                <a:cs typeface="Microsoft JhengHei"/>
                <a:sym typeface="Microsoft JhengHei"/>
              </a:rPr>
              <a:t>②</a:t>
            </a:r>
            <a:r>
              <a:rPr lang="en-US" sz="1300">
                <a:solidFill>
                  <a:schemeClr val="dk1"/>
                </a:solidFill>
              </a:rPr>
              <a:t>Estimation of Low-Risk Customers</a:t>
            </a:r>
            <a:endParaRPr sz="1300">
              <a:latin typeface="Microsoft JhengHei"/>
              <a:ea typeface="Microsoft JhengHei"/>
              <a:cs typeface="Microsoft JhengHei"/>
              <a:sym typeface="Microsoft JhengHei"/>
            </a:endParaRPr>
          </a:p>
          <a:p>
            <a:pPr indent="0" lvl="0" marL="0" rtl="0" algn="l">
              <a:lnSpc>
                <a:spcPct val="115000"/>
              </a:lnSpc>
              <a:spcBef>
                <a:spcPts val="1200"/>
              </a:spcBef>
              <a:spcAft>
                <a:spcPts val="1200"/>
              </a:spcAft>
              <a:buNone/>
            </a:pPr>
            <a:r>
              <a:rPr lang="en-US" sz="1100">
                <a:solidFill>
                  <a:schemeClr val="dk1"/>
                </a:solidFill>
              </a:rPr>
              <a:t>Enables proactive approaches to “low-risk</a:t>
            </a:r>
            <a:r>
              <a:rPr lang="en-US" sz="1100">
                <a:solidFill>
                  <a:schemeClr val="dk1"/>
                </a:solidFill>
                <a:extLst>
                  <a:ext uri="http://customooxmlschemas.google.com/">
                    <go:slidesCustomData xmlns:go="http://customooxmlschemas.google.com/" textRoundtripDataId="13"/>
                  </a:ext>
                </a:extLst>
              </a:rPr>
              <a:t> customers</a:t>
            </a:r>
            <a:r>
              <a:rPr lang="en-US" sz="1100">
                <a:solidFill>
                  <a:schemeClr val="dk1"/>
                </a:solidFill>
              </a:rPr>
              <a:t>” with repayment capability</a:t>
            </a:r>
            <a:endParaRPr sz="1400">
              <a:latin typeface="Microsoft JhengHei"/>
              <a:ea typeface="Microsoft JhengHei"/>
              <a:cs typeface="Microsoft JhengHei"/>
              <a:sym typeface="Microsoft JhengHei"/>
            </a:endParaRPr>
          </a:p>
        </p:txBody>
      </p:sp>
      <p:sp>
        <p:nvSpPr>
          <p:cNvPr id="185" name="Google Shape;185;p9"/>
          <p:cNvSpPr/>
          <p:nvPr/>
        </p:nvSpPr>
        <p:spPr>
          <a:xfrm>
            <a:off x="4738975" y="3119160"/>
            <a:ext cx="2306320" cy="369570"/>
          </a:xfrm>
          <a:custGeom>
            <a:rect b="b" l="l" r="r" t="t"/>
            <a:pathLst>
              <a:path extrusionOk="0" h="369570" w="2306320">
                <a:moveTo>
                  <a:pt x="2244323" y="0"/>
                </a:moveTo>
                <a:lnTo>
                  <a:pt x="61555" y="0"/>
                </a:lnTo>
                <a:lnTo>
                  <a:pt x="37595" y="4837"/>
                </a:lnTo>
                <a:lnTo>
                  <a:pt x="18029" y="18029"/>
                </a:lnTo>
                <a:lnTo>
                  <a:pt x="4837" y="37595"/>
                </a:lnTo>
                <a:lnTo>
                  <a:pt x="0" y="61555"/>
                </a:lnTo>
                <a:lnTo>
                  <a:pt x="0" y="307776"/>
                </a:lnTo>
                <a:lnTo>
                  <a:pt x="4837" y="331737"/>
                </a:lnTo>
                <a:lnTo>
                  <a:pt x="18029" y="351304"/>
                </a:lnTo>
                <a:lnTo>
                  <a:pt x="37595" y="364496"/>
                </a:lnTo>
                <a:lnTo>
                  <a:pt x="61555" y="369333"/>
                </a:lnTo>
                <a:lnTo>
                  <a:pt x="2244323" y="369333"/>
                </a:lnTo>
                <a:lnTo>
                  <a:pt x="2268284" y="364496"/>
                </a:lnTo>
                <a:lnTo>
                  <a:pt x="2287850" y="351304"/>
                </a:lnTo>
                <a:lnTo>
                  <a:pt x="2301042" y="331737"/>
                </a:lnTo>
                <a:lnTo>
                  <a:pt x="2305879" y="307776"/>
                </a:lnTo>
                <a:lnTo>
                  <a:pt x="2305879" y="61555"/>
                </a:lnTo>
                <a:lnTo>
                  <a:pt x="2301042" y="37595"/>
                </a:lnTo>
                <a:lnTo>
                  <a:pt x="2287850" y="18029"/>
                </a:lnTo>
                <a:lnTo>
                  <a:pt x="2268284" y="4837"/>
                </a:lnTo>
                <a:lnTo>
                  <a:pt x="224432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6" name="Google Shape;186;p9"/>
          <p:cNvSpPr txBox="1"/>
          <p:nvPr/>
        </p:nvSpPr>
        <p:spPr>
          <a:xfrm>
            <a:off x="4817715" y="3168908"/>
            <a:ext cx="2692500" cy="761700"/>
          </a:xfrm>
          <a:prstGeom prst="rect">
            <a:avLst/>
          </a:prstGeom>
          <a:noFill/>
          <a:ln>
            <a:noFill/>
          </a:ln>
        </p:spPr>
        <p:txBody>
          <a:bodyPr anchorCtr="0" anchor="t" bIns="0" lIns="0" spcFirstLastPara="1" rIns="0" wrap="square" tIns="12700">
            <a:spAutoFit/>
          </a:bodyPr>
          <a:lstStyle/>
          <a:p>
            <a:pPr indent="0" lvl="0" marL="57785" rtl="0" algn="l">
              <a:lnSpc>
                <a:spcPct val="100000"/>
              </a:lnSpc>
              <a:spcBef>
                <a:spcPts val="0"/>
              </a:spcBef>
              <a:spcAft>
                <a:spcPts val="0"/>
              </a:spcAft>
              <a:buNone/>
            </a:pPr>
            <a:r>
              <a:rPr lang="en-US" sz="1500"/>
              <a:t>Model Updates</a:t>
            </a:r>
            <a:endParaRPr sz="1500"/>
          </a:p>
          <a:p>
            <a:pPr indent="0" lvl="0" marL="0" rtl="0" algn="l">
              <a:lnSpc>
                <a:spcPct val="115000"/>
              </a:lnSpc>
              <a:spcBef>
                <a:spcPts val="1200"/>
              </a:spcBef>
              <a:spcAft>
                <a:spcPts val="1200"/>
              </a:spcAft>
              <a:buNone/>
            </a:pPr>
            <a:r>
              <a:rPr lang="en-US" sz="1100">
                <a:solidFill>
                  <a:schemeClr val="dk1"/>
                </a:solidFill>
              </a:rPr>
              <a:t>Through various analyses and training, further accuracy improvement is possible</a:t>
            </a:r>
            <a:endParaRPr sz="1400"/>
          </a:p>
        </p:txBody>
      </p:sp>
      <p:grpSp>
        <p:nvGrpSpPr>
          <p:cNvPr id="187" name="Google Shape;187;p9"/>
          <p:cNvGrpSpPr/>
          <p:nvPr/>
        </p:nvGrpSpPr>
        <p:grpSpPr>
          <a:xfrm>
            <a:off x="1080843" y="4861559"/>
            <a:ext cx="2488365" cy="1235185"/>
            <a:chOff x="1080843" y="4861559"/>
            <a:chExt cx="2488365" cy="1235185"/>
          </a:xfrm>
        </p:grpSpPr>
        <p:pic>
          <p:nvPicPr>
            <p:cNvPr id="188" name="Google Shape;188;p9"/>
            <p:cNvPicPr preferRelativeResize="0"/>
            <p:nvPr/>
          </p:nvPicPr>
          <p:blipFill rotWithShape="1">
            <a:blip r:embed="rId3">
              <a:alphaModFix/>
            </a:blip>
            <a:srcRect b="0" l="0" r="0" t="0"/>
            <a:stretch/>
          </p:blipFill>
          <p:spPr>
            <a:xfrm>
              <a:off x="2651760" y="4861559"/>
              <a:ext cx="917448" cy="917447"/>
            </a:xfrm>
            <a:prstGeom prst="rect">
              <a:avLst/>
            </a:prstGeom>
            <a:noFill/>
            <a:ln>
              <a:noFill/>
            </a:ln>
          </p:spPr>
        </p:pic>
        <p:sp>
          <p:nvSpPr>
            <p:cNvPr id="189" name="Google Shape;189;p9"/>
            <p:cNvSpPr/>
            <p:nvPr/>
          </p:nvSpPr>
          <p:spPr>
            <a:xfrm>
              <a:off x="1080843" y="5758924"/>
              <a:ext cx="2115185" cy="337820"/>
            </a:xfrm>
            <a:custGeom>
              <a:rect b="b" l="l" r="r" t="t"/>
              <a:pathLst>
                <a:path extrusionOk="0" h="337820" w="2115185">
                  <a:moveTo>
                    <a:pt x="0" y="168795"/>
                  </a:moveTo>
                  <a:lnTo>
                    <a:pt x="168794" y="0"/>
                  </a:lnTo>
                  <a:lnTo>
                    <a:pt x="1946253" y="0"/>
                  </a:lnTo>
                  <a:lnTo>
                    <a:pt x="2115047" y="168795"/>
                  </a:lnTo>
                  <a:lnTo>
                    <a:pt x="1946253" y="337590"/>
                  </a:lnTo>
                  <a:lnTo>
                    <a:pt x="168794" y="337590"/>
                  </a:lnTo>
                  <a:lnTo>
                    <a:pt x="0" y="168795"/>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190" name="Google Shape;190;p9"/>
          <p:cNvPicPr preferRelativeResize="0"/>
          <p:nvPr/>
        </p:nvPicPr>
        <p:blipFill rotWithShape="1">
          <a:blip r:embed="rId4">
            <a:alphaModFix/>
          </a:blip>
          <a:srcRect b="0" l="0" r="0" t="0"/>
          <a:stretch/>
        </p:blipFill>
        <p:spPr>
          <a:xfrm>
            <a:off x="835152" y="4989576"/>
            <a:ext cx="661416" cy="661415"/>
          </a:xfrm>
          <a:prstGeom prst="rect">
            <a:avLst/>
          </a:prstGeom>
          <a:noFill/>
          <a:ln>
            <a:noFill/>
          </a:ln>
        </p:spPr>
      </p:pic>
      <p:sp>
        <p:nvSpPr>
          <p:cNvPr id="191" name="Google Shape;191;p9"/>
          <p:cNvSpPr/>
          <p:nvPr/>
        </p:nvSpPr>
        <p:spPr>
          <a:xfrm>
            <a:off x="1589449" y="5154377"/>
            <a:ext cx="751840" cy="76200"/>
          </a:xfrm>
          <a:custGeom>
            <a:rect b="b" l="l" r="r" t="t"/>
            <a:pathLst>
              <a:path extrusionOk="0" h="76200" w="751839">
                <a:moveTo>
                  <a:pt x="675473" y="0"/>
                </a:moveTo>
                <a:lnTo>
                  <a:pt x="675473" y="76200"/>
                </a:lnTo>
                <a:lnTo>
                  <a:pt x="729448" y="49212"/>
                </a:lnTo>
                <a:lnTo>
                  <a:pt x="688173" y="49212"/>
                </a:lnTo>
                <a:lnTo>
                  <a:pt x="688173" y="26987"/>
                </a:lnTo>
                <a:lnTo>
                  <a:pt x="729448" y="26987"/>
                </a:lnTo>
                <a:lnTo>
                  <a:pt x="675473" y="0"/>
                </a:lnTo>
                <a:close/>
              </a:path>
              <a:path extrusionOk="0" h="76200" w="751839">
                <a:moveTo>
                  <a:pt x="675473" y="26987"/>
                </a:moveTo>
                <a:lnTo>
                  <a:pt x="0" y="26987"/>
                </a:lnTo>
                <a:lnTo>
                  <a:pt x="0" y="49212"/>
                </a:lnTo>
                <a:lnTo>
                  <a:pt x="675473" y="49212"/>
                </a:lnTo>
                <a:lnTo>
                  <a:pt x="675473" y="26987"/>
                </a:lnTo>
                <a:close/>
              </a:path>
              <a:path extrusionOk="0" h="76200" w="751839">
                <a:moveTo>
                  <a:pt x="729448" y="26987"/>
                </a:moveTo>
                <a:lnTo>
                  <a:pt x="688173" y="26987"/>
                </a:lnTo>
                <a:lnTo>
                  <a:pt x="688173" y="49212"/>
                </a:lnTo>
                <a:lnTo>
                  <a:pt x="729448" y="49212"/>
                </a:lnTo>
                <a:lnTo>
                  <a:pt x="751673" y="38100"/>
                </a:lnTo>
                <a:lnTo>
                  <a:pt x="729448" y="26987"/>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2" name="Google Shape;192;p9"/>
          <p:cNvSpPr/>
          <p:nvPr/>
        </p:nvSpPr>
        <p:spPr>
          <a:xfrm>
            <a:off x="1580669" y="5323770"/>
            <a:ext cx="769620" cy="76200"/>
          </a:xfrm>
          <a:custGeom>
            <a:rect b="b" l="l" r="r" t="t"/>
            <a:pathLst>
              <a:path extrusionOk="0" h="76200" w="769619">
                <a:moveTo>
                  <a:pt x="76200" y="0"/>
                </a:moveTo>
                <a:lnTo>
                  <a:pt x="0" y="38101"/>
                </a:lnTo>
                <a:lnTo>
                  <a:pt x="76200" y="76200"/>
                </a:lnTo>
                <a:lnTo>
                  <a:pt x="76200" y="49212"/>
                </a:lnTo>
                <a:lnTo>
                  <a:pt x="63500" y="49212"/>
                </a:lnTo>
                <a:lnTo>
                  <a:pt x="63500" y="26987"/>
                </a:lnTo>
                <a:lnTo>
                  <a:pt x="76200" y="26987"/>
                </a:lnTo>
                <a:lnTo>
                  <a:pt x="76200" y="0"/>
                </a:lnTo>
                <a:close/>
              </a:path>
              <a:path extrusionOk="0" h="76200" w="769619">
                <a:moveTo>
                  <a:pt x="76200" y="26987"/>
                </a:moveTo>
                <a:lnTo>
                  <a:pt x="63500" y="26987"/>
                </a:lnTo>
                <a:lnTo>
                  <a:pt x="63500" y="49212"/>
                </a:lnTo>
                <a:lnTo>
                  <a:pt x="76200" y="49212"/>
                </a:lnTo>
                <a:lnTo>
                  <a:pt x="76200" y="26987"/>
                </a:lnTo>
                <a:close/>
              </a:path>
              <a:path extrusionOk="0" h="76200" w="769619">
                <a:moveTo>
                  <a:pt x="769232" y="26987"/>
                </a:moveTo>
                <a:lnTo>
                  <a:pt x="76200" y="26987"/>
                </a:lnTo>
                <a:lnTo>
                  <a:pt x="76200" y="49212"/>
                </a:lnTo>
                <a:lnTo>
                  <a:pt x="769232" y="49212"/>
                </a:lnTo>
                <a:lnTo>
                  <a:pt x="769232" y="26987"/>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9"/>
          <p:cNvSpPr txBox="1"/>
          <p:nvPr/>
        </p:nvSpPr>
        <p:spPr>
          <a:xfrm>
            <a:off x="1175667" y="4894511"/>
            <a:ext cx="1648500" cy="69000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120"/>
              </a:spcBef>
              <a:spcAft>
                <a:spcPts val="0"/>
              </a:spcAft>
              <a:buNone/>
            </a:pPr>
            <a:r>
              <a:rPr lang="en-US" sz="1100"/>
              <a:t>Loan Application</a:t>
            </a:r>
            <a:br>
              <a:rPr lang="en-US" sz="1100"/>
            </a:br>
            <a:br>
              <a:rPr lang="en-US" sz="1100"/>
            </a:br>
            <a:endParaRPr sz="1100"/>
          </a:p>
          <a:p>
            <a:pPr indent="0" lvl="0" marL="0" marR="37465" rtl="0" algn="ctr">
              <a:lnSpc>
                <a:spcPct val="100000"/>
              </a:lnSpc>
              <a:spcBef>
                <a:spcPts val="0"/>
              </a:spcBef>
              <a:spcAft>
                <a:spcPts val="0"/>
              </a:spcAft>
              <a:buNone/>
            </a:pPr>
            <a:r>
              <a:rPr lang="en-US" sz="1100"/>
              <a:t>Loan</a:t>
            </a:r>
            <a:endParaRPr sz="1100"/>
          </a:p>
        </p:txBody>
      </p:sp>
      <p:sp>
        <p:nvSpPr>
          <p:cNvPr id="194" name="Google Shape;194;p9"/>
          <p:cNvSpPr txBox="1"/>
          <p:nvPr/>
        </p:nvSpPr>
        <p:spPr>
          <a:xfrm>
            <a:off x="1286419" y="5751075"/>
            <a:ext cx="17970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Microsoft JhengHei"/>
                <a:ea typeface="Microsoft JhengHei"/>
                <a:cs typeface="Microsoft JhengHei"/>
                <a:sym typeface="Microsoft JhengHei"/>
              </a:rPr>
              <a:t>Complete in </a:t>
            </a:r>
            <a:r>
              <a:rPr lang="en-US" sz="1800">
                <a:latin typeface="Microsoft JhengHei"/>
                <a:ea typeface="Microsoft JhengHei"/>
                <a:cs typeface="Microsoft JhengHei"/>
                <a:sym typeface="Microsoft JhengHei"/>
              </a:rPr>
              <a:t>1 min</a:t>
            </a:r>
            <a:endParaRPr sz="1800">
              <a:latin typeface="Microsoft JhengHei"/>
              <a:ea typeface="Microsoft JhengHei"/>
              <a:cs typeface="Microsoft JhengHei"/>
              <a:sym typeface="Microsoft JhengHei"/>
            </a:endParaRPr>
          </a:p>
        </p:txBody>
      </p:sp>
      <p:pic>
        <p:nvPicPr>
          <p:cNvPr id="195" name="Google Shape;195;p9"/>
          <p:cNvPicPr preferRelativeResize="0"/>
          <p:nvPr/>
        </p:nvPicPr>
        <p:blipFill rotWithShape="1">
          <a:blip r:embed="rId5">
            <a:alphaModFix/>
          </a:blip>
          <a:srcRect b="0" l="0" r="0" t="0"/>
          <a:stretch/>
        </p:blipFill>
        <p:spPr>
          <a:xfrm>
            <a:off x="4882103" y="4475600"/>
            <a:ext cx="3019910" cy="2132811"/>
          </a:xfrm>
          <a:prstGeom prst="rect">
            <a:avLst/>
          </a:prstGeom>
          <a:noFill/>
          <a:ln>
            <a:noFill/>
          </a:ln>
        </p:spPr>
      </p:pic>
      <p:sp>
        <p:nvSpPr>
          <p:cNvPr id="196" name="Google Shape;196;p9"/>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342474" y="201900"/>
            <a:ext cx="8659800" cy="10326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a:latin typeface="Arial"/>
                <a:ea typeface="Arial"/>
                <a:cs typeface="Arial"/>
                <a:sym typeface="Arial"/>
              </a:rPr>
              <a:t> ①</a:t>
            </a:r>
            <a:r>
              <a:rPr lang="en-US" sz="3000">
                <a:latin typeface="Arial"/>
                <a:ea typeface="Arial"/>
                <a:cs typeface="Arial"/>
                <a:sym typeface="Arial"/>
              </a:rPr>
              <a:t>Risk Management Using Credits Scores</a:t>
            </a:r>
            <a:br>
              <a:rPr lang="en-US">
                <a:latin typeface="Arial"/>
                <a:ea typeface="Arial"/>
                <a:cs typeface="Arial"/>
                <a:sym typeface="Arial"/>
              </a:rPr>
            </a:br>
            <a:r>
              <a:rPr lang="en-US">
                <a:latin typeface="Arial"/>
                <a:ea typeface="Arial"/>
                <a:cs typeface="Arial"/>
                <a:sym typeface="Arial"/>
              </a:rPr>
              <a:t>	</a:t>
            </a:r>
            <a:r>
              <a:rPr lang="en-US" sz="1400" u="none">
                <a:latin typeface="Arial"/>
                <a:ea typeface="Arial"/>
                <a:cs typeface="Arial"/>
                <a:sym typeface="Arial"/>
              </a:rPr>
              <a:t>By utilizing AI, fast and accurate lending becomes possible.</a:t>
            </a:r>
            <a:endParaRPr sz="2100">
              <a:latin typeface="Arial"/>
              <a:ea typeface="Arial"/>
              <a:cs typeface="Arial"/>
              <a:sym typeface="Arial"/>
            </a:endParaRPr>
          </a:p>
        </p:txBody>
      </p:sp>
      <p:sp>
        <p:nvSpPr>
          <p:cNvPr id="202" name="Google Shape;202;p10"/>
          <p:cNvSpPr txBox="1"/>
          <p:nvPr/>
        </p:nvSpPr>
        <p:spPr>
          <a:xfrm>
            <a:off x="4759983" y="1545850"/>
            <a:ext cx="2636700" cy="2592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600">
                <a:solidFill>
                  <a:schemeClr val="dk1"/>
                </a:solidFill>
              </a:rPr>
              <a:t>Loan Process Workflow</a:t>
            </a:r>
            <a:endParaRPr sz="1600">
              <a:latin typeface="Microsoft JhengHei"/>
              <a:ea typeface="Microsoft JhengHei"/>
              <a:cs typeface="Microsoft JhengHei"/>
              <a:sym typeface="Microsoft JhengHei"/>
            </a:endParaRPr>
          </a:p>
        </p:txBody>
      </p:sp>
      <p:sp>
        <p:nvSpPr>
          <p:cNvPr id="203" name="Google Shape;203;p10"/>
          <p:cNvSpPr txBox="1"/>
          <p:nvPr/>
        </p:nvSpPr>
        <p:spPr>
          <a:xfrm>
            <a:off x="4714199" y="1940081"/>
            <a:ext cx="2425800" cy="366600"/>
          </a:xfrm>
          <a:prstGeom prst="rect">
            <a:avLst/>
          </a:prstGeom>
          <a:solidFill>
            <a:srgbClr val="DAE3F3"/>
          </a:solidFill>
          <a:ln cap="flat" cmpd="sng" w="12700">
            <a:solidFill>
              <a:srgbClr val="B4C7E7"/>
            </a:solidFill>
            <a:prstDash val="solid"/>
            <a:round/>
            <a:headEnd len="sm" w="sm" type="none"/>
            <a:tailEnd len="sm" w="sm" type="none"/>
          </a:ln>
        </p:spPr>
        <p:txBody>
          <a:bodyPr anchorCtr="0" anchor="t" bIns="0" lIns="0" spcFirstLastPara="1" rIns="0" wrap="square" tIns="2525">
            <a:spAutoFit/>
          </a:bodyPr>
          <a:lstStyle/>
          <a:p>
            <a:pPr indent="0" lvl="0" marL="0" rtl="0" algn="ctr">
              <a:lnSpc>
                <a:spcPct val="115000"/>
              </a:lnSpc>
              <a:spcBef>
                <a:spcPts val="1200"/>
              </a:spcBef>
              <a:spcAft>
                <a:spcPts val="1200"/>
              </a:spcAft>
              <a:buNone/>
            </a:pPr>
            <a:r>
              <a:rPr lang="en-US" sz="1100">
                <a:solidFill>
                  <a:schemeClr val="dk1"/>
                </a:solidFill>
              </a:rPr>
              <a:t>Enter required information for the application online</a:t>
            </a:r>
            <a:endParaRPr sz="1200">
              <a:latin typeface="Microsoft JhengHei"/>
              <a:ea typeface="Microsoft JhengHei"/>
              <a:cs typeface="Microsoft JhengHei"/>
              <a:sym typeface="Microsoft JhengHei"/>
            </a:endParaRPr>
          </a:p>
        </p:txBody>
      </p:sp>
      <p:grpSp>
        <p:nvGrpSpPr>
          <p:cNvPr id="204" name="Google Shape;204;p10"/>
          <p:cNvGrpSpPr/>
          <p:nvPr/>
        </p:nvGrpSpPr>
        <p:grpSpPr>
          <a:xfrm>
            <a:off x="4829740" y="2691171"/>
            <a:ext cx="2194560" cy="493395"/>
            <a:chOff x="4829740" y="2691171"/>
            <a:chExt cx="2194560" cy="493395"/>
          </a:xfrm>
        </p:grpSpPr>
        <p:sp>
          <p:nvSpPr>
            <p:cNvPr id="205" name="Google Shape;205;p10"/>
            <p:cNvSpPr/>
            <p:nvPr/>
          </p:nvSpPr>
          <p:spPr>
            <a:xfrm>
              <a:off x="4829740" y="2691171"/>
              <a:ext cx="2194560" cy="493395"/>
            </a:xfrm>
            <a:custGeom>
              <a:rect b="b" l="l" r="r" t="t"/>
              <a:pathLst>
                <a:path extrusionOk="0" h="493394" w="2194559">
                  <a:moveTo>
                    <a:pt x="1097031" y="0"/>
                  </a:moveTo>
                  <a:lnTo>
                    <a:pt x="0" y="246650"/>
                  </a:lnTo>
                  <a:lnTo>
                    <a:pt x="1097031" y="493301"/>
                  </a:lnTo>
                  <a:lnTo>
                    <a:pt x="2194063" y="246650"/>
                  </a:lnTo>
                  <a:lnTo>
                    <a:pt x="1097031"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6" name="Google Shape;206;p10"/>
            <p:cNvSpPr/>
            <p:nvPr/>
          </p:nvSpPr>
          <p:spPr>
            <a:xfrm>
              <a:off x="4829740" y="2691171"/>
              <a:ext cx="2194560" cy="493395"/>
            </a:xfrm>
            <a:custGeom>
              <a:rect b="b" l="l" r="r" t="t"/>
              <a:pathLst>
                <a:path extrusionOk="0" h="493394" w="2194559">
                  <a:moveTo>
                    <a:pt x="0" y="246650"/>
                  </a:moveTo>
                  <a:lnTo>
                    <a:pt x="1097032" y="0"/>
                  </a:lnTo>
                  <a:lnTo>
                    <a:pt x="2194063" y="246650"/>
                  </a:lnTo>
                  <a:lnTo>
                    <a:pt x="1097032" y="493301"/>
                  </a:lnTo>
                  <a:lnTo>
                    <a:pt x="0" y="246650"/>
                  </a:lnTo>
                  <a:close/>
                </a:path>
              </a:pathLst>
            </a:custGeom>
            <a:noFill/>
            <a:ln cap="flat" cmpd="sng" w="12700">
              <a:solidFill>
                <a:srgbClr val="B4C7E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7" name="Google Shape;207;p10"/>
          <p:cNvSpPr txBox="1"/>
          <p:nvPr/>
        </p:nvSpPr>
        <p:spPr>
          <a:xfrm>
            <a:off x="5366200" y="4146050"/>
            <a:ext cx="1236600" cy="279000"/>
          </a:xfrm>
          <a:prstGeom prst="rect">
            <a:avLst/>
          </a:prstGeom>
          <a:solidFill>
            <a:srgbClr val="DAE3F3"/>
          </a:solidFill>
          <a:ln cap="flat" cmpd="sng" w="12700">
            <a:solidFill>
              <a:srgbClr val="B4C7E7"/>
            </a:solidFill>
            <a:prstDash val="solid"/>
            <a:round/>
            <a:headEnd len="sm" w="sm" type="none"/>
            <a:tailEnd len="sm" w="sm" type="none"/>
          </a:ln>
        </p:spPr>
        <p:txBody>
          <a:bodyPr anchorCtr="0" anchor="t" bIns="0" lIns="0" spcFirstLastPara="1" rIns="0" wrap="square" tIns="93325">
            <a:spAutoFit/>
          </a:bodyPr>
          <a:lstStyle/>
          <a:p>
            <a:pPr indent="0" lvl="0" marL="0" rtl="0" algn="ctr">
              <a:lnSpc>
                <a:spcPct val="100000"/>
              </a:lnSpc>
              <a:spcBef>
                <a:spcPts val="0"/>
              </a:spcBef>
              <a:spcAft>
                <a:spcPts val="0"/>
              </a:spcAft>
              <a:buNone/>
            </a:pPr>
            <a:r>
              <a:rPr lang="en-US" sz="1200">
                <a:latin typeface="Microsoft JhengHei"/>
                <a:ea typeface="Microsoft JhengHei"/>
                <a:cs typeface="Microsoft JhengHei"/>
                <a:sym typeface="Microsoft JhengHei"/>
              </a:rPr>
              <a:t>Loan Approved</a:t>
            </a:r>
            <a:endParaRPr sz="1200">
              <a:latin typeface="Microsoft JhengHei"/>
              <a:ea typeface="Microsoft JhengHei"/>
              <a:cs typeface="Microsoft JhengHei"/>
              <a:sym typeface="Microsoft JhengHei"/>
            </a:endParaRPr>
          </a:p>
        </p:txBody>
      </p:sp>
      <p:grpSp>
        <p:nvGrpSpPr>
          <p:cNvPr id="208" name="Google Shape;208;p10"/>
          <p:cNvGrpSpPr/>
          <p:nvPr/>
        </p:nvGrpSpPr>
        <p:grpSpPr>
          <a:xfrm>
            <a:off x="6602879" y="3283051"/>
            <a:ext cx="2194560" cy="493395"/>
            <a:chOff x="6602879" y="3283051"/>
            <a:chExt cx="2194560" cy="493395"/>
          </a:xfrm>
        </p:grpSpPr>
        <p:sp>
          <p:nvSpPr>
            <p:cNvPr id="209" name="Google Shape;209;p10"/>
            <p:cNvSpPr/>
            <p:nvPr/>
          </p:nvSpPr>
          <p:spPr>
            <a:xfrm>
              <a:off x="6602879" y="3283051"/>
              <a:ext cx="2194560" cy="493395"/>
            </a:xfrm>
            <a:custGeom>
              <a:rect b="b" l="l" r="r" t="t"/>
              <a:pathLst>
                <a:path extrusionOk="0" h="493395" w="2194559">
                  <a:moveTo>
                    <a:pt x="1097032" y="0"/>
                  </a:moveTo>
                  <a:lnTo>
                    <a:pt x="0" y="246650"/>
                  </a:lnTo>
                  <a:lnTo>
                    <a:pt x="1097032" y="493301"/>
                  </a:lnTo>
                  <a:lnTo>
                    <a:pt x="2194063" y="246650"/>
                  </a:lnTo>
                  <a:lnTo>
                    <a:pt x="1097032"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0" name="Google Shape;210;p10"/>
            <p:cNvSpPr/>
            <p:nvPr/>
          </p:nvSpPr>
          <p:spPr>
            <a:xfrm>
              <a:off x="6602879" y="3283051"/>
              <a:ext cx="2194560" cy="493395"/>
            </a:xfrm>
            <a:custGeom>
              <a:rect b="b" l="l" r="r" t="t"/>
              <a:pathLst>
                <a:path extrusionOk="0" h="493395" w="2194559">
                  <a:moveTo>
                    <a:pt x="0" y="246650"/>
                  </a:moveTo>
                  <a:lnTo>
                    <a:pt x="1097032" y="0"/>
                  </a:lnTo>
                  <a:lnTo>
                    <a:pt x="2194063" y="246650"/>
                  </a:lnTo>
                  <a:lnTo>
                    <a:pt x="1097032" y="493301"/>
                  </a:lnTo>
                  <a:lnTo>
                    <a:pt x="0" y="246650"/>
                  </a:lnTo>
                  <a:close/>
                </a:path>
              </a:pathLst>
            </a:custGeom>
            <a:noFill/>
            <a:ln cap="flat" cmpd="sng" w="12700">
              <a:solidFill>
                <a:srgbClr val="B4C7E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1" name="Google Shape;211;p10"/>
          <p:cNvSpPr txBox="1"/>
          <p:nvPr/>
        </p:nvSpPr>
        <p:spPr>
          <a:xfrm>
            <a:off x="7044958" y="4156487"/>
            <a:ext cx="1447800" cy="276300"/>
          </a:xfrm>
          <a:prstGeom prst="rect">
            <a:avLst/>
          </a:prstGeom>
          <a:solidFill>
            <a:srgbClr val="DAE3F3"/>
          </a:solidFill>
          <a:ln cap="flat" cmpd="sng" w="12700">
            <a:solidFill>
              <a:srgbClr val="B4C7E7"/>
            </a:solidFill>
            <a:prstDash val="solid"/>
            <a:round/>
            <a:headEnd len="sm" w="sm" type="none"/>
            <a:tailEnd len="sm" w="sm" type="none"/>
          </a:ln>
        </p:spPr>
        <p:txBody>
          <a:bodyPr anchorCtr="0" anchor="t" bIns="0" lIns="0" spcFirstLastPara="1" rIns="0" wrap="square" tIns="90800">
            <a:spAutoFit/>
          </a:bodyPr>
          <a:lstStyle/>
          <a:p>
            <a:pPr indent="0" lvl="0" marL="0" rtl="0" algn="ctr">
              <a:lnSpc>
                <a:spcPct val="100000"/>
              </a:lnSpc>
              <a:spcBef>
                <a:spcPts val="0"/>
              </a:spcBef>
              <a:spcAft>
                <a:spcPts val="0"/>
              </a:spcAft>
              <a:buNone/>
            </a:pPr>
            <a:r>
              <a:rPr lang="en-US" sz="1200">
                <a:latin typeface="Microsoft JhengHei"/>
                <a:ea typeface="Microsoft JhengHei"/>
                <a:cs typeface="Microsoft JhengHei"/>
                <a:sym typeface="Microsoft JhengHei"/>
              </a:rPr>
              <a:t>Loan Not Approved</a:t>
            </a:r>
            <a:endParaRPr sz="1200">
              <a:latin typeface="Microsoft JhengHei"/>
              <a:ea typeface="Microsoft JhengHei"/>
              <a:cs typeface="Microsoft JhengHei"/>
              <a:sym typeface="Microsoft JhengHei"/>
            </a:endParaRPr>
          </a:p>
        </p:txBody>
      </p:sp>
      <p:grpSp>
        <p:nvGrpSpPr>
          <p:cNvPr id="212" name="Google Shape;212;p10"/>
          <p:cNvGrpSpPr/>
          <p:nvPr/>
        </p:nvGrpSpPr>
        <p:grpSpPr>
          <a:xfrm>
            <a:off x="5888672" y="2358631"/>
            <a:ext cx="1849755" cy="1787657"/>
            <a:chOff x="5888672" y="2358631"/>
            <a:chExt cx="1849755" cy="1787657"/>
          </a:xfrm>
        </p:grpSpPr>
        <p:sp>
          <p:nvSpPr>
            <p:cNvPr id="213" name="Google Shape;213;p10"/>
            <p:cNvSpPr/>
            <p:nvPr/>
          </p:nvSpPr>
          <p:spPr>
            <a:xfrm>
              <a:off x="5888672" y="2358631"/>
              <a:ext cx="1849755" cy="1787525"/>
            </a:xfrm>
            <a:custGeom>
              <a:rect b="b" l="l" r="r" t="t"/>
              <a:pathLst>
                <a:path extrusionOk="0" h="1787525" w="1849754">
                  <a:moveTo>
                    <a:pt x="76200" y="256349"/>
                  </a:moveTo>
                  <a:lnTo>
                    <a:pt x="41275" y="256349"/>
                  </a:lnTo>
                  <a:lnTo>
                    <a:pt x="41275" y="0"/>
                  </a:lnTo>
                  <a:lnTo>
                    <a:pt x="34925" y="0"/>
                  </a:lnTo>
                  <a:lnTo>
                    <a:pt x="34925" y="256349"/>
                  </a:lnTo>
                  <a:lnTo>
                    <a:pt x="0" y="256349"/>
                  </a:lnTo>
                  <a:lnTo>
                    <a:pt x="38100" y="332549"/>
                  </a:lnTo>
                  <a:lnTo>
                    <a:pt x="69850" y="269049"/>
                  </a:lnTo>
                  <a:lnTo>
                    <a:pt x="76200" y="256349"/>
                  </a:lnTo>
                  <a:close/>
                </a:path>
                <a:path extrusionOk="0" h="1787525" w="1849754">
                  <a:moveTo>
                    <a:pt x="76301" y="1711274"/>
                  </a:moveTo>
                  <a:lnTo>
                    <a:pt x="41376" y="1711274"/>
                  </a:lnTo>
                  <a:lnTo>
                    <a:pt x="41351" y="1723936"/>
                  </a:lnTo>
                  <a:lnTo>
                    <a:pt x="42583" y="825855"/>
                  </a:lnTo>
                  <a:lnTo>
                    <a:pt x="36233" y="825855"/>
                  </a:lnTo>
                  <a:lnTo>
                    <a:pt x="35026" y="1711274"/>
                  </a:lnTo>
                  <a:lnTo>
                    <a:pt x="152" y="1711274"/>
                  </a:lnTo>
                  <a:lnTo>
                    <a:pt x="38087" y="1787423"/>
                  </a:lnTo>
                  <a:lnTo>
                    <a:pt x="69951" y="1723936"/>
                  </a:lnTo>
                  <a:lnTo>
                    <a:pt x="76301" y="1711274"/>
                  </a:lnTo>
                  <a:close/>
                </a:path>
                <a:path extrusionOk="0" h="1787525" w="1849754">
                  <a:moveTo>
                    <a:pt x="1849335" y="1704505"/>
                  </a:moveTo>
                  <a:lnTo>
                    <a:pt x="1814410" y="1704505"/>
                  </a:lnTo>
                  <a:lnTo>
                    <a:pt x="1814410" y="1417726"/>
                  </a:lnTo>
                  <a:lnTo>
                    <a:pt x="1808060" y="1417726"/>
                  </a:lnTo>
                  <a:lnTo>
                    <a:pt x="1808060" y="1704505"/>
                  </a:lnTo>
                  <a:lnTo>
                    <a:pt x="1773135" y="1704505"/>
                  </a:lnTo>
                  <a:lnTo>
                    <a:pt x="1811235" y="1780705"/>
                  </a:lnTo>
                  <a:lnTo>
                    <a:pt x="1842985" y="1717205"/>
                  </a:lnTo>
                  <a:lnTo>
                    <a:pt x="1849335" y="1704505"/>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4" name="Google Shape;214;p10"/>
            <p:cNvSpPr/>
            <p:nvPr/>
          </p:nvSpPr>
          <p:spPr>
            <a:xfrm>
              <a:off x="7023802" y="2931497"/>
              <a:ext cx="714375" cy="351790"/>
            </a:xfrm>
            <a:custGeom>
              <a:rect b="b" l="l" r="r" t="t"/>
              <a:pathLst>
                <a:path extrusionOk="0" h="351789" w="714375">
                  <a:moveTo>
                    <a:pt x="672933" y="275353"/>
                  </a:moveTo>
                  <a:lnTo>
                    <a:pt x="638008" y="275353"/>
                  </a:lnTo>
                  <a:lnTo>
                    <a:pt x="676108" y="351553"/>
                  </a:lnTo>
                  <a:lnTo>
                    <a:pt x="707858" y="288053"/>
                  </a:lnTo>
                  <a:lnTo>
                    <a:pt x="672933" y="288053"/>
                  </a:lnTo>
                  <a:lnTo>
                    <a:pt x="672933" y="275353"/>
                  </a:lnTo>
                  <a:close/>
                </a:path>
                <a:path extrusionOk="0" h="351789" w="714375">
                  <a:moveTo>
                    <a:pt x="672933" y="3175"/>
                  </a:moveTo>
                  <a:lnTo>
                    <a:pt x="672933" y="288053"/>
                  </a:lnTo>
                  <a:lnTo>
                    <a:pt x="679283" y="288053"/>
                  </a:lnTo>
                  <a:lnTo>
                    <a:pt x="679283" y="6350"/>
                  </a:lnTo>
                  <a:lnTo>
                    <a:pt x="676108" y="6350"/>
                  </a:lnTo>
                  <a:lnTo>
                    <a:pt x="672933" y="3175"/>
                  </a:lnTo>
                  <a:close/>
                </a:path>
                <a:path extrusionOk="0" h="351789" w="714375">
                  <a:moveTo>
                    <a:pt x="714208" y="275353"/>
                  </a:moveTo>
                  <a:lnTo>
                    <a:pt x="679283" y="275353"/>
                  </a:lnTo>
                  <a:lnTo>
                    <a:pt x="679283" y="288053"/>
                  </a:lnTo>
                  <a:lnTo>
                    <a:pt x="707858" y="288053"/>
                  </a:lnTo>
                  <a:lnTo>
                    <a:pt x="714208" y="275353"/>
                  </a:lnTo>
                  <a:close/>
                </a:path>
                <a:path extrusionOk="0" h="351789" w="714375">
                  <a:moveTo>
                    <a:pt x="679283" y="0"/>
                  </a:moveTo>
                  <a:lnTo>
                    <a:pt x="0" y="0"/>
                  </a:lnTo>
                  <a:lnTo>
                    <a:pt x="0" y="6350"/>
                  </a:lnTo>
                  <a:lnTo>
                    <a:pt x="672933" y="6350"/>
                  </a:lnTo>
                  <a:lnTo>
                    <a:pt x="672933" y="3175"/>
                  </a:lnTo>
                  <a:lnTo>
                    <a:pt x="679283" y="3175"/>
                  </a:lnTo>
                  <a:lnTo>
                    <a:pt x="679283" y="0"/>
                  </a:lnTo>
                  <a:close/>
                </a:path>
                <a:path extrusionOk="0" h="351789" w="714375">
                  <a:moveTo>
                    <a:pt x="679283" y="3175"/>
                  </a:moveTo>
                  <a:lnTo>
                    <a:pt x="672933" y="3175"/>
                  </a:lnTo>
                  <a:lnTo>
                    <a:pt x="676108" y="6350"/>
                  </a:lnTo>
                  <a:lnTo>
                    <a:pt x="679283" y="6350"/>
                  </a:lnTo>
                  <a:lnTo>
                    <a:pt x="679283" y="3175"/>
                  </a:lnTo>
                  <a:close/>
                </a:path>
              </a:pathLst>
            </a:custGeom>
            <a:solidFill>
              <a:srgbClr val="B4C7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5" name="Google Shape;215;p10"/>
            <p:cNvSpPr/>
            <p:nvPr/>
          </p:nvSpPr>
          <p:spPr>
            <a:xfrm>
              <a:off x="5888672" y="3526528"/>
              <a:ext cx="714375" cy="619760"/>
            </a:xfrm>
            <a:custGeom>
              <a:rect b="b" l="l" r="r" t="t"/>
              <a:pathLst>
                <a:path extrusionOk="0" h="619760" w="714375">
                  <a:moveTo>
                    <a:pt x="34925" y="543322"/>
                  </a:moveTo>
                  <a:lnTo>
                    <a:pt x="0" y="543322"/>
                  </a:lnTo>
                  <a:lnTo>
                    <a:pt x="38100" y="619522"/>
                  </a:lnTo>
                  <a:lnTo>
                    <a:pt x="69850" y="556022"/>
                  </a:lnTo>
                  <a:lnTo>
                    <a:pt x="34925" y="556022"/>
                  </a:lnTo>
                  <a:lnTo>
                    <a:pt x="34925" y="543322"/>
                  </a:lnTo>
                  <a:close/>
                </a:path>
                <a:path extrusionOk="0" h="619760" w="714375">
                  <a:moveTo>
                    <a:pt x="714208" y="0"/>
                  </a:moveTo>
                  <a:lnTo>
                    <a:pt x="34925" y="0"/>
                  </a:lnTo>
                  <a:lnTo>
                    <a:pt x="34925" y="556022"/>
                  </a:lnTo>
                  <a:lnTo>
                    <a:pt x="41275" y="556022"/>
                  </a:lnTo>
                  <a:lnTo>
                    <a:pt x="41275" y="6350"/>
                  </a:lnTo>
                  <a:lnTo>
                    <a:pt x="38100" y="6350"/>
                  </a:lnTo>
                  <a:lnTo>
                    <a:pt x="41275" y="3175"/>
                  </a:lnTo>
                  <a:lnTo>
                    <a:pt x="714208" y="3175"/>
                  </a:lnTo>
                  <a:lnTo>
                    <a:pt x="714208" y="0"/>
                  </a:lnTo>
                  <a:close/>
                </a:path>
                <a:path extrusionOk="0" h="619760" w="714375">
                  <a:moveTo>
                    <a:pt x="76200" y="543322"/>
                  </a:moveTo>
                  <a:lnTo>
                    <a:pt x="41275" y="543322"/>
                  </a:lnTo>
                  <a:lnTo>
                    <a:pt x="41275" y="556022"/>
                  </a:lnTo>
                  <a:lnTo>
                    <a:pt x="69850" y="556022"/>
                  </a:lnTo>
                  <a:lnTo>
                    <a:pt x="76200" y="543322"/>
                  </a:lnTo>
                  <a:close/>
                </a:path>
                <a:path extrusionOk="0" h="619760" w="714375">
                  <a:moveTo>
                    <a:pt x="41275" y="3175"/>
                  </a:moveTo>
                  <a:lnTo>
                    <a:pt x="38100" y="6350"/>
                  </a:lnTo>
                  <a:lnTo>
                    <a:pt x="41275" y="6350"/>
                  </a:lnTo>
                  <a:lnTo>
                    <a:pt x="41275" y="3175"/>
                  </a:lnTo>
                  <a:close/>
                </a:path>
                <a:path extrusionOk="0" h="619760" w="714375">
                  <a:moveTo>
                    <a:pt x="714208" y="3175"/>
                  </a:moveTo>
                  <a:lnTo>
                    <a:pt x="41275" y="3175"/>
                  </a:lnTo>
                  <a:lnTo>
                    <a:pt x="41275" y="6350"/>
                  </a:lnTo>
                  <a:lnTo>
                    <a:pt x="714208" y="6350"/>
                  </a:lnTo>
                  <a:lnTo>
                    <a:pt x="714208" y="3175"/>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6" name="Google Shape;216;p10"/>
          <p:cNvSpPr txBox="1"/>
          <p:nvPr/>
        </p:nvSpPr>
        <p:spPr>
          <a:xfrm>
            <a:off x="7033578" y="2709671"/>
            <a:ext cx="199500" cy="192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Calibri"/>
                <a:ea typeface="Calibri"/>
                <a:cs typeface="Calibri"/>
                <a:sym typeface="Calibri"/>
              </a:rPr>
              <a:t>NO</a:t>
            </a:r>
            <a:endParaRPr sz="1100">
              <a:latin typeface="Calibri"/>
              <a:ea typeface="Calibri"/>
              <a:cs typeface="Calibri"/>
              <a:sym typeface="Calibri"/>
            </a:endParaRPr>
          </a:p>
        </p:txBody>
      </p:sp>
      <p:sp>
        <p:nvSpPr>
          <p:cNvPr id="217" name="Google Shape;217;p10"/>
          <p:cNvSpPr txBox="1"/>
          <p:nvPr/>
        </p:nvSpPr>
        <p:spPr>
          <a:xfrm>
            <a:off x="7139455" y="3434200"/>
            <a:ext cx="1121400" cy="191100"/>
          </a:xfrm>
          <a:prstGeom prst="rect">
            <a:avLst/>
          </a:prstGeom>
          <a:noFill/>
          <a:ln>
            <a:noFill/>
          </a:ln>
        </p:spPr>
        <p:txBody>
          <a:bodyPr anchorCtr="0" anchor="t" bIns="0" lIns="0" spcFirstLastPara="1" rIns="0" wrap="square" tIns="6350">
            <a:spAutoFit/>
          </a:bodyPr>
          <a:lstStyle/>
          <a:p>
            <a:pPr indent="-152400" lvl="0" marL="165100" marR="5080" rtl="0" algn="l">
              <a:lnSpc>
                <a:spcPct val="103299"/>
              </a:lnSpc>
              <a:spcBef>
                <a:spcPts val="0"/>
              </a:spcBef>
              <a:spcAft>
                <a:spcPts val="0"/>
              </a:spcAft>
              <a:buNone/>
            </a:pPr>
            <a:r>
              <a:rPr lang="en-US" sz="1200">
                <a:latin typeface="Microsoft JhengHei"/>
                <a:ea typeface="Microsoft JhengHei"/>
                <a:cs typeface="Microsoft JhengHei"/>
                <a:sym typeface="Microsoft JhengHei"/>
              </a:rPr>
              <a:t>Expert Screening</a:t>
            </a:r>
            <a:endParaRPr sz="1100">
              <a:latin typeface="Calibri"/>
              <a:ea typeface="Calibri"/>
              <a:cs typeface="Calibri"/>
              <a:sym typeface="Calibri"/>
            </a:endParaRPr>
          </a:p>
        </p:txBody>
      </p:sp>
      <p:sp>
        <p:nvSpPr>
          <p:cNvPr id="218" name="Google Shape;218;p10"/>
          <p:cNvSpPr txBox="1"/>
          <p:nvPr/>
        </p:nvSpPr>
        <p:spPr>
          <a:xfrm>
            <a:off x="5447846" y="2842325"/>
            <a:ext cx="958500" cy="175800"/>
          </a:xfrm>
          <a:prstGeom prst="rect">
            <a:avLst/>
          </a:prstGeom>
          <a:noFill/>
          <a:ln>
            <a:noFill/>
          </a:ln>
        </p:spPr>
        <p:txBody>
          <a:bodyPr anchorCtr="0" anchor="t" bIns="0" lIns="0" spcFirstLastPara="1" rIns="0" wrap="square" tIns="6350">
            <a:spAutoFit/>
          </a:bodyPr>
          <a:lstStyle/>
          <a:p>
            <a:pPr indent="-139700" lvl="0" marL="225425" marR="5080" rtl="0" algn="l">
              <a:lnSpc>
                <a:spcPct val="103299"/>
              </a:lnSpc>
              <a:spcBef>
                <a:spcPts val="0"/>
              </a:spcBef>
              <a:spcAft>
                <a:spcPts val="0"/>
              </a:spcAft>
              <a:buNone/>
            </a:pPr>
            <a:r>
              <a:rPr lang="en-US" sz="1100"/>
              <a:t>AI Screening</a:t>
            </a:r>
            <a:endParaRPr sz="1100"/>
          </a:p>
        </p:txBody>
      </p:sp>
      <p:sp>
        <p:nvSpPr>
          <p:cNvPr id="219" name="Google Shape;219;p10"/>
          <p:cNvSpPr txBox="1"/>
          <p:nvPr/>
        </p:nvSpPr>
        <p:spPr>
          <a:xfrm>
            <a:off x="5575344" y="3383436"/>
            <a:ext cx="2433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YES</a:t>
            </a:r>
            <a:endParaRPr sz="1200">
              <a:latin typeface="Calibri"/>
              <a:ea typeface="Calibri"/>
              <a:cs typeface="Calibri"/>
              <a:sym typeface="Calibri"/>
            </a:endParaRPr>
          </a:p>
        </p:txBody>
      </p:sp>
      <p:sp>
        <p:nvSpPr>
          <p:cNvPr id="220" name="Google Shape;220;p10"/>
          <p:cNvSpPr txBox="1"/>
          <p:nvPr/>
        </p:nvSpPr>
        <p:spPr>
          <a:xfrm>
            <a:off x="877815" y="1424135"/>
            <a:ext cx="3417000" cy="913800"/>
          </a:xfrm>
          <a:prstGeom prst="rect">
            <a:avLst/>
          </a:prstGeom>
          <a:noFill/>
          <a:ln>
            <a:noFill/>
          </a:ln>
        </p:spPr>
        <p:txBody>
          <a:bodyPr anchorCtr="0" anchor="t" bIns="0" lIns="0" spcFirstLastPara="1" rIns="0" wrap="square" tIns="132700">
            <a:spAutoFit/>
          </a:bodyPr>
          <a:lstStyle/>
          <a:p>
            <a:pPr indent="0" lvl="0" marL="12700" rtl="0" algn="l">
              <a:lnSpc>
                <a:spcPct val="100000"/>
              </a:lnSpc>
              <a:spcBef>
                <a:spcPts val="0"/>
              </a:spcBef>
              <a:spcAft>
                <a:spcPts val="0"/>
              </a:spcAft>
              <a:buNone/>
            </a:pPr>
            <a:r>
              <a:rPr lang="en-US" sz="1700"/>
              <a:t>Overview</a:t>
            </a:r>
            <a:endParaRPr sz="1700"/>
          </a:p>
          <a:p>
            <a:pPr indent="0" lvl="0" marL="0" rtl="0" algn="l">
              <a:lnSpc>
                <a:spcPct val="115000"/>
              </a:lnSpc>
              <a:spcBef>
                <a:spcPts val="1200"/>
              </a:spcBef>
              <a:spcAft>
                <a:spcPts val="1200"/>
              </a:spcAft>
              <a:buNone/>
            </a:pPr>
            <a:r>
              <a:rPr lang="en-US" sz="1100">
                <a:solidFill>
                  <a:schemeClr val="dk1"/>
                </a:solidFill>
              </a:rPr>
              <a:t>Using the credit score, predict customers with a high probability of default.</a:t>
            </a:r>
            <a:endParaRPr sz="1400"/>
          </a:p>
        </p:txBody>
      </p:sp>
      <p:sp>
        <p:nvSpPr>
          <p:cNvPr id="221" name="Google Shape;221;p10"/>
          <p:cNvSpPr txBox="1"/>
          <p:nvPr/>
        </p:nvSpPr>
        <p:spPr>
          <a:xfrm>
            <a:off x="890669" y="2482155"/>
            <a:ext cx="3403500" cy="1077000"/>
          </a:xfrm>
          <a:prstGeom prst="rect">
            <a:avLst/>
          </a:prstGeom>
          <a:noFill/>
          <a:ln>
            <a:noFill/>
          </a:ln>
        </p:spPr>
        <p:txBody>
          <a:bodyPr anchorCtr="0" anchor="t" bIns="0" lIns="0" spcFirstLastPara="1" rIns="0" wrap="square" tIns="101600">
            <a:spAutoFit/>
          </a:bodyPr>
          <a:lstStyle/>
          <a:p>
            <a:pPr indent="0" lvl="0" marL="15875" rtl="0" algn="l">
              <a:lnSpc>
                <a:spcPct val="100000"/>
              </a:lnSpc>
              <a:spcBef>
                <a:spcPts val="0"/>
              </a:spcBef>
              <a:spcAft>
                <a:spcPts val="0"/>
              </a:spcAft>
              <a:buNone/>
            </a:pPr>
            <a:r>
              <a:rPr lang="en-US" sz="1700"/>
              <a:t>Novelty</a:t>
            </a:r>
            <a:endParaRPr sz="1700"/>
          </a:p>
          <a:p>
            <a:pPr indent="0" lvl="0" marL="0" rtl="0" algn="l">
              <a:lnSpc>
                <a:spcPct val="115000"/>
              </a:lnSpc>
              <a:spcBef>
                <a:spcPts val="1200"/>
              </a:spcBef>
              <a:spcAft>
                <a:spcPts val="1200"/>
              </a:spcAft>
              <a:buNone/>
            </a:pPr>
            <a:r>
              <a:rPr lang="en-US" sz="1100">
                <a:solidFill>
                  <a:schemeClr val="dk1"/>
                </a:solidFill>
              </a:rPr>
              <a:t>Decisions that were traditionally made based on human intuition and experience can be accelerated with higher accuracy.</a:t>
            </a:r>
            <a:endParaRPr sz="1400"/>
          </a:p>
        </p:txBody>
      </p:sp>
      <p:sp>
        <p:nvSpPr>
          <p:cNvPr id="222" name="Google Shape;222;p10"/>
          <p:cNvSpPr txBox="1"/>
          <p:nvPr/>
        </p:nvSpPr>
        <p:spPr>
          <a:xfrm>
            <a:off x="898629" y="3577850"/>
            <a:ext cx="958500" cy="274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t>Effects</a:t>
            </a:r>
            <a:endParaRPr sz="1700"/>
          </a:p>
        </p:txBody>
      </p:sp>
      <p:sp>
        <p:nvSpPr>
          <p:cNvPr id="223" name="Google Shape;223;p10"/>
          <p:cNvSpPr txBox="1"/>
          <p:nvPr/>
        </p:nvSpPr>
        <p:spPr>
          <a:xfrm>
            <a:off x="2982451" y="4216908"/>
            <a:ext cx="1447800" cy="764400"/>
          </a:xfrm>
          <a:prstGeom prst="rect">
            <a:avLst/>
          </a:prstGeom>
          <a:noFill/>
          <a:ln>
            <a:noFill/>
          </a:ln>
        </p:spPr>
        <p:txBody>
          <a:bodyPr anchorCtr="0" anchor="t" bIns="0" lIns="0" spcFirstLastPara="1" rIns="0" wrap="square" tIns="10775">
            <a:spAutoFit/>
          </a:bodyPr>
          <a:lstStyle/>
          <a:p>
            <a:pPr indent="0" lvl="0" marL="0" rtl="0" algn="l">
              <a:lnSpc>
                <a:spcPct val="115000"/>
              </a:lnSpc>
              <a:spcBef>
                <a:spcPts val="1200"/>
              </a:spcBef>
              <a:spcAft>
                <a:spcPts val="1200"/>
              </a:spcAft>
              <a:buNone/>
            </a:pPr>
            <a:r>
              <a:rPr lang="en-US" sz="1100">
                <a:solidFill>
                  <a:schemeClr val="dk1"/>
                </a:solidFill>
              </a:rPr>
              <a:t>Careful responses become possible for loans with a potential risk of default.</a:t>
            </a:r>
            <a:endParaRPr sz="1400">
              <a:latin typeface="Microsoft JhengHei"/>
              <a:ea typeface="Microsoft JhengHei"/>
              <a:cs typeface="Microsoft JhengHei"/>
              <a:sym typeface="Microsoft JhengHei"/>
            </a:endParaRPr>
          </a:p>
        </p:txBody>
      </p:sp>
      <p:grpSp>
        <p:nvGrpSpPr>
          <p:cNvPr id="224" name="Google Shape;224;p10"/>
          <p:cNvGrpSpPr/>
          <p:nvPr/>
        </p:nvGrpSpPr>
        <p:grpSpPr>
          <a:xfrm>
            <a:off x="893063" y="3883152"/>
            <a:ext cx="1630680" cy="417575"/>
            <a:chOff x="893063" y="3883152"/>
            <a:chExt cx="1630680" cy="417575"/>
          </a:xfrm>
        </p:grpSpPr>
        <p:pic>
          <p:nvPicPr>
            <p:cNvPr id="225" name="Google Shape;225;p10"/>
            <p:cNvPicPr preferRelativeResize="0"/>
            <p:nvPr/>
          </p:nvPicPr>
          <p:blipFill rotWithShape="1">
            <a:blip r:embed="rId3">
              <a:alphaModFix/>
            </a:blip>
            <a:srcRect b="0" l="0" r="0" t="0"/>
            <a:stretch/>
          </p:blipFill>
          <p:spPr>
            <a:xfrm>
              <a:off x="893063" y="3904488"/>
              <a:ext cx="1630680" cy="338328"/>
            </a:xfrm>
            <a:prstGeom prst="rect">
              <a:avLst/>
            </a:prstGeom>
            <a:noFill/>
            <a:ln>
              <a:noFill/>
            </a:ln>
          </p:spPr>
        </p:pic>
        <p:pic>
          <p:nvPicPr>
            <p:cNvPr id="226" name="Google Shape;226;p10"/>
            <p:cNvPicPr preferRelativeResize="0"/>
            <p:nvPr/>
          </p:nvPicPr>
          <p:blipFill rotWithShape="1">
            <a:blip r:embed="rId4">
              <a:alphaModFix/>
            </a:blip>
            <a:srcRect b="0" l="0" r="0" t="0"/>
            <a:stretch/>
          </p:blipFill>
          <p:spPr>
            <a:xfrm>
              <a:off x="1261872" y="3883152"/>
              <a:ext cx="893064" cy="417575"/>
            </a:xfrm>
            <a:prstGeom prst="rect">
              <a:avLst/>
            </a:prstGeom>
            <a:noFill/>
            <a:ln>
              <a:noFill/>
            </a:ln>
          </p:spPr>
        </p:pic>
        <p:sp>
          <p:nvSpPr>
            <p:cNvPr id="227" name="Google Shape;227;p10"/>
            <p:cNvSpPr/>
            <p:nvPr/>
          </p:nvSpPr>
          <p:spPr>
            <a:xfrm>
              <a:off x="926016" y="3934857"/>
              <a:ext cx="1511300" cy="222250"/>
            </a:xfrm>
            <a:custGeom>
              <a:rect b="b" l="l" r="r" t="t"/>
              <a:pathLst>
                <a:path extrusionOk="0" h="222250" w="1511300">
                  <a:moveTo>
                    <a:pt x="755373" y="0"/>
                  </a:moveTo>
                  <a:lnTo>
                    <a:pt x="678141" y="573"/>
                  </a:lnTo>
                  <a:lnTo>
                    <a:pt x="603139" y="2255"/>
                  </a:lnTo>
                  <a:lnTo>
                    <a:pt x="530748" y="4990"/>
                  </a:lnTo>
                  <a:lnTo>
                    <a:pt x="461348" y="8723"/>
                  </a:lnTo>
                  <a:lnTo>
                    <a:pt x="395317" y="13397"/>
                  </a:lnTo>
                  <a:lnTo>
                    <a:pt x="333037" y="18957"/>
                  </a:lnTo>
                  <a:lnTo>
                    <a:pt x="274885" y="25347"/>
                  </a:lnTo>
                  <a:lnTo>
                    <a:pt x="221243" y="32512"/>
                  </a:lnTo>
                  <a:lnTo>
                    <a:pt x="172490" y="40394"/>
                  </a:lnTo>
                  <a:lnTo>
                    <a:pt x="129005" y="48940"/>
                  </a:lnTo>
                  <a:lnTo>
                    <a:pt x="91169" y="58092"/>
                  </a:lnTo>
                  <a:lnTo>
                    <a:pt x="33960" y="77994"/>
                  </a:lnTo>
                  <a:lnTo>
                    <a:pt x="0" y="111003"/>
                  </a:lnTo>
                  <a:lnTo>
                    <a:pt x="3899" y="122352"/>
                  </a:lnTo>
                  <a:lnTo>
                    <a:pt x="59360" y="154209"/>
                  </a:lnTo>
                  <a:lnTo>
                    <a:pt x="129005" y="173065"/>
                  </a:lnTo>
                  <a:lnTo>
                    <a:pt x="172490" y="181610"/>
                  </a:lnTo>
                  <a:lnTo>
                    <a:pt x="221243" y="189493"/>
                  </a:lnTo>
                  <a:lnTo>
                    <a:pt x="274885" y="196657"/>
                  </a:lnTo>
                  <a:lnTo>
                    <a:pt x="333037" y="203047"/>
                  </a:lnTo>
                  <a:lnTo>
                    <a:pt x="395317" y="208607"/>
                  </a:lnTo>
                  <a:lnTo>
                    <a:pt x="461348" y="213281"/>
                  </a:lnTo>
                  <a:lnTo>
                    <a:pt x="530748" y="217014"/>
                  </a:lnTo>
                  <a:lnTo>
                    <a:pt x="603139" y="219749"/>
                  </a:lnTo>
                  <a:lnTo>
                    <a:pt x="678141" y="221431"/>
                  </a:lnTo>
                  <a:lnTo>
                    <a:pt x="755373" y="222004"/>
                  </a:lnTo>
                  <a:lnTo>
                    <a:pt x="832606" y="221431"/>
                  </a:lnTo>
                  <a:lnTo>
                    <a:pt x="907607" y="219749"/>
                  </a:lnTo>
                  <a:lnTo>
                    <a:pt x="979998" y="217014"/>
                  </a:lnTo>
                  <a:lnTo>
                    <a:pt x="1049399" y="213281"/>
                  </a:lnTo>
                  <a:lnTo>
                    <a:pt x="1115429" y="208607"/>
                  </a:lnTo>
                  <a:lnTo>
                    <a:pt x="1177710" y="203047"/>
                  </a:lnTo>
                  <a:lnTo>
                    <a:pt x="1235861" y="196657"/>
                  </a:lnTo>
                  <a:lnTo>
                    <a:pt x="1289503" y="189493"/>
                  </a:lnTo>
                  <a:lnTo>
                    <a:pt x="1338256" y="181610"/>
                  </a:lnTo>
                  <a:lnTo>
                    <a:pt x="1381741" y="173065"/>
                  </a:lnTo>
                  <a:lnTo>
                    <a:pt x="1419577" y="163912"/>
                  </a:lnTo>
                  <a:lnTo>
                    <a:pt x="1476786" y="144011"/>
                  </a:lnTo>
                  <a:lnTo>
                    <a:pt x="1510746" y="111003"/>
                  </a:lnTo>
                  <a:lnTo>
                    <a:pt x="1506847" y="99653"/>
                  </a:lnTo>
                  <a:lnTo>
                    <a:pt x="1451385" y="67795"/>
                  </a:lnTo>
                  <a:lnTo>
                    <a:pt x="1381741" y="48940"/>
                  </a:lnTo>
                  <a:lnTo>
                    <a:pt x="1338256" y="40394"/>
                  </a:lnTo>
                  <a:lnTo>
                    <a:pt x="1289503" y="32511"/>
                  </a:lnTo>
                  <a:lnTo>
                    <a:pt x="1235861" y="25347"/>
                  </a:lnTo>
                  <a:lnTo>
                    <a:pt x="1177710" y="18957"/>
                  </a:lnTo>
                  <a:lnTo>
                    <a:pt x="1115429" y="13397"/>
                  </a:lnTo>
                  <a:lnTo>
                    <a:pt x="1049399" y="8723"/>
                  </a:lnTo>
                  <a:lnTo>
                    <a:pt x="979998" y="4990"/>
                  </a:lnTo>
                  <a:lnTo>
                    <a:pt x="907607" y="2255"/>
                  </a:lnTo>
                  <a:lnTo>
                    <a:pt x="832606" y="573"/>
                  </a:lnTo>
                  <a:lnTo>
                    <a:pt x="75537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8" name="Google Shape;228;p10"/>
            <p:cNvSpPr/>
            <p:nvPr/>
          </p:nvSpPr>
          <p:spPr>
            <a:xfrm>
              <a:off x="926016" y="3934857"/>
              <a:ext cx="1511300" cy="222250"/>
            </a:xfrm>
            <a:custGeom>
              <a:rect b="b" l="l" r="r" t="t"/>
              <a:pathLst>
                <a:path extrusionOk="0" h="222250" w="1511300">
                  <a:moveTo>
                    <a:pt x="0" y="111002"/>
                  </a:moveTo>
                  <a:lnTo>
                    <a:pt x="33960" y="77993"/>
                  </a:lnTo>
                  <a:lnTo>
                    <a:pt x="91169" y="58092"/>
                  </a:lnTo>
                  <a:lnTo>
                    <a:pt x="129005" y="48939"/>
                  </a:lnTo>
                  <a:lnTo>
                    <a:pt x="172490" y="40394"/>
                  </a:lnTo>
                  <a:lnTo>
                    <a:pt x="221243" y="32511"/>
                  </a:lnTo>
                  <a:lnTo>
                    <a:pt x="274885" y="25347"/>
                  </a:lnTo>
                  <a:lnTo>
                    <a:pt x="333036" y="18957"/>
                  </a:lnTo>
                  <a:lnTo>
                    <a:pt x="395317" y="13397"/>
                  </a:lnTo>
                  <a:lnTo>
                    <a:pt x="461348" y="8723"/>
                  </a:lnTo>
                  <a:lnTo>
                    <a:pt x="530748" y="4990"/>
                  </a:lnTo>
                  <a:lnTo>
                    <a:pt x="603139" y="2255"/>
                  </a:lnTo>
                  <a:lnTo>
                    <a:pt x="678140" y="573"/>
                  </a:lnTo>
                  <a:lnTo>
                    <a:pt x="755373" y="0"/>
                  </a:lnTo>
                  <a:lnTo>
                    <a:pt x="832606" y="573"/>
                  </a:lnTo>
                  <a:lnTo>
                    <a:pt x="907607" y="2255"/>
                  </a:lnTo>
                  <a:lnTo>
                    <a:pt x="979998" y="4990"/>
                  </a:lnTo>
                  <a:lnTo>
                    <a:pt x="1049399" y="8723"/>
                  </a:lnTo>
                  <a:lnTo>
                    <a:pt x="1115429" y="13397"/>
                  </a:lnTo>
                  <a:lnTo>
                    <a:pt x="1177710" y="18957"/>
                  </a:lnTo>
                  <a:lnTo>
                    <a:pt x="1235861" y="25347"/>
                  </a:lnTo>
                  <a:lnTo>
                    <a:pt x="1289503" y="32511"/>
                  </a:lnTo>
                  <a:lnTo>
                    <a:pt x="1338256" y="40394"/>
                  </a:lnTo>
                  <a:lnTo>
                    <a:pt x="1381741" y="48939"/>
                  </a:lnTo>
                  <a:lnTo>
                    <a:pt x="1419577" y="58092"/>
                  </a:lnTo>
                  <a:lnTo>
                    <a:pt x="1476786" y="77993"/>
                  </a:lnTo>
                  <a:lnTo>
                    <a:pt x="1510747" y="111002"/>
                  </a:lnTo>
                  <a:lnTo>
                    <a:pt x="1506847" y="122351"/>
                  </a:lnTo>
                  <a:lnTo>
                    <a:pt x="1451386" y="154209"/>
                  </a:lnTo>
                  <a:lnTo>
                    <a:pt x="1381741" y="173065"/>
                  </a:lnTo>
                  <a:lnTo>
                    <a:pt x="1338256" y="181610"/>
                  </a:lnTo>
                  <a:lnTo>
                    <a:pt x="1289503" y="189493"/>
                  </a:lnTo>
                  <a:lnTo>
                    <a:pt x="1235861" y="196657"/>
                  </a:lnTo>
                  <a:lnTo>
                    <a:pt x="1177710" y="203047"/>
                  </a:lnTo>
                  <a:lnTo>
                    <a:pt x="1115429" y="208607"/>
                  </a:lnTo>
                  <a:lnTo>
                    <a:pt x="1049399" y="213281"/>
                  </a:lnTo>
                  <a:lnTo>
                    <a:pt x="979998" y="217014"/>
                  </a:lnTo>
                  <a:lnTo>
                    <a:pt x="907607" y="219749"/>
                  </a:lnTo>
                  <a:lnTo>
                    <a:pt x="832606" y="221431"/>
                  </a:lnTo>
                  <a:lnTo>
                    <a:pt x="755373" y="222005"/>
                  </a:lnTo>
                  <a:lnTo>
                    <a:pt x="678140" y="221431"/>
                  </a:lnTo>
                  <a:lnTo>
                    <a:pt x="603139" y="219749"/>
                  </a:lnTo>
                  <a:lnTo>
                    <a:pt x="530748" y="217014"/>
                  </a:lnTo>
                  <a:lnTo>
                    <a:pt x="461348" y="213281"/>
                  </a:lnTo>
                  <a:lnTo>
                    <a:pt x="395317" y="208607"/>
                  </a:lnTo>
                  <a:lnTo>
                    <a:pt x="333036" y="203047"/>
                  </a:lnTo>
                  <a:lnTo>
                    <a:pt x="274885" y="196657"/>
                  </a:lnTo>
                  <a:lnTo>
                    <a:pt x="221243" y="189493"/>
                  </a:lnTo>
                  <a:lnTo>
                    <a:pt x="172490" y="181610"/>
                  </a:lnTo>
                  <a:lnTo>
                    <a:pt x="129005" y="173065"/>
                  </a:lnTo>
                  <a:lnTo>
                    <a:pt x="91169" y="163912"/>
                  </a:lnTo>
                  <a:lnTo>
                    <a:pt x="33960" y="144011"/>
                  </a:lnTo>
                  <a:lnTo>
                    <a:pt x="0" y="111002"/>
                  </a:lnTo>
                  <a:close/>
                </a:path>
              </a:pathLst>
            </a:custGeom>
            <a:noFill/>
            <a:ln cap="flat" cmpd="sng" w="12700">
              <a:solidFill>
                <a:srgbClr val="B4C7E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29" name="Google Shape;229;p10"/>
          <p:cNvSpPr txBox="1"/>
          <p:nvPr/>
        </p:nvSpPr>
        <p:spPr>
          <a:xfrm>
            <a:off x="898621" y="3817765"/>
            <a:ext cx="1625700" cy="814800"/>
          </a:xfrm>
          <a:prstGeom prst="rect">
            <a:avLst/>
          </a:prstGeom>
          <a:noFill/>
          <a:ln>
            <a:noFill/>
          </a:ln>
        </p:spPr>
        <p:txBody>
          <a:bodyPr anchorCtr="0" anchor="t" bIns="0" lIns="0" spcFirstLastPara="1" rIns="0" wrap="square" tIns="111125">
            <a:spAutoFit/>
          </a:bodyPr>
          <a:lstStyle/>
          <a:p>
            <a:pPr indent="0" lvl="0" marL="0" marR="52069" rtl="0" algn="ctr">
              <a:lnSpc>
                <a:spcPct val="100000"/>
              </a:lnSpc>
              <a:spcBef>
                <a:spcPts val="0"/>
              </a:spcBef>
              <a:spcAft>
                <a:spcPts val="0"/>
              </a:spcAft>
              <a:buNone/>
            </a:pPr>
            <a:r>
              <a:rPr lang="en-US" sz="1200">
                <a:latin typeface="Microsoft JhengHei"/>
                <a:ea typeface="Microsoft JhengHei"/>
                <a:cs typeface="Microsoft JhengHei"/>
                <a:sym typeface="Microsoft JhengHei"/>
              </a:rPr>
              <a:t>Customer</a:t>
            </a:r>
            <a:endParaRPr sz="1200">
              <a:latin typeface="Microsoft JhengHei"/>
              <a:ea typeface="Microsoft JhengHei"/>
              <a:cs typeface="Microsoft JhengHei"/>
              <a:sym typeface="Microsoft JhengHei"/>
            </a:endParaRPr>
          </a:p>
          <a:p>
            <a:pPr indent="0" lvl="0" marL="0" rtl="0" algn="l">
              <a:lnSpc>
                <a:spcPct val="115000"/>
              </a:lnSpc>
              <a:spcBef>
                <a:spcPts val="1200"/>
              </a:spcBef>
              <a:spcAft>
                <a:spcPts val="1200"/>
              </a:spcAft>
              <a:buNone/>
            </a:pPr>
            <a:r>
              <a:rPr lang="en-US" sz="1100">
                <a:solidFill>
                  <a:schemeClr val="dk1"/>
                </a:solidFill>
              </a:rPr>
              <a:t>Fast and responsive lending.</a:t>
            </a:r>
            <a:endParaRPr sz="1400">
              <a:latin typeface="Microsoft JhengHei"/>
              <a:ea typeface="Microsoft JhengHei"/>
              <a:cs typeface="Microsoft JhengHei"/>
              <a:sym typeface="Microsoft JhengHei"/>
            </a:endParaRPr>
          </a:p>
        </p:txBody>
      </p:sp>
      <p:grpSp>
        <p:nvGrpSpPr>
          <p:cNvPr id="230" name="Google Shape;230;p10"/>
          <p:cNvGrpSpPr/>
          <p:nvPr/>
        </p:nvGrpSpPr>
        <p:grpSpPr>
          <a:xfrm>
            <a:off x="2910839" y="3883152"/>
            <a:ext cx="1627632" cy="417575"/>
            <a:chOff x="2910839" y="3883152"/>
            <a:chExt cx="1627632" cy="417575"/>
          </a:xfrm>
        </p:grpSpPr>
        <p:pic>
          <p:nvPicPr>
            <p:cNvPr id="231" name="Google Shape;231;p10"/>
            <p:cNvPicPr preferRelativeResize="0"/>
            <p:nvPr/>
          </p:nvPicPr>
          <p:blipFill rotWithShape="1">
            <a:blip r:embed="rId5">
              <a:alphaModFix/>
            </a:blip>
            <a:srcRect b="0" l="0" r="0" t="0"/>
            <a:stretch/>
          </p:blipFill>
          <p:spPr>
            <a:xfrm>
              <a:off x="2910839" y="3904488"/>
              <a:ext cx="1627632" cy="338328"/>
            </a:xfrm>
            <a:prstGeom prst="rect">
              <a:avLst/>
            </a:prstGeom>
            <a:noFill/>
            <a:ln>
              <a:noFill/>
            </a:ln>
          </p:spPr>
        </p:pic>
        <p:pic>
          <p:nvPicPr>
            <p:cNvPr id="232" name="Google Shape;232;p10"/>
            <p:cNvPicPr preferRelativeResize="0"/>
            <p:nvPr/>
          </p:nvPicPr>
          <p:blipFill rotWithShape="1">
            <a:blip r:embed="rId6">
              <a:alphaModFix/>
            </a:blip>
            <a:srcRect b="0" l="0" r="0" t="0"/>
            <a:stretch/>
          </p:blipFill>
          <p:spPr>
            <a:xfrm>
              <a:off x="3279647" y="3883152"/>
              <a:ext cx="893063" cy="417575"/>
            </a:xfrm>
            <a:prstGeom prst="rect">
              <a:avLst/>
            </a:prstGeom>
            <a:noFill/>
            <a:ln>
              <a:noFill/>
            </a:ln>
          </p:spPr>
        </p:pic>
        <p:sp>
          <p:nvSpPr>
            <p:cNvPr id="233" name="Google Shape;233;p10"/>
            <p:cNvSpPr/>
            <p:nvPr/>
          </p:nvSpPr>
          <p:spPr>
            <a:xfrm>
              <a:off x="2942878" y="3934857"/>
              <a:ext cx="1511300" cy="222250"/>
            </a:xfrm>
            <a:custGeom>
              <a:rect b="b" l="l" r="r" t="t"/>
              <a:pathLst>
                <a:path extrusionOk="0" h="222250" w="1511300">
                  <a:moveTo>
                    <a:pt x="755373" y="0"/>
                  </a:moveTo>
                  <a:lnTo>
                    <a:pt x="678140" y="573"/>
                  </a:lnTo>
                  <a:lnTo>
                    <a:pt x="603139" y="2255"/>
                  </a:lnTo>
                  <a:lnTo>
                    <a:pt x="530748" y="4990"/>
                  </a:lnTo>
                  <a:lnTo>
                    <a:pt x="461347" y="8723"/>
                  </a:lnTo>
                  <a:lnTo>
                    <a:pt x="395317" y="13397"/>
                  </a:lnTo>
                  <a:lnTo>
                    <a:pt x="333036" y="18957"/>
                  </a:lnTo>
                  <a:lnTo>
                    <a:pt x="274885" y="25347"/>
                  </a:lnTo>
                  <a:lnTo>
                    <a:pt x="221243" y="32512"/>
                  </a:lnTo>
                  <a:lnTo>
                    <a:pt x="172490" y="40394"/>
                  </a:lnTo>
                  <a:lnTo>
                    <a:pt x="129005" y="48940"/>
                  </a:lnTo>
                  <a:lnTo>
                    <a:pt x="91169" y="58092"/>
                  </a:lnTo>
                  <a:lnTo>
                    <a:pt x="33960" y="77994"/>
                  </a:lnTo>
                  <a:lnTo>
                    <a:pt x="0" y="111003"/>
                  </a:lnTo>
                  <a:lnTo>
                    <a:pt x="3899" y="122352"/>
                  </a:lnTo>
                  <a:lnTo>
                    <a:pt x="59360" y="154209"/>
                  </a:lnTo>
                  <a:lnTo>
                    <a:pt x="129005" y="173065"/>
                  </a:lnTo>
                  <a:lnTo>
                    <a:pt x="172490" y="181610"/>
                  </a:lnTo>
                  <a:lnTo>
                    <a:pt x="221243" y="189493"/>
                  </a:lnTo>
                  <a:lnTo>
                    <a:pt x="274885" y="196657"/>
                  </a:lnTo>
                  <a:lnTo>
                    <a:pt x="333036" y="203047"/>
                  </a:lnTo>
                  <a:lnTo>
                    <a:pt x="395317" y="208607"/>
                  </a:lnTo>
                  <a:lnTo>
                    <a:pt x="461347" y="213281"/>
                  </a:lnTo>
                  <a:lnTo>
                    <a:pt x="530748" y="217014"/>
                  </a:lnTo>
                  <a:lnTo>
                    <a:pt x="603139" y="219749"/>
                  </a:lnTo>
                  <a:lnTo>
                    <a:pt x="678140" y="221431"/>
                  </a:lnTo>
                  <a:lnTo>
                    <a:pt x="755373" y="222004"/>
                  </a:lnTo>
                  <a:lnTo>
                    <a:pt x="832605" y="221431"/>
                  </a:lnTo>
                  <a:lnTo>
                    <a:pt x="907607" y="219749"/>
                  </a:lnTo>
                  <a:lnTo>
                    <a:pt x="979997" y="217014"/>
                  </a:lnTo>
                  <a:lnTo>
                    <a:pt x="1049398" y="213281"/>
                  </a:lnTo>
                  <a:lnTo>
                    <a:pt x="1115428" y="208607"/>
                  </a:lnTo>
                  <a:lnTo>
                    <a:pt x="1177709" y="203047"/>
                  </a:lnTo>
                  <a:lnTo>
                    <a:pt x="1235860" y="196657"/>
                  </a:lnTo>
                  <a:lnTo>
                    <a:pt x="1289502" y="189493"/>
                  </a:lnTo>
                  <a:lnTo>
                    <a:pt x="1338255" y="181610"/>
                  </a:lnTo>
                  <a:lnTo>
                    <a:pt x="1381740" y="173065"/>
                  </a:lnTo>
                  <a:lnTo>
                    <a:pt x="1419576" y="163912"/>
                  </a:lnTo>
                  <a:lnTo>
                    <a:pt x="1476786" y="144011"/>
                  </a:lnTo>
                  <a:lnTo>
                    <a:pt x="1510746" y="111003"/>
                  </a:lnTo>
                  <a:lnTo>
                    <a:pt x="1506846" y="99653"/>
                  </a:lnTo>
                  <a:lnTo>
                    <a:pt x="1451385" y="67795"/>
                  </a:lnTo>
                  <a:lnTo>
                    <a:pt x="1381740" y="48940"/>
                  </a:lnTo>
                  <a:lnTo>
                    <a:pt x="1338255" y="40394"/>
                  </a:lnTo>
                  <a:lnTo>
                    <a:pt x="1289502" y="32511"/>
                  </a:lnTo>
                  <a:lnTo>
                    <a:pt x="1235860" y="25347"/>
                  </a:lnTo>
                  <a:lnTo>
                    <a:pt x="1177709" y="18957"/>
                  </a:lnTo>
                  <a:lnTo>
                    <a:pt x="1115428" y="13397"/>
                  </a:lnTo>
                  <a:lnTo>
                    <a:pt x="1049398" y="8723"/>
                  </a:lnTo>
                  <a:lnTo>
                    <a:pt x="979997" y="4990"/>
                  </a:lnTo>
                  <a:lnTo>
                    <a:pt x="907607" y="2255"/>
                  </a:lnTo>
                  <a:lnTo>
                    <a:pt x="832605" y="573"/>
                  </a:lnTo>
                  <a:lnTo>
                    <a:pt x="755373" y="0"/>
                  </a:lnTo>
                  <a:close/>
                </a:path>
              </a:pathLst>
            </a:custGeom>
            <a:solidFill>
              <a:srgbClr val="DAE3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4" name="Google Shape;234;p10"/>
            <p:cNvSpPr/>
            <p:nvPr/>
          </p:nvSpPr>
          <p:spPr>
            <a:xfrm>
              <a:off x="2942878" y="3934857"/>
              <a:ext cx="1511300" cy="222250"/>
            </a:xfrm>
            <a:custGeom>
              <a:rect b="b" l="l" r="r" t="t"/>
              <a:pathLst>
                <a:path extrusionOk="0" h="222250" w="1511300">
                  <a:moveTo>
                    <a:pt x="0" y="111002"/>
                  </a:moveTo>
                  <a:lnTo>
                    <a:pt x="33960" y="77993"/>
                  </a:lnTo>
                  <a:lnTo>
                    <a:pt x="91169" y="58092"/>
                  </a:lnTo>
                  <a:lnTo>
                    <a:pt x="129005" y="48939"/>
                  </a:lnTo>
                  <a:lnTo>
                    <a:pt x="172490" y="40394"/>
                  </a:lnTo>
                  <a:lnTo>
                    <a:pt x="221243" y="32511"/>
                  </a:lnTo>
                  <a:lnTo>
                    <a:pt x="274885" y="25347"/>
                  </a:lnTo>
                  <a:lnTo>
                    <a:pt x="333036" y="18957"/>
                  </a:lnTo>
                  <a:lnTo>
                    <a:pt x="395317" y="13397"/>
                  </a:lnTo>
                  <a:lnTo>
                    <a:pt x="461348" y="8723"/>
                  </a:lnTo>
                  <a:lnTo>
                    <a:pt x="530748" y="4990"/>
                  </a:lnTo>
                  <a:lnTo>
                    <a:pt x="603139" y="2255"/>
                  </a:lnTo>
                  <a:lnTo>
                    <a:pt x="678140" y="573"/>
                  </a:lnTo>
                  <a:lnTo>
                    <a:pt x="755373" y="0"/>
                  </a:lnTo>
                  <a:lnTo>
                    <a:pt x="832606" y="573"/>
                  </a:lnTo>
                  <a:lnTo>
                    <a:pt x="907607" y="2255"/>
                  </a:lnTo>
                  <a:lnTo>
                    <a:pt x="979998" y="4990"/>
                  </a:lnTo>
                  <a:lnTo>
                    <a:pt x="1049399" y="8723"/>
                  </a:lnTo>
                  <a:lnTo>
                    <a:pt x="1115429" y="13397"/>
                  </a:lnTo>
                  <a:lnTo>
                    <a:pt x="1177710" y="18957"/>
                  </a:lnTo>
                  <a:lnTo>
                    <a:pt x="1235861" y="25347"/>
                  </a:lnTo>
                  <a:lnTo>
                    <a:pt x="1289503" y="32511"/>
                  </a:lnTo>
                  <a:lnTo>
                    <a:pt x="1338256" y="40394"/>
                  </a:lnTo>
                  <a:lnTo>
                    <a:pt x="1381741" y="48939"/>
                  </a:lnTo>
                  <a:lnTo>
                    <a:pt x="1419577" y="58092"/>
                  </a:lnTo>
                  <a:lnTo>
                    <a:pt x="1476786" y="77993"/>
                  </a:lnTo>
                  <a:lnTo>
                    <a:pt x="1510747" y="111002"/>
                  </a:lnTo>
                  <a:lnTo>
                    <a:pt x="1506847" y="122351"/>
                  </a:lnTo>
                  <a:lnTo>
                    <a:pt x="1451386" y="154209"/>
                  </a:lnTo>
                  <a:lnTo>
                    <a:pt x="1381741" y="173065"/>
                  </a:lnTo>
                  <a:lnTo>
                    <a:pt x="1338256" y="181610"/>
                  </a:lnTo>
                  <a:lnTo>
                    <a:pt x="1289503" y="189493"/>
                  </a:lnTo>
                  <a:lnTo>
                    <a:pt x="1235861" y="196657"/>
                  </a:lnTo>
                  <a:lnTo>
                    <a:pt x="1177710" y="203047"/>
                  </a:lnTo>
                  <a:lnTo>
                    <a:pt x="1115429" y="208607"/>
                  </a:lnTo>
                  <a:lnTo>
                    <a:pt x="1049399" y="213281"/>
                  </a:lnTo>
                  <a:lnTo>
                    <a:pt x="979998" y="217014"/>
                  </a:lnTo>
                  <a:lnTo>
                    <a:pt x="907607" y="219749"/>
                  </a:lnTo>
                  <a:lnTo>
                    <a:pt x="832606" y="221431"/>
                  </a:lnTo>
                  <a:lnTo>
                    <a:pt x="755373" y="222005"/>
                  </a:lnTo>
                  <a:lnTo>
                    <a:pt x="678140" y="221431"/>
                  </a:lnTo>
                  <a:lnTo>
                    <a:pt x="603139" y="219749"/>
                  </a:lnTo>
                  <a:lnTo>
                    <a:pt x="530748" y="217014"/>
                  </a:lnTo>
                  <a:lnTo>
                    <a:pt x="461348" y="213281"/>
                  </a:lnTo>
                  <a:lnTo>
                    <a:pt x="395317" y="208607"/>
                  </a:lnTo>
                  <a:lnTo>
                    <a:pt x="333036" y="203047"/>
                  </a:lnTo>
                  <a:lnTo>
                    <a:pt x="274885" y="196657"/>
                  </a:lnTo>
                  <a:lnTo>
                    <a:pt x="221243" y="189493"/>
                  </a:lnTo>
                  <a:lnTo>
                    <a:pt x="172490" y="181610"/>
                  </a:lnTo>
                  <a:lnTo>
                    <a:pt x="129005" y="173065"/>
                  </a:lnTo>
                  <a:lnTo>
                    <a:pt x="91169" y="163912"/>
                  </a:lnTo>
                  <a:lnTo>
                    <a:pt x="33960" y="144011"/>
                  </a:lnTo>
                  <a:lnTo>
                    <a:pt x="0" y="111002"/>
                  </a:lnTo>
                  <a:close/>
                </a:path>
              </a:pathLst>
            </a:custGeom>
            <a:noFill/>
            <a:ln cap="flat" cmpd="sng" w="12700">
              <a:solidFill>
                <a:srgbClr val="B4C7E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35" name="Google Shape;235;p10"/>
          <p:cNvSpPr txBox="1"/>
          <p:nvPr/>
        </p:nvSpPr>
        <p:spPr>
          <a:xfrm>
            <a:off x="3380751" y="3916171"/>
            <a:ext cx="6351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Microsoft JhengHei"/>
                <a:ea typeface="Microsoft JhengHei"/>
                <a:cs typeface="Microsoft JhengHei"/>
                <a:sym typeface="Microsoft JhengHei"/>
              </a:rPr>
              <a:t>Company</a:t>
            </a:r>
            <a:endParaRPr sz="1200">
              <a:latin typeface="Microsoft JhengHei"/>
              <a:ea typeface="Microsoft JhengHei"/>
              <a:cs typeface="Microsoft JhengHei"/>
              <a:sym typeface="Microsoft JhengHei"/>
            </a:endParaRPr>
          </a:p>
        </p:txBody>
      </p:sp>
      <p:sp>
        <p:nvSpPr>
          <p:cNvPr id="236" name="Google Shape;236;p10"/>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237" name="Google Shape;237;p10"/>
          <p:cNvSpPr txBox="1"/>
          <p:nvPr/>
        </p:nvSpPr>
        <p:spPr>
          <a:xfrm>
            <a:off x="994900" y="5482852"/>
            <a:ext cx="7161600" cy="883500"/>
          </a:xfrm>
          <a:prstGeom prst="rect">
            <a:avLst/>
          </a:prstGeom>
          <a:noFill/>
          <a:ln>
            <a:noFill/>
          </a:ln>
        </p:spPr>
        <p:txBody>
          <a:bodyPr anchorCtr="0" anchor="t" bIns="0" lIns="0" spcFirstLastPara="1" rIns="0" wrap="square" tIns="12700">
            <a:spAutoFit/>
          </a:bodyPr>
          <a:lstStyle/>
          <a:p>
            <a:pPr indent="0" lvl="0" marL="12700" rtl="0" algn="l">
              <a:lnSpc>
                <a:spcPct val="113888"/>
              </a:lnSpc>
              <a:spcBef>
                <a:spcPts val="0"/>
              </a:spcBef>
              <a:spcAft>
                <a:spcPts val="0"/>
              </a:spcAft>
              <a:buNone/>
            </a:pPr>
            <a:r>
              <a:rPr lang="en-US" sz="1800"/>
              <a:t>Point</a:t>
            </a:r>
            <a:br>
              <a:rPr lang="en-US" sz="1800"/>
            </a:br>
            <a:r>
              <a:rPr lang="en-US" sz="1100">
                <a:solidFill>
                  <a:schemeClr val="dk1"/>
                </a:solidFill>
              </a:rPr>
              <a:t>Ideally, we would like to make “loan not approved” decisions based solely on AI screening; however, because there is a certain number of customers who can actually repay among those judged “NO” by AI, expert screening is necessary to lend to them.</a:t>
            </a:r>
            <a:endParaRPr sz="1400"/>
          </a:p>
        </p:txBody>
      </p:sp>
      <p:sp>
        <p:nvSpPr>
          <p:cNvPr id="238" name="Google Shape;238;p10"/>
          <p:cNvSpPr txBox="1"/>
          <p:nvPr/>
        </p:nvSpPr>
        <p:spPr>
          <a:xfrm>
            <a:off x="6311244" y="3566624"/>
            <a:ext cx="2433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YES</a:t>
            </a:r>
            <a:endParaRPr sz="1200">
              <a:latin typeface="Calibri"/>
              <a:ea typeface="Calibri"/>
              <a:cs typeface="Calibri"/>
              <a:sym typeface="Calibri"/>
            </a:endParaRPr>
          </a:p>
        </p:txBody>
      </p:sp>
      <p:sp>
        <p:nvSpPr>
          <p:cNvPr id="239" name="Google Shape;239;p10"/>
          <p:cNvSpPr txBox="1"/>
          <p:nvPr/>
        </p:nvSpPr>
        <p:spPr>
          <a:xfrm>
            <a:off x="7812375" y="3866838"/>
            <a:ext cx="199500" cy="182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Calibri"/>
                <a:ea typeface="Calibri"/>
                <a:cs typeface="Calibri"/>
                <a:sym typeface="Calibri"/>
              </a:rPr>
              <a:t>NO</a:t>
            </a:r>
            <a:endParaRPr sz="11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1"/>
          <p:cNvSpPr txBox="1"/>
          <p:nvPr>
            <p:ph type="title"/>
          </p:nvPr>
        </p:nvSpPr>
        <p:spPr>
          <a:xfrm>
            <a:off x="433925" y="236225"/>
            <a:ext cx="6552900" cy="489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100" u="none">
                <a:latin typeface="Arial"/>
                <a:ea typeface="Arial"/>
                <a:cs typeface="Arial"/>
                <a:sym typeface="Arial"/>
              </a:rPr>
              <a:t>Validity of the Credit Score</a:t>
            </a:r>
            <a:endParaRPr sz="3100">
              <a:latin typeface="Arial"/>
              <a:ea typeface="Arial"/>
              <a:cs typeface="Arial"/>
              <a:sym typeface="Arial"/>
            </a:endParaRPr>
          </a:p>
        </p:txBody>
      </p:sp>
      <p:sp>
        <p:nvSpPr>
          <p:cNvPr id="245" name="Google Shape;245;p11"/>
          <p:cNvSpPr txBox="1"/>
          <p:nvPr/>
        </p:nvSpPr>
        <p:spPr>
          <a:xfrm>
            <a:off x="5662268" y="2549652"/>
            <a:ext cx="3364200" cy="751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t>From the graph on the left, the credit score tends to be:</a:t>
            </a:r>
            <a:br>
              <a:rPr lang="en-US"/>
            </a:br>
            <a:r>
              <a:rPr lang="en-US" sz="1100">
                <a:solidFill>
                  <a:schemeClr val="dk1"/>
                </a:solidFill>
              </a:rPr>
              <a:t>Non-defaulters: Often 0.71 or higher</a:t>
            </a:r>
            <a:br>
              <a:rPr lang="en-US" sz="1100">
                <a:solidFill>
                  <a:schemeClr val="dk1"/>
                </a:solidFill>
              </a:rPr>
            </a:br>
            <a:r>
              <a:rPr lang="en-US" sz="1100">
                <a:solidFill>
                  <a:schemeClr val="dk1"/>
                </a:solidFill>
              </a:rPr>
              <a:t>Defaulters: Often below 0.71</a:t>
            </a:r>
            <a:endParaRPr sz="1400"/>
          </a:p>
        </p:txBody>
      </p:sp>
      <p:sp>
        <p:nvSpPr>
          <p:cNvPr id="246" name="Google Shape;246;p11"/>
          <p:cNvSpPr txBox="1"/>
          <p:nvPr/>
        </p:nvSpPr>
        <p:spPr>
          <a:xfrm>
            <a:off x="425330" y="4111543"/>
            <a:ext cx="5866800" cy="553200"/>
          </a:xfrm>
          <a:prstGeom prst="rect">
            <a:avLst/>
          </a:prstGeom>
          <a:noFill/>
          <a:ln>
            <a:noFill/>
          </a:ln>
        </p:spPr>
        <p:txBody>
          <a:bodyPr anchorCtr="0" anchor="t" bIns="0" lIns="0" spcFirstLastPara="1" rIns="0" wrap="square" tIns="12700">
            <a:spAutoFit/>
          </a:bodyPr>
          <a:lstStyle/>
          <a:p>
            <a:pPr indent="0" lvl="0" marL="12700" rtl="0" algn="l">
              <a:lnSpc>
                <a:spcPct val="119375"/>
              </a:lnSpc>
              <a:spcBef>
                <a:spcPts val="0"/>
              </a:spcBef>
              <a:spcAft>
                <a:spcPts val="0"/>
              </a:spcAft>
              <a:buNone/>
            </a:pPr>
            <a:r>
              <a:rPr lang="en-US" sz="1600"/>
              <a:t>If we define credit score </a:t>
            </a:r>
            <a:r>
              <a:rPr lang="en-US" sz="1100">
                <a:solidFill>
                  <a:schemeClr val="dk1"/>
                </a:solidFill>
              </a:rPr>
              <a:t>≥ </a:t>
            </a:r>
            <a:r>
              <a:rPr lang="en-US" sz="1600"/>
              <a:t>0.7→</a:t>
            </a:r>
            <a:r>
              <a:rPr lang="en-US" sz="1600"/>
              <a:t>☑︎</a:t>
            </a:r>
            <a:r>
              <a:rPr lang="en-US" sz="1600"/>
              <a:t>︓ Non-defaulters</a:t>
            </a:r>
            <a:br>
              <a:rPr lang="en-US" sz="1600"/>
            </a:br>
            <a:r>
              <a:rPr lang="en-US" sz="1600"/>
              <a:t>				   　&lt; 0.7→×︓ Defaulter, then</a:t>
            </a:r>
            <a:endParaRPr sz="1600"/>
          </a:p>
        </p:txBody>
      </p:sp>
      <p:sp>
        <p:nvSpPr>
          <p:cNvPr id="247" name="Google Shape;247;p11"/>
          <p:cNvSpPr txBox="1"/>
          <p:nvPr/>
        </p:nvSpPr>
        <p:spPr>
          <a:xfrm>
            <a:off x="5111803" y="4420100"/>
            <a:ext cx="2418600" cy="243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t>Among defaulters,</a:t>
            </a:r>
            <a:endParaRPr sz="1500"/>
          </a:p>
        </p:txBody>
      </p:sp>
      <p:pic>
        <p:nvPicPr>
          <p:cNvPr id="248" name="Google Shape;248;p11"/>
          <p:cNvPicPr preferRelativeResize="0"/>
          <p:nvPr/>
        </p:nvPicPr>
        <p:blipFill rotWithShape="1">
          <a:blip r:embed="rId3">
            <a:alphaModFix/>
          </a:blip>
          <a:srcRect b="0" l="0" r="0" t="0"/>
          <a:stretch/>
        </p:blipFill>
        <p:spPr>
          <a:xfrm>
            <a:off x="1274626" y="2055587"/>
            <a:ext cx="4025442" cy="1118182"/>
          </a:xfrm>
          <a:prstGeom prst="rect">
            <a:avLst/>
          </a:prstGeom>
          <a:noFill/>
          <a:ln>
            <a:noFill/>
          </a:ln>
        </p:spPr>
      </p:pic>
      <p:sp>
        <p:nvSpPr>
          <p:cNvPr id="249" name="Google Shape;249;p11"/>
          <p:cNvSpPr txBox="1"/>
          <p:nvPr/>
        </p:nvSpPr>
        <p:spPr>
          <a:xfrm>
            <a:off x="14867" y="1812390"/>
            <a:ext cx="5620500" cy="1618800"/>
          </a:xfrm>
          <a:prstGeom prst="rect">
            <a:avLst/>
          </a:prstGeom>
          <a:noFill/>
          <a:ln cap="flat" cmpd="sng" w="12700">
            <a:solidFill>
              <a:srgbClr val="B4C7E7"/>
            </a:solidFill>
            <a:prstDash val="solid"/>
            <a:round/>
            <a:headEnd len="sm" w="sm" type="none"/>
            <a:tailEnd len="sm" w="sm" type="none"/>
          </a:ln>
        </p:spPr>
        <p:txBody>
          <a:bodyPr anchorCtr="0" anchor="t" bIns="0" lIns="0" spcFirstLastPara="1" rIns="0" wrap="square" tIns="33000">
            <a:spAutoFit/>
          </a:bodyPr>
          <a:lstStyle/>
          <a:p>
            <a:pPr indent="0" lvl="0" marL="0" rtl="0" algn="l">
              <a:lnSpc>
                <a:spcPct val="100000"/>
              </a:lnSpc>
              <a:spcBef>
                <a:spcPts val="0"/>
              </a:spcBef>
              <a:spcAft>
                <a:spcPts val="0"/>
              </a:spcAft>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100">
              <a:latin typeface="Times New Roman"/>
              <a:ea typeface="Times New Roman"/>
              <a:cs typeface="Times New Roman"/>
              <a:sym typeface="Times New Roman"/>
            </a:endParaRPr>
          </a:p>
          <a:p>
            <a:pPr indent="54609" lvl="0" marL="150495" marR="4267200" rtl="0" algn="l">
              <a:lnSpc>
                <a:spcPct val="318200"/>
              </a:lnSpc>
              <a:spcBef>
                <a:spcPts val="0"/>
              </a:spcBef>
              <a:spcAft>
                <a:spcPts val="0"/>
              </a:spcAft>
              <a:buNone/>
            </a:pPr>
            <a:r>
              <a:rPr lang="en-US" sz="1100">
                <a:latin typeface="Microsoft JhengHei"/>
                <a:ea typeface="Microsoft JhengHei"/>
                <a:cs typeface="Microsoft JhengHei"/>
                <a:sym typeface="Microsoft JhengHei"/>
              </a:rPr>
              <a:t>Non-Defaulters</a:t>
            </a:r>
            <a:br>
              <a:rPr lang="en-US" sz="1100">
                <a:latin typeface="Microsoft JhengHei"/>
                <a:ea typeface="Microsoft JhengHei"/>
                <a:cs typeface="Microsoft JhengHei"/>
                <a:sym typeface="Microsoft JhengHei"/>
              </a:rPr>
            </a:br>
            <a:r>
              <a:rPr lang="en-US" sz="1100">
                <a:latin typeface="Microsoft JhengHei"/>
                <a:ea typeface="Microsoft JhengHei"/>
                <a:cs typeface="Microsoft JhengHei"/>
                <a:sym typeface="Microsoft JhengHei"/>
              </a:rPr>
              <a:t>     Defaulters</a:t>
            </a:r>
            <a:br>
              <a:rPr lang="en-US" sz="1100">
                <a:latin typeface="Microsoft JhengHei"/>
                <a:ea typeface="Microsoft JhengHei"/>
                <a:cs typeface="Microsoft JhengHei"/>
                <a:sym typeface="Microsoft JhengHei"/>
              </a:rPr>
            </a:br>
            <a:endParaRPr sz="1100">
              <a:latin typeface="Microsoft JhengHei"/>
              <a:ea typeface="Microsoft JhengHei"/>
              <a:cs typeface="Microsoft JhengHei"/>
              <a:sym typeface="Microsoft JhengHei"/>
            </a:endParaRPr>
          </a:p>
        </p:txBody>
      </p:sp>
      <p:sp>
        <p:nvSpPr>
          <p:cNvPr id="250" name="Google Shape;250;p11"/>
          <p:cNvSpPr txBox="1"/>
          <p:nvPr/>
        </p:nvSpPr>
        <p:spPr>
          <a:xfrm>
            <a:off x="624750" y="820425"/>
            <a:ext cx="7553100" cy="852600"/>
          </a:xfrm>
          <a:prstGeom prst="rect">
            <a:avLst/>
          </a:prstGeom>
          <a:noFill/>
          <a:ln>
            <a:noFill/>
          </a:ln>
        </p:spPr>
        <p:txBody>
          <a:bodyPr anchorCtr="0" anchor="t" bIns="0" lIns="0" spcFirstLastPara="1" rIns="0" wrap="square" tIns="12700">
            <a:spAutoFit/>
          </a:bodyPr>
          <a:lstStyle/>
          <a:p>
            <a:pPr indent="457200" lvl="0" marL="0" rtl="0" algn="l">
              <a:lnSpc>
                <a:spcPct val="115000"/>
              </a:lnSpc>
              <a:spcBef>
                <a:spcPts val="1200"/>
              </a:spcBef>
              <a:spcAft>
                <a:spcPts val="1200"/>
              </a:spcAft>
              <a:buNone/>
            </a:pPr>
            <a:r>
              <a:rPr lang="en-US" sz="1300">
                <a:solidFill>
                  <a:schemeClr val="dk1"/>
                </a:solidFill>
              </a:rPr>
              <a:t>Using the credit score, it is possible to distinguish non-defaulters and defaulters.</a:t>
            </a:r>
            <a:br>
              <a:rPr lang="en-US" sz="1200">
                <a:solidFill>
                  <a:schemeClr val="dk1"/>
                </a:solidFill>
              </a:rPr>
            </a:br>
            <a:br>
              <a:rPr lang="en-US" sz="1200">
                <a:solidFill>
                  <a:schemeClr val="dk1"/>
                </a:solidFill>
              </a:rPr>
            </a:br>
            <a:br>
              <a:rPr lang="en-US" sz="1200">
                <a:solidFill>
                  <a:schemeClr val="dk1"/>
                </a:solidFill>
              </a:rPr>
            </a:br>
            <a:r>
              <a:rPr lang="en-US" sz="1200">
                <a:solidFill>
                  <a:schemeClr val="dk1"/>
                </a:solidFill>
              </a:rPr>
              <a:t>	Difference in credit scores by non-default vs. default.</a:t>
            </a:r>
            <a:endParaRPr sz="1500"/>
          </a:p>
        </p:txBody>
      </p:sp>
      <p:pic>
        <p:nvPicPr>
          <p:cNvPr id="251" name="Google Shape;251;p11"/>
          <p:cNvPicPr preferRelativeResize="0"/>
          <p:nvPr/>
        </p:nvPicPr>
        <p:blipFill rotWithShape="1">
          <a:blip r:embed="rId4">
            <a:alphaModFix/>
          </a:blip>
          <a:srcRect b="0" l="0" r="0" t="0"/>
          <a:stretch/>
        </p:blipFill>
        <p:spPr>
          <a:xfrm>
            <a:off x="1312129" y="4799959"/>
            <a:ext cx="2662741" cy="1556390"/>
          </a:xfrm>
          <a:prstGeom prst="rect">
            <a:avLst/>
          </a:prstGeom>
          <a:noFill/>
          <a:ln>
            <a:noFill/>
          </a:ln>
        </p:spPr>
      </p:pic>
      <p:sp>
        <p:nvSpPr>
          <p:cNvPr id="252" name="Google Shape;252;p11"/>
          <p:cNvSpPr txBox="1"/>
          <p:nvPr/>
        </p:nvSpPr>
        <p:spPr>
          <a:xfrm>
            <a:off x="4935300" y="5231900"/>
            <a:ext cx="3877500" cy="1286400"/>
          </a:xfrm>
          <a:prstGeom prst="rect">
            <a:avLst/>
          </a:prstGeom>
          <a:noFill/>
          <a:ln>
            <a:noFill/>
          </a:ln>
        </p:spPr>
        <p:txBody>
          <a:bodyPr anchorCtr="0" anchor="t" bIns="0" lIns="0" spcFirstLastPara="1" rIns="0" wrap="square" tIns="9525">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On the other hand, 44,801 cases (14% of all data) were mistakenly predicted x;</a:t>
            </a:r>
            <a:endParaRPr sz="1400">
              <a:latin typeface="Microsoft JhengHei"/>
              <a:ea typeface="Microsoft JhengHei"/>
              <a:cs typeface="Microsoft JhengHei"/>
              <a:sym typeface="Microsoft JhengHei"/>
            </a:endParaRPr>
          </a:p>
          <a:p>
            <a:pPr indent="0" lvl="0" marL="0" rtl="0" algn="l">
              <a:lnSpc>
                <a:spcPct val="100000"/>
              </a:lnSpc>
              <a:spcBef>
                <a:spcPts val="1200"/>
              </a:spcBef>
              <a:spcAft>
                <a:spcPts val="0"/>
              </a:spcAft>
              <a:buNone/>
            </a:pPr>
            <a:r>
              <a:t/>
            </a:r>
            <a:endParaRPr sz="1400">
              <a:latin typeface="Microsoft JhengHei"/>
              <a:ea typeface="Microsoft JhengHei"/>
              <a:cs typeface="Microsoft JhengHei"/>
              <a:sym typeface="Microsoft JhengHei"/>
            </a:endParaRPr>
          </a:p>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T</a:t>
            </a:r>
            <a:r>
              <a:rPr lang="en-US" sz="1100">
                <a:solidFill>
                  <a:schemeClr val="dk1"/>
                </a:solidFill>
                <a:extLst>
                  <a:ext uri="http://customooxmlschemas.google.com/">
                    <go:slidesCustomData xmlns:go="http://customooxmlschemas.google.com/" textRoundtripDataId="14"/>
                  </a:ext>
                </a:extLst>
              </a:rPr>
              <a:t>herefore</a:t>
            </a:r>
            <a:r>
              <a:rPr lang="en-US" sz="1100">
                <a:solidFill>
                  <a:schemeClr val="dk1"/>
                </a:solidFill>
              </a:rPr>
              <a:t>, classification by experts with specialized knowledge is necessary.</a:t>
            </a:r>
            <a:endParaRPr sz="1400">
              <a:latin typeface="Microsoft JhengHei"/>
              <a:ea typeface="Microsoft JhengHei"/>
              <a:cs typeface="Microsoft JhengHei"/>
              <a:sym typeface="Microsoft JhengHei"/>
            </a:endParaRPr>
          </a:p>
        </p:txBody>
      </p:sp>
      <p:grpSp>
        <p:nvGrpSpPr>
          <p:cNvPr id="253" name="Google Shape;253;p11"/>
          <p:cNvGrpSpPr/>
          <p:nvPr/>
        </p:nvGrpSpPr>
        <p:grpSpPr>
          <a:xfrm>
            <a:off x="6112934" y="4730502"/>
            <a:ext cx="821055" cy="369570"/>
            <a:chOff x="6112934" y="4730502"/>
            <a:chExt cx="821055" cy="369570"/>
          </a:xfrm>
        </p:grpSpPr>
        <p:sp>
          <p:nvSpPr>
            <p:cNvPr id="254" name="Google Shape;254;p11"/>
            <p:cNvSpPr/>
            <p:nvPr/>
          </p:nvSpPr>
          <p:spPr>
            <a:xfrm>
              <a:off x="6112934" y="4730502"/>
              <a:ext cx="821055" cy="369570"/>
            </a:xfrm>
            <a:custGeom>
              <a:rect b="b" l="l" r="r" t="t"/>
              <a:pathLst>
                <a:path extrusionOk="0" h="369570" w="821054">
                  <a:moveTo>
                    <a:pt x="759010" y="0"/>
                  </a:moveTo>
                  <a:lnTo>
                    <a:pt x="61593" y="0"/>
                  </a:lnTo>
                  <a:lnTo>
                    <a:pt x="37618" y="4840"/>
                  </a:lnTo>
                  <a:lnTo>
                    <a:pt x="18040" y="18040"/>
                  </a:lnTo>
                  <a:lnTo>
                    <a:pt x="4840" y="37618"/>
                  </a:lnTo>
                  <a:lnTo>
                    <a:pt x="0" y="61593"/>
                  </a:lnTo>
                  <a:lnTo>
                    <a:pt x="0" y="307961"/>
                  </a:lnTo>
                  <a:lnTo>
                    <a:pt x="4840" y="331935"/>
                  </a:lnTo>
                  <a:lnTo>
                    <a:pt x="18040" y="351514"/>
                  </a:lnTo>
                  <a:lnTo>
                    <a:pt x="37618" y="364714"/>
                  </a:lnTo>
                  <a:lnTo>
                    <a:pt x="61593" y="369554"/>
                  </a:lnTo>
                  <a:lnTo>
                    <a:pt x="759010" y="369554"/>
                  </a:lnTo>
                  <a:lnTo>
                    <a:pt x="782985" y="364714"/>
                  </a:lnTo>
                  <a:lnTo>
                    <a:pt x="802563" y="351514"/>
                  </a:lnTo>
                  <a:lnTo>
                    <a:pt x="815763" y="331935"/>
                  </a:lnTo>
                  <a:lnTo>
                    <a:pt x="820604" y="307961"/>
                  </a:lnTo>
                  <a:lnTo>
                    <a:pt x="820604" y="61593"/>
                  </a:lnTo>
                  <a:lnTo>
                    <a:pt x="815763" y="37618"/>
                  </a:lnTo>
                  <a:lnTo>
                    <a:pt x="802563" y="18040"/>
                  </a:lnTo>
                  <a:lnTo>
                    <a:pt x="782985" y="4840"/>
                  </a:lnTo>
                  <a:lnTo>
                    <a:pt x="759010" y="0"/>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5" name="Google Shape;255;p11"/>
            <p:cNvSpPr/>
            <p:nvPr/>
          </p:nvSpPr>
          <p:spPr>
            <a:xfrm>
              <a:off x="6112934" y="4730502"/>
              <a:ext cx="821055" cy="369570"/>
            </a:xfrm>
            <a:custGeom>
              <a:rect b="b" l="l" r="r" t="t"/>
              <a:pathLst>
                <a:path extrusionOk="0" h="369570" w="821054">
                  <a:moveTo>
                    <a:pt x="0" y="61593"/>
                  </a:moveTo>
                  <a:lnTo>
                    <a:pt x="4840" y="37618"/>
                  </a:lnTo>
                  <a:lnTo>
                    <a:pt x="18040" y="18040"/>
                  </a:lnTo>
                  <a:lnTo>
                    <a:pt x="37618" y="4840"/>
                  </a:lnTo>
                  <a:lnTo>
                    <a:pt x="61593" y="0"/>
                  </a:lnTo>
                  <a:lnTo>
                    <a:pt x="759010" y="0"/>
                  </a:lnTo>
                  <a:lnTo>
                    <a:pt x="782985" y="4840"/>
                  </a:lnTo>
                  <a:lnTo>
                    <a:pt x="802563" y="18040"/>
                  </a:lnTo>
                  <a:lnTo>
                    <a:pt x="815763" y="37618"/>
                  </a:lnTo>
                  <a:lnTo>
                    <a:pt x="820604" y="61593"/>
                  </a:lnTo>
                  <a:lnTo>
                    <a:pt x="820604" y="307961"/>
                  </a:lnTo>
                  <a:lnTo>
                    <a:pt x="815763" y="331936"/>
                  </a:lnTo>
                  <a:lnTo>
                    <a:pt x="802563" y="351514"/>
                  </a:lnTo>
                  <a:lnTo>
                    <a:pt x="782985" y="364714"/>
                  </a:lnTo>
                  <a:lnTo>
                    <a:pt x="759010" y="369555"/>
                  </a:lnTo>
                  <a:lnTo>
                    <a:pt x="61593" y="369555"/>
                  </a:lnTo>
                  <a:lnTo>
                    <a:pt x="37618" y="364714"/>
                  </a:lnTo>
                  <a:lnTo>
                    <a:pt x="18040" y="351514"/>
                  </a:lnTo>
                  <a:lnTo>
                    <a:pt x="4840" y="331936"/>
                  </a:lnTo>
                  <a:lnTo>
                    <a:pt x="0" y="307961"/>
                  </a:lnTo>
                  <a:lnTo>
                    <a:pt x="0" y="61593"/>
                  </a:lnTo>
                  <a:close/>
                </a:path>
              </a:pathLst>
            </a:custGeom>
            <a:noFill/>
            <a:ln cap="flat" cmpd="sng" w="12700">
              <a:solidFill>
                <a:srgbClr val="ED7D3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56" name="Google Shape;256;p11"/>
          <p:cNvSpPr txBox="1"/>
          <p:nvPr/>
        </p:nvSpPr>
        <p:spPr>
          <a:xfrm>
            <a:off x="6273204" y="4693411"/>
            <a:ext cx="50038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a:solidFill>
                  <a:srgbClr val="FFFFFF"/>
                </a:solidFill>
                <a:latin typeface="Calibri"/>
                <a:ea typeface="Calibri"/>
                <a:cs typeface="Calibri"/>
                <a:sym typeface="Calibri"/>
              </a:rPr>
              <a:t>57</a:t>
            </a:r>
            <a:r>
              <a:rPr b="1" lang="en-US" sz="1800">
                <a:solidFill>
                  <a:srgbClr val="FFFFFF"/>
                </a:solidFill>
                <a:latin typeface="Calibri"/>
                <a:ea typeface="Calibri"/>
                <a:cs typeface="Calibri"/>
                <a:sym typeface="Calibri"/>
              </a:rPr>
              <a:t>%</a:t>
            </a:r>
            <a:endParaRPr sz="1800">
              <a:latin typeface="Calibri"/>
              <a:ea typeface="Calibri"/>
              <a:cs typeface="Calibri"/>
              <a:sym typeface="Calibri"/>
            </a:endParaRPr>
          </a:p>
        </p:txBody>
      </p:sp>
      <p:sp>
        <p:nvSpPr>
          <p:cNvPr id="257" name="Google Shape;257;p11"/>
          <p:cNvSpPr txBox="1"/>
          <p:nvPr/>
        </p:nvSpPr>
        <p:spPr>
          <a:xfrm>
            <a:off x="6986875" y="4840725"/>
            <a:ext cx="1688400" cy="243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t>c</a:t>
            </a:r>
            <a:r>
              <a:rPr lang="en-US" sz="1500"/>
              <a:t>an be detected</a:t>
            </a:r>
            <a:endParaRPr sz="1500"/>
          </a:p>
        </p:txBody>
      </p:sp>
      <p:sp>
        <p:nvSpPr>
          <p:cNvPr id="258" name="Google Shape;258;p11"/>
          <p:cNvSpPr/>
          <p:nvPr/>
        </p:nvSpPr>
        <p:spPr>
          <a:xfrm>
            <a:off x="355178" y="745063"/>
            <a:ext cx="7044690" cy="0"/>
          </a:xfrm>
          <a:custGeom>
            <a:rect b="b" l="l" r="r" t="t"/>
            <a:pathLst>
              <a:path extrusionOk="0" h="120000" w="7044690">
                <a:moveTo>
                  <a:pt x="0" y="0"/>
                </a:moveTo>
                <a:lnTo>
                  <a:pt x="7044267" y="0"/>
                </a:lnTo>
              </a:path>
            </a:pathLst>
          </a:custGeom>
          <a:noFill/>
          <a:ln cap="flat" cmpd="sng" w="25400">
            <a:solidFill>
              <a:srgbClr val="AFABA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9" name="Google Shape;259;p11"/>
          <p:cNvSpPr/>
          <p:nvPr/>
        </p:nvSpPr>
        <p:spPr>
          <a:xfrm>
            <a:off x="5841986" y="5737914"/>
            <a:ext cx="1688464" cy="324485"/>
          </a:xfrm>
          <a:custGeom>
            <a:rect b="b" l="l" r="r" t="t"/>
            <a:pathLst>
              <a:path extrusionOk="0" h="324485" w="1688465">
                <a:moveTo>
                  <a:pt x="1687927" y="0"/>
                </a:moveTo>
                <a:lnTo>
                  <a:pt x="0" y="0"/>
                </a:lnTo>
                <a:lnTo>
                  <a:pt x="843964" y="324220"/>
                </a:lnTo>
                <a:lnTo>
                  <a:pt x="1687927" y="0"/>
                </a:lnTo>
                <a:close/>
              </a:path>
            </a:pathLst>
          </a:custGeom>
          <a:solidFill>
            <a:srgbClr val="A5A5A5">
              <a:alpha val="23529"/>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0" name="Google Shape;260;p11"/>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261" name="Google Shape;261;p11"/>
          <p:cNvSpPr/>
          <p:nvPr/>
        </p:nvSpPr>
        <p:spPr>
          <a:xfrm>
            <a:off x="2393300" y="4932125"/>
            <a:ext cx="500400" cy="21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262" name="Google Shape;262;p11"/>
          <p:cNvSpPr txBox="1"/>
          <p:nvPr/>
        </p:nvSpPr>
        <p:spPr>
          <a:xfrm>
            <a:off x="2267773" y="4860875"/>
            <a:ext cx="942000" cy="354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100">
                <a:solidFill>
                  <a:schemeClr val="dk1"/>
                </a:solidFill>
              </a:rPr>
              <a:t>Prediction</a:t>
            </a:r>
            <a:endParaRPr/>
          </a:p>
        </p:txBody>
      </p:sp>
      <p:sp>
        <p:nvSpPr>
          <p:cNvPr id="263" name="Google Shape;263;p11"/>
          <p:cNvSpPr txBox="1"/>
          <p:nvPr/>
        </p:nvSpPr>
        <p:spPr>
          <a:xfrm>
            <a:off x="183115" y="4663700"/>
            <a:ext cx="942000" cy="354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100">
                <a:solidFill>
                  <a:schemeClr val="dk1"/>
                </a:solidFill>
              </a:rPr>
              <a:t>Prediction</a:t>
            </a:r>
            <a:endParaRPr/>
          </a:p>
        </p:txBody>
      </p:sp>
      <p:sp>
        <p:nvSpPr>
          <p:cNvPr id="264" name="Google Shape;264;p11"/>
          <p:cNvSpPr/>
          <p:nvPr/>
        </p:nvSpPr>
        <p:spPr>
          <a:xfrm>
            <a:off x="1474687" y="4932175"/>
            <a:ext cx="451500" cy="21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265" name="Google Shape;265;p11"/>
          <p:cNvSpPr/>
          <p:nvPr/>
        </p:nvSpPr>
        <p:spPr>
          <a:xfrm rot="-5400000">
            <a:off x="1260314" y="5578249"/>
            <a:ext cx="451500" cy="21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266" name="Google Shape;266;p11"/>
          <p:cNvSpPr/>
          <p:nvPr/>
        </p:nvSpPr>
        <p:spPr>
          <a:xfrm>
            <a:off x="1416712" y="6144850"/>
            <a:ext cx="451500" cy="21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267" name="Google Shape;267;p11"/>
          <p:cNvSpPr/>
          <p:nvPr/>
        </p:nvSpPr>
        <p:spPr>
          <a:xfrm>
            <a:off x="3393287" y="4932125"/>
            <a:ext cx="451500" cy="21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Microsoft JhengHei"/>
              <a:ea typeface="Microsoft JhengHei"/>
              <a:cs typeface="Microsoft JhengHei"/>
              <a:sym typeface="Microsoft JhengHei"/>
            </a:endParaRPr>
          </a:p>
        </p:txBody>
      </p:sp>
      <p:sp>
        <p:nvSpPr>
          <p:cNvPr id="268" name="Google Shape;268;p11"/>
          <p:cNvSpPr txBox="1"/>
          <p:nvPr/>
        </p:nvSpPr>
        <p:spPr>
          <a:xfrm>
            <a:off x="1270936" y="4910412"/>
            <a:ext cx="942000" cy="2769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600">
                <a:solidFill>
                  <a:schemeClr val="dk1"/>
                </a:solidFill>
              </a:rPr>
              <a:t>Number of Data</a:t>
            </a:r>
            <a:endParaRPr sz="600"/>
          </a:p>
        </p:txBody>
      </p:sp>
      <p:sp>
        <p:nvSpPr>
          <p:cNvPr id="269" name="Google Shape;269;p11"/>
          <p:cNvSpPr txBox="1"/>
          <p:nvPr/>
        </p:nvSpPr>
        <p:spPr>
          <a:xfrm rot="-5400000">
            <a:off x="998702" y="5432713"/>
            <a:ext cx="942000" cy="354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100">
                <a:solidFill>
                  <a:schemeClr val="dk1"/>
                </a:solidFill>
              </a:rPr>
              <a:t>Results</a:t>
            </a:r>
            <a:endParaRPr/>
          </a:p>
        </p:txBody>
      </p:sp>
      <p:sp>
        <p:nvSpPr>
          <p:cNvPr id="270" name="Google Shape;270;p11"/>
          <p:cNvSpPr txBox="1"/>
          <p:nvPr/>
        </p:nvSpPr>
        <p:spPr>
          <a:xfrm>
            <a:off x="3294857" y="4863213"/>
            <a:ext cx="942000" cy="354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100">
                <a:solidFill>
                  <a:schemeClr val="dk1"/>
                </a:solidFill>
              </a:rPr>
              <a:t>Total</a:t>
            </a:r>
            <a:endParaRPr/>
          </a:p>
        </p:txBody>
      </p:sp>
      <p:sp>
        <p:nvSpPr>
          <p:cNvPr id="271" name="Google Shape;271;p11"/>
          <p:cNvSpPr txBox="1"/>
          <p:nvPr/>
        </p:nvSpPr>
        <p:spPr>
          <a:xfrm>
            <a:off x="1253657" y="6073588"/>
            <a:ext cx="942000" cy="3540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US" sz="1100">
                <a:solidFill>
                  <a:schemeClr val="dk1"/>
                </a:solidFill>
              </a:rPr>
              <a:t>Total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2"/>
          <p:cNvSpPr txBox="1"/>
          <p:nvPr>
            <p:ph type="title"/>
          </p:nvPr>
        </p:nvSpPr>
        <p:spPr>
          <a:xfrm>
            <a:off x="342478" y="201901"/>
            <a:ext cx="7070100" cy="8478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sz="3000">
                <a:latin typeface="Arial"/>
                <a:ea typeface="Arial"/>
                <a:cs typeface="Arial"/>
                <a:sym typeface="Arial"/>
              </a:rPr>
              <a:t> Impact on Revenue	</a:t>
            </a:r>
            <a:endParaRPr sz="3000">
              <a:latin typeface="Arial"/>
              <a:ea typeface="Arial"/>
              <a:cs typeface="Arial"/>
              <a:sym typeface="Arial"/>
            </a:endParaRPr>
          </a:p>
          <a:p>
            <a:pPr indent="0" lvl="0" marL="457200" rtl="0" algn="l">
              <a:lnSpc>
                <a:spcPct val="115000"/>
              </a:lnSpc>
              <a:spcBef>
                <a:spcPts val="1200"/>
              </a:spcBef>
              <a:spcAft>
                <a:spcPts val="1200"/>
              </a:spcAft>
              <a:buNone/>
            </a:pPr>
            <a:r>
              <a:rPr lang="en-US" sz="1200" u="none">
                <a:latin typeface="Arial"/>
                <a:ea typeface="Arial"/>
                <a:cs typeface="Arial"/>
                <a:sym typeface="Arial"/>
              </a:rPr>
              <a:t>Reducing the customer’s default rate leads to improved profitability.</a:t>
            </a:r>
            <a:endParaRPr sz="1200">
              <a:latin typeface="Arial"/>
              <a:ea typeface="Arial"/>
              <a:cs typeface="Arial"/>
              <a:sym typeface="Arial"/>
            </a:endParaRPr>
          </a:p>
        </p:txBody>
      </p:sp>
      <p:sp>
        <p:nvSpPr>
          <p:cNvPr id="277" name="Google Shape;277;p12"/>
          <p:cNvSpPr txBox="1"/>
          <p:nvPr/>
        </p:nvSpPr>
        <p:spPr>
          <a:xfrm>
            <a:off x="911975" y="4655825"/>
            <a:ext cx="31188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Difference in default rate: </a:t>
            </a:r>
            <a:r>
              <a:rPr lang="en-US" sz="1400"/>
              <a:t>3%, </a:t>
            </a:r>
            <a:endParaRPr sz="1400"/>
          </a:p>
        </p:txBody>
      </p:sp>
      <p:sp>
        <p:nvSpPr>
          <p:cNvPr id="278" name="Google Shape;278;p12"/>
          <p:cNvSpPr txBox="1"/>
          <p:nvPr/>
        </p:nvSpPr>
        <p:spPr>
          <a:xfrm>
            <a:off x="411730" y="3836350"/>
            <a:ext cx="6128100" cy="837000"/>
          </a:xfrm>
          <a:prstGeom prst="rect">
            <a:avLst/>
          </a:prstGeom>
          <a:noFill/>
          <a:ln>
            <a:noFill/>
          </a:ln>
        </p:spPr>
        <p:txBody>
          <a:bodyPr anchorCtr="0" anchor="t" bIns="0" lIns="0" spcFirstLastPara="1" rIns="0" wrap="square" tIns="90150">
            <a:spAutoFit/>
          </a:bodyPr>
          <a:lstStyle/>
          <a:p>
            <a:pPr indent="0" lvl="0" marL="12700" rtl="0" algn="l">
              <a:lnSpc>
                <a:spcPct val="100000"/>
              </a:lnSpc>
              <a:spcBef>
                <a:spcPts val="0"/>
              </a:spcBef>
              <a:spcAft>
                <a:spcPts val="0"/>
              </a:spcAft>
              <a:buNone/>
            </a:pPr>
            <a:r>
              <a:rPr lang="en-US" sz="1600"/>
              <a:t>Assuming:</a:t>
            </a:r>
            <a:endParaRPr sz="1600"/>
          </a:p>
          <a:p>
            <a:pPr indent="0" lvl="0" marL="521334" rtl="0" algn="l">
              <a:lnSpc>
                <a:spcPct val="100000"/>
              </a:lnSpc>
              <a:spcBef>
                <a:spcPts val="535"/>
              </a:spcBef>
              <a:spcAft>
                <a:spcPts val="0"/>
              </a:spcAft>
              <a:buNone/>
            </a:pPr>
            <a:r>
              <a:rPr lang="en-US"/>
              <a:t>Median loan </a:t>
            </a:r>
            <a:r>
              <a:rPr lang="en-US"/>
              <a:t>amount : </a:t>
            </a:r>
            <a:r>
              <a:rPr lang="en-US" sz="1400"/>
              <a:t>2</a:t>
            </a:r>
            <a:r>
              <a:rPr lang="en-US"/>
              <a:t>0</a:t>
            </a:r>
            <a:r>
              <a:rPr lang="en-US" sz="1400"/>
              <a:t>4,</a:t>
            </a:r>
            <a:r>
              <a:rPr lang="en-US"/>
              <a:t>515 yen</a:t>
            </a:r>
            <a:r>
              <a:rPr lang="en-US" sz="1400"/>
              <a:t>*</a:t>
            </a:r>
            <a:endParaRPr sz="1400"/>
          </a:p>
          <a:p>
            <a:pPr indent="0" lvl="0" marL="521334" rtl="0" algn="l">
              <a:lnSpc>
                <a:spcPct val="100000"/>
              </a:lnSpc>
              <a:spcBef>
                <a:spcPts val="0"/>
              </a:spcBef>
              <a:spcAft>
                <a:spcPts val="0"/>
              </a:spcAft>
              <a:buNone/>
            </a:pPr>
            <a:r>
              <a:rPr lang="en-US"/>
              <a:t>Annual number of loans: </a:t>
            </a:r>
            <a:r>
              <a:rPr lang="en-US" sz="1400"/>
              <a:t>41,608,720</a:t>
            </a:r>
            <a:r>
              <a:rPr lang="en-US"/>
              <a:t> people</a:t>
            </a:r>
            <a:r>
              <a:rPr lang="en-US" sz="1400"/>
              <a:t>**</a:t>
            </a:r>
            <a:endParaRPr sz="1400"/>
          </a:p>
        </p:txBody>
      </p:sp>
      <p:sp>
        <p:nvSpPr>
          <p:cNvPr id="279" name="Google Shape;279;p12"/>
          <p:cNvSpPr txBox="1"/>
          <p:nvPr/>
        </p:nvSpPr>
        <p:spPr>
          <a:xfrm>
            <a:off x="3323519" y="5125463"/>
            <a:ext cx="997500" cy="25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t>a</a:t>
            </a:r>
            <a:r>
              <a:rPr lang="en-US" sz="1600"/>
              <a:t>nnually</a:t>
            </a:r>
            <a:r>
              <a:rPr lang="en-US" sz="1600"/>
              <a:t>,</a:t>
            </a:r>
            <a:endParaRPr sz="1600"/>
          </a:p>
        </p:txBody>
      </p:sp>
      <p:grpSp>
        <p:nvGrpSpPr>
          <p:cNvPr id="280" name="Google Shape;280;p12"/>
          <p:cNvGrpSpPr/>
          <p:nvPr/>
        </p:nvGrpSpPr>
        <p:grpSpPr>
          <a:xfrm>
            <a:off x="2689392" y="1279496"/>
            <a:ext cx="3765217" cy="2698822"/>
            <a:chOff x="2692730" y="1022041"/>
            <a:chExt cx="3765217" cy="2698822"/>
          </a:xfrm>
        </p:grpSpPr>
        <p:pic>
          <p:nvPicPr>
            <p:cNvPr id="281" name="Google Shape;281;p12"/>
            <p:cNvPicPr preferRelativeResize="0"/>
            <p:nvPr/>
          </p:nvPicPr>
          <p:blipFill rotWithShape="1">
            <a:blip r:embed="rId3">
              <a:alphaModFix/>
            </a:blip>
            <a:srcRect b="0" l="0" r="0" t="0"/>
            <a:stretch/>
          </p:blipFill>
          <p:spPr>
            <a:xfrm>
              <a:off x="2692730" y="1022041"/>
              <a:ext cx="3765217" cy="2698822"/>
            </a:xfrm>
            <a:prstGeom prst="rect">
              <a:avLst/>
            </a:prstGeom>
            <a:noFill/>
            <a:ln>
              <a:noFill/>
            </a:ln>
          </p:spPr>
        </p:pic>
        <p:sp>
          <p:nvSpPr>
            <p:cNvPr id="282" name="Google Shape;282;p12"/>
            <p:cNvSpPr/>
            <p:nvPr/>
          </p:nvSpPr>
          <p:spPr>
            <a:xfrm>
              <a:off x="5439055" y="2565412"/>
              <a:ext cx="309880" cy="227965"/>
            </a:xfrm>
            <a:custGeom>
              <a:rect b="b" l="l" r="r" t="t"/>
              <a:pathLst>
                <a:path extrusionOk="0" h="227964" w="309879">
                  <a:moveTo>
                    <a:pt x="34658" y="0"/>
                  </a:moveTo>
                  <a:lnTo>
                    <a:pt x="0" y="57491"/>
                  </a:lnTo>
                  <a:lnTo>
                    <a:pt x="234821" y="199049"/>
                  </a:lnTo>
                  <a:lnTo>
                    <a:pt x="217492" y="227796"/>
                  </a:lnTo>
                  <a:lnTo>
                    <a:pt x="309642" y="204961"/>
                  </a:lnTo>
                  <a:lnTo>
                    <a:pt x="286807" y="112811"/>
                  </a:lnTo>
                  <a:lnTo>
                    <a:pt x="269480" y="141558"/>
                  </a:lnTo>
                  <a:lnTo>
                    <a:pt x="34658" y="0"/>
                  </a:lnTo>
                  <a:close/>
                </a:path>
              </a:pathLst>
            </a:custGeom>
            <a:solidFill>
              <a:srgbClr val="FBE5D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3" name="Google Shape;283;p12"/>
            <p:cNvSpPr/>
            <p:nvPr/>
          </p:nvSpPr>
          <p:spPr>
            <a:xfrm>
              <a:off x="5439055" y="2565412"/>
              <a:ext cx="309880" cy="227965"/>
            </a:xfrm>
            <a:custGeom>
              <a:rect b="b" l="l" r="r" t="t"/>
              <a:pathLst>
                <a:path extrusionOk="0" h="227964" w="309879">
                  <a:moveTo>
                    <a:pt x="0" y="57491"/>
                  </a:moveTo>
                  <a:lnTo>
                    <a:pt x="234821" y="199050"/>
                  </a:lnTo>
                  <a:lnTo>
                    <a:pt x="217492" y="227796"/>
                  </a:lnTo>
                  <a:lnTo>
                    <a:pt x="309642" y="204962"/>
                  </a:lnTo>
                  <a:lnTo>
                    <a:pt x="286808" y="112812"/>
                  </a:lnTo>
                  <a:lnTo>
                    <a:pt x="269479" y="141558"/>
                  </a:lnTo>
                  <a:lnTo>
                    <a:pt x="34658" y="0"/>
                  </a:lnTo>
                  <a:lnTo>
                    <a:pt x="0" y="57491"/>
                  </a:lnTo>
                  <a:close/>
                </a:path>
              </a:pathLst>
            </a:custGeom>
            <a:noFill/>
            <a:ln cap="flat" cmpd="sng" w="12675">
              <a:solidFill>
                <a:srgbClr val="F4B18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84" name="Google Shape;284;p12"/>
          <p:cNvSpPr txBox="1"/>
          <p:nvPr/>
        </p:nvSpPr>
        <p:spPr>
          <a:xfrm>
            <a:off x="5549830" y="2634364"/>
            <a:ext cx="2127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Calibri"/>
                <a:ea typeface="Calibri"/>
                <a:cs typeface="Calibri"/>
                <a:sym typeface="Calibri"/>
              </a:rPr>
              <a:t>3%</a:t>
            </a:r>
            <a:endParaRPr sz="1200">
              <a:latin typeface="Calibri"/>
              <a:ea typeface="Calibri"/>
              <a:cs typeface="Calibri"/>
              <a:sym typeface="Calibri"/>
            </a:endParaRPr>
          </a:p>
        </p:txBody>
      </p:sp>
      <p:sp>
        <p:nvSpPr>
          <p:cNvPr id="285" name="Google Shape;285;p12"/>
          <p:cNvSpPr txBox="1"/>
          <p:nvPr/>
        </p:nvSpPr>
        <p:spPr>
          <a:xfrm>
            <a:off x="3441399" y="3879250"/>
            <a:ext cx="2145000" cy="166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latin typeface="Microsoft JhengHei"/>
                <a:ea typeface="Microsoft JhengHei"/>
                <a:cs typeface="Microsoft JhengHei"/>
                <a:sym typeface="Microsoft JhengHei"/>
              </a:rPr>
              <a:t>Source </a:t>
            </a:r>
            <a:r>
              <a:rPr lang="en-US" sz="1000">
                <a:latin typeface="Calibri"/>
                <a:ea typeface="Calibri"/>
                <a:cs typeface="Calibri"/>
                <a:sym typeface="Calibri"/>
              </a:rPr>
              <a:t>:Home Credit annual report 2017</a:t>
            </a:r>
            <a:endParaRPr sz="1000">
              <a:latin typeface="Calibri"/>
              <a:ea typeface="Calibri"/>
              <a:cs typeface="Calibri"/>
              <a:sym typeface="Calibri"/>
            </a:endParaRPr>
          </a:p>
        </p:txBody>
      </p:sp>
      <p:pic>
        <p:nvPicPr>
          <p:cNvPr id="286" name="Google Shape;286;p12"/>
          <p:cNvPicPr preferRelativeResize="0"/>
          <p:nvPr/>
        </p:nvPicPr>
        <p:blipFill rotWithShape="1">
          <a:blip r:embed="rId4">
            <a:alphaModFix/>
          </a:blip>
          <a:srcRect b="0" l="0" r="0" t="0"/>
          <a:stretch/>
        </p:blipFill>
        <p:spPr>
          <a:xfrm>
            <a:off x="1354404" y="5659154"/>
            <a:ext cx="1401881" cy="1014834"/>
          </a:xfrm>
          <a:prstGeom prst="rect">
            <a:avLst/>
          </a:prstGeom>
          <a:noFill/>
          <a:ln>
            <a:noFill/>
          </a:ln>
        </p:spPr>
      </p:pic>
      <p:sp>
        <p:nvSpPr>
          <p:cNvPr id="287" name="Google Shape;287;p12"/>
          <p:cNvSpPr txBox="1"/>
          <p:nvPr/>
        </p:nvSpPr>
        <p:spPr>
          <a:xfrm>
            <a:off x="2835025" y="5836778"/>
            <a:ext cx="4990800" cy="5715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SzPts val="1100"/>
              <a:buNone/>
            </a:pPr>
            <a:r>
              <a:rPr lang="en-US" sz="1100">
                <a:solidFill>
                  <a:schemeClr val="dk1"/>
                </a:solidFill>
                <a:latin typeface="Calibri"/>
                <a:ea typeface="Calibri"/>
                <a:cs typeface="Calibri"/>
                <a:sym typeface="Calibri"/>
              </a:rPr>
              <a:t>* </a:t>
            </a:r>
            <a:r>
              <a:rPr lang="en-US" sz="1100">
                <a:solidFill>
                  <a:schemeClr val="dk1"/>
                </a:solidFill>
              </a:rPr>
              <a:t>As shown in the graph on the left, the distribution of loan amounts is right-skewed and the mean becomes large, so we estimate using the median (calculated with 1 tenge = 0.25 yen).</a:t>
            </a:r>
            <a:endParaRPr sz="1100">
              <a:latin typeface="Calibri"/>
              <a:ea typeface="Calibri"/>
              <a:cs typeface="Calibri"/>
              <a:sym typeface="Calibri"/>
            </a:endParaRPr>
          </a:p>
        </p:txBody>
      </p:sp>
      <p:grpSp>
        <p:nvGrpSpPr>
          <p:cNvPr id="288" name="Google Shape;288;p12"/>
          <p:cNvGrpSpPr/>
          <p:nvPr/>
        </p:nvGrpSpPr>
        <p:grpSpPr>
          <a:xfrm>
            <a:off x="4414114" y="4957979"/>
            <a:ext cx="2982778" cy="535305"/>
            <a:chOff x="4971939" y="4421154"/>
            <a:chExt cx="1674495" cy="535305"/>
          </a:xfrm>
        </p:grpSpPr>
        <p:sp>
          <p:nvSpPr>
            <p:cNvPr id="289" name="Google Shape;289;p12"/>
            <p:cNvSpPr/>
            <p:nvPr/>
          </p:nvSpPr>
          <p:spPr>
            <a:xfrm>
              <a:off x="4971939" y="4421154"/>
              <a:ext cx="1674495" cy="535305"/>
            </a:xfrm>
            <a:custGeom>
              <a:rect b="b" l="l" r="r" t="t"/>
              <a:pathLst>
                <a:path extrusionOk="0" h="535304" w="1674495">
                  <a:moveTo>
                    <a:pt x="1585253" y="0"/>
                  </a:moveTo>
                  <a:lnTo>
                    <a:pt x="89140" y="0"/>
                  </a:lnTo>
                  <a:lnTo>
                    <a:pt x="54442" y="7005"/>
                  </a:lnTo>
                  <a:lnTo>
                    <a:pt x="26108" y="26108"/>
                  </a:lnTo>
                  <a:lnTo>
                    <a:pt x="7005" y="54442"/>
                  </a:lnTo>
                  <a:lnTo>
                    <a:pt x="0" y="89140"/>
                  </a:lnTo>
                  <a:lnTo>
                    <a:pt x="0" y="445688"/>
                  </a:lnTo>
                  <a:lnTo>
                    <a:pt x="7005" y="480386"/>
                  </a:lnTo>
                  <a:lnTo>
                    <a:pt x="26108" y="508720"/>
                  </a:lnTo>
                  <a:lnTo>
                    <a:pt x="54442" y="527823"/>
                  </a:lnTo>
                  <a:lnTo>
                    <a:pt x="89140" y="534828"/>
                  </a:lnTo>
                  <a:lnTo>
                    <a:pt x="1585253" y="534828"/>
                  </a:lnTo>
                  <a:lnTo>
                    <a:pt x="1619950" y="527823"/>
                  </a:lnTo>
                  <a:lnTo>
                    <a:pt x="1648284" y="508720"/>
                  </a:lnTo>
                  <a:lnTo>
                    <a:pt x="1667388" y="480386"/>
                  </a:lnTo>
                  <a:lnTo>
                    <a:pt x="1674393" y="445688"/>
                  </a:lnTo>
                  <a:lnTo>
                    <a:pt x="1674393" y="89140"/>
                  </a:lnTo>
                  <a:lnTo>
                    <a:pt x="1667388" y="54442"/>
                  </a:lnTo>
                  <a:lnTo>
                    <a:pt x="1648284" y="26108"/>
                  </a:lnTo>
                  <a:lnTo>
                    <a:pt x="1619950" y="7005"/>
                  </a:lnTo>
                  <a:lnTo>
                    <a:pt x="1585253" y="0"/>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0" name="Google Shape;290;p12"/>
            <p:cNvSpPr/>
            <p:nvPr/>
          </p:nvSpPr>
          <p:spPr>
            <a:xfrm>
              <a:off x="4971939" y="4421154"/>
              <a:ext cx="1674495" cy="535305"/>
            </a:xfrm>
            <a:custGeom>
              <a:rect b="b" l="l" r="r" t="t"/>
              <a:pathLst>
                <a:path extrusionOk="0" h="535304" w="1674495">
                  <a:moveTo>
                    <a:pt x="0" y="89140"/>
                  </a:moveTo>
                  <a:lnTo>
                    <a:pt x="7005" y="54442"/>
                  </a:lnTo>
                  <a:lnTo>
                    <a:pt x="26108" y="26108"/>
                  </a:lnTo>
                  <a:lnTo>
                    <a:pt x="54442" y="7005"/>
                  </a:lnTo>
                  <a:lnTo>
                    <a:pt x="89139" y="0"/>
                  </a:lnTo>
                  <a:lnTo>
                    <a:pt x="1585253" y="0"/>
                  </a:lnTo>
                  <a:lnTo>
                    <a:pt x="1619950" y="7005"/>
                  </a:lnTo>
                  <a:lnTo>
                    <a:pt x="1648284" y="26108"/>
                  </a:lnTo>
                  <a:lnTo>
                    <a:pt x="1667388" y="54442"/>
                  </a:lnTo>
                  <a:lnTo>
                    <a:pt x="1674393" y="89140"/>
                  </a:lnTo>
                  <a:lnTo>
                    <a:pt x="1674393" y="445689"/>
                  </a:lnTo>
                  <a:lnTo>
                    <a:pt x="1667388" y="480386"/>
                  </a:lnTo>
                  <a:lnTo>
                    <a:pt x="1648284" y="508720"/>
                  </a:lnTo>
                  <a:lnTo>
                    <a:pt x="1619950" y="527823"/>
                  </a:lnTo>
                  <a:lnTo>
                    <a:pt x="1585253" y="534829"/>
                  </a:lnTo>
                  <a:lnTo>
                    <a:pt x="89139" y="534829"/>
                  </a:lnTo>
                  <a:lnTo>
                    <a:pt x="54442" y="527823"/>
                  </a:lnTo>
                  <a:lnTo>
                    <a:pt x="26108" y="508720"/>
                  </a:lnTo>
                  <a:lnTo>
                    <a:pt x="7005" y="480386"/>
                  </a:lnTo>
                  <a:lnTo>
                    <a:pt x="0" y="445689"/>
                  </a:lnTo>
                  <a:lnTo>
                    <a:pt x="0" y="89140"/>
                  </a:lnTo>
                  <a:close/>
                </a:path>
              </a:pathLst>
            </a:custGeom>
            <a:noFill/>
            <a:ln cap="flat" cmpd="sng" w="12700">
              <a:solidFill>
                <a:srgbClr val="ED7D3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91" name="Google Shape;291;p12"/>
          <p:cNvSpPr txBox="1"/>
          <p:nvPr/>
        </p:nvSpPr>
        <p:spPr>
          <a:xfrm>
            <a:off x="4609546" y="5056461"/>
            <a:ext cx="28566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FFFFFF"/>
                </a:solidFill>
              </a:rPr>
              <a:t>Apx. </a:t>
            </a:r>
            <a:r>
              <a:rPr b="1" lang="en-US" sz="2000">
                <a:solidFill>
                  <a:srgbClr val="FFFFFF"/>
                </a:solidFill>
              </a:rPr>
              <a:t>255.2 </a:t>
            </a:r>
            <a:r>
              <a:rPr b="1" lang="en-US" sz="2000">
                <a:solidFill>
                  <a:srgbClr val="FFFFFF"/>
                </a:solidFill>
              </a:rPr>
              <a:t>billion</a:t>
            </a:r>
            <a:r>
              <a:rPr b="1" lang="en-US" sz="2000">
                <a:solidFill>
                  <a:srgbClr val="FFFFFF"/>
                </a:solidFill>
              </a:rPr>
              <a:t> yen</a:t>
            </a:r>
            <a:endParaRPr sz="2000"/>
          </a:p>
        </p:txBody>
      </p:sp>
      <p:sp>
        <p:nvSpPr>
          <p:cNvPr id="292" name="Google Shape;292;p12"/>
          <p:cNvSpPr txBox="1"/>
          <p:nvPr/>
        </p:nvSpPr>
        <p:spPr>
          <a:xfrm>
            <a:off x="2835024" y="6418562"/>
            <a:ext cx="5294700" cy="175200"/>
          </a:xfrm>
          <a:prstGeom prst="rect">
            <a:avLst/>
          </a:prstGeom>
          <a:noFill/>
          <a:ln>
            <a:noFill/>
          </a:ln>
        </p:spPr>
        <p:txBody>
          <a:bodyPr anchorCtr="0" anchor="t" bIns="0" lIns="0" spcFirstLastPara="1" rIns="0" wrap="square" tIns="5700">
            <a:spAutoFit/>
          </a:bodyPr>
          <a:lstStyle/>
          <a:p>
            <a:pPr indent="0" lvl="0" marL="12700" rtl="0" algn="l">
              <a:lnSpc>
                <a:spcPct val="100000"/>
              </a:lnSpc>
              <a:spcBef>
                <a:spcPts val="0"/>
              </a:spcBef>
              <a:spcAft>
                <a:spcPts val="0"/>
              </a:spcAft>
              <a:buNone/>
            </a:pPr>
            <a:r>
              <a:rPr lang="en-US" sz="1100">
                <a:latin typeface="Calibri"/>
                <a:ea typeface="Calibri"/>
                <a:cs typeface="Calibri"/>
                <a:sym typeface="Calibri"/>
              </a:rPr>
              <a:t>**</a:t>
            </a:r>
            <a:r>
              <a:rPr lang="en-US" sz="1100">
                <a:solidFill>
                  <a:schemeClr val="dk1"/>
                </a:solidFill>
              </a:rPr>
              <a:t> Annual number of loans in 2017 listed on company’s website was used</a:t>
            </a:r>
            <a:endParaRPr sz="1100">
              <a:latin typeface="Microsoft JhengHei"/>
              <a:ea typeface="Microsoft JhengHei"/>
              <a:cs typeface="Microsoft JhengHei"/>
              <a:sym typeface="Microsoft JhengHei"/>
            </a:endParaRPr>
          </a:p>
        </p:txBody>
      </p:sp>
      <p:sp>
        <p:nvSpPr>
          <p:cNvPr id="293" name="Google Shape;293;p12"/>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294" name="Google Shape;294;p12"/>
          <p:cNvSpPr txBox="1"/>
          <p:nvPr/>
        </p:nvSpPr>
        <p:spPr>
          <a:xfrm>
            <a:off x="5683017" y="5080874"/>
            <a:ext cx="3279600" cy="400200"/>
          </a:xfrm>
          <a:prstGeom prst="rect">
            <a:avLst/>
          </a:prstGeom>
          <a:noFill/>
          <a:ln>
            <a:noFill/>
          </a:ln>
        </p:spPr>
        <p:txBody>
          <a:bodyPr anchorCtr="0" anchor="t" bIns="91425" lIns="91425" spcFirstLastPara="1" rIns="91425" wrap="square" tIns="91425">
            <a:spAutoFit/>
          </a:bodyPr>
          <a:lstStyle/>
          <a:p>
            <a:pPr indent="172720" lvl="0" marL="1656079" rtl="0" algn="l">
              <a:spcBef>
                <a:spcPts val="1520"/>
              </a:spcBef>
              <a:spcAft>
                <a:spcPts val="0"/>
              </a:spcAft>
              <a:buNone/>
            </a:pPr>
            <a:r>
              <a:rPr lang="en-US">
                <a:solidFill>
                  <a:schemeClr val="dk1"/>
                </a:solidFill>
              </a:rPr>
              <a:t>can be reduced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grpSp>
        <p:nvGrpSpPr>
          <p:cNvPr id="299" name="Google Shape;299;p13"/>
          <p:cNvGrpSpPr/>
          <p:nvPr/>
        </p:nvGrpSpPr>
        <p:grpSpPr>
          <a:xfrm>
            <a:off x="1743455" y="1222247"/>
            <a:ext cx="4949952" cy="3425108"/>
            <a:chOff x="1743455" y="1222247"/>
            <a:chExt cx="4949952" cy="3425108"/>
          </a:xfrm>
        </p:grpSpPr>
        <p:pic>
          <p:nvPicPr>
            <p:cNvPr id="300" name="Google Shape;300;p13"/>
            <p:cNvPicPr preferRelativeResize="0"/>
            <p:nvPr/>
          </p:nvPicPr>
          <p:blipFill rotWithShape="1">
            <a:blip r:embed="rId3">
              <a:alphaModFix/>
            </a:blip>
            <a:srcRect b="0" l="0" r="0" t="0"/>
            <a:stretch/>
          </p:blipFill>
          <p:spPr>
            <a:xfrm>
              <a:off x="1743455" y="1222247"/>
              <a:ext cx="4949952" cy="3252216"/>
            </a:xfrm>
            <a:prstGeom prst="rect">
              <a:avLst/>
            </a:prstGeom>
            <a:noFill/>
            <a:ln>
              <a:noFill/>
            </a:ln>
          </p:spPr>
        </p:pic>
        <p:sp>
          <p:nvSpPr>
            <p:cNvPr id="301" name="Google Shape;301;p13"/>
            <p:cNvSpPr/>
            <p:nvPr/>
          </p:nvSpPr>
          <p:spPr>
            <a:xfrm>
              <a:off x="3877311" y="4369860"/>
              <a:ext cx="954405" cy="277495"/>
            </a:xfrm>
            <a:custGeom>
              <a:rect b="b" l="l" r="r" t="t"/>
              <a:pathLst>
                <a:path extrusionOk="0" h="277495" w="954404">
                  <a:moveTo>
                    <a:pt x="954107" y="0"/>
                  </a:moveTo>
                  <a:lnTo>
                    <a:pt x="0" y="0"/>
                  </a:lnTo>
                  <a:lnTo>
                    <a:pt x="0" y="276998"/>
                  </a:lnTo>
                  <a:lnTo>
                    <a:pt x="954107" y="276998"/>
                  </a:lnTo>
                  <a:lnTo>
                    <a:pt x="95410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02" name="Google Shape;302;p13"/>
          <p:cNvSpPr txBox="1"/>
          <p:nvPr>
            <p:ph type="title"/>
          </p:nvPr>
        </p:nvSpPr>
        <p:spPr>
          <a:xfrm>
            <a:off x="342475" y="201900"/>
            <a:ext cx="7818000" cy="12057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sz="3000">
                <a:latin typeface="Arial"/>
                <a:ea typeface="Arial"/>
                <a:cs typeface="Arial"/>
                <a:sym typeface="Arial"/>
              </a:rPr>
              <a:t> ②</a:t>
            </a:r>
            <a:r>
              <a:rPr lang="en-US" sz="3000">
                <a:latin typeface="Arial"/>
                <a:ea typeface="Arial"/>
                <a:cs typeface="Arial"/>
                <a:sym typeface="Arial"/>
              </a:rPr>
              <a:t>Estimation of </a:t>
            </a:r>
            <a:r>
              <a:rPr lang="en-US" sz="3000">
                <a:latin typeface="Arial"/>
                <a:ea typeface="Arial"/>
                <a:cs typeface="Arial"/>
                <a:sym typeface="Arial"/>
                <a:extLst>
                  <a:ext uri="http://customooxmlschemas.google.com/">
                    <go:slidesCustomData xmlns:go="http://customooxmlschemas.google.com/" textRoundtripDataId="15"/>
                  </a:ext>
                </a:extLst>
              </a:rPr>
              <a:t>Low-</a:t>
            </a:r>
            <a:r>
              <a:rPr lang="en-US" sz="3000">
                <a:latin typeface="Arial"/>
                <a:ea typeface="Arial"/>
                <a:cs typeface="Arial"/>
                <a:sym typeface="Arial"/>
              </a:rPr>
              <a:t>Risk </a:t>
            </a:r>
            <a:r>
              <a:rPr lang="en-US" sz="3000">
                <a:latin typeface="Arial"/>
                <a:ea typeface="Arial"/>
                <a:cs typeface="Arial"/>
                <a:sym typeface="Arial"/>
              </a:rPr>
              <a:t>Customers by AI</a:t>
            </a:r>
            <a:r>
              <a:rPr lang="en-US" sz="3000">
                <a:latin typeface="Arial"/>
                <a:ea typeface="Arial"/>
                <a:cs typeface="Arial"/>
                <a:sym typeface="Arial"/>
              </a:rPr>
              <a:t>	</a:t>
            </a:r>
            <a:endParaRPr sz="3000">
              <a:latin typeface="Arial"/>
              <a:ea typeface="Arial"/>
              <a:cs typeface="Arial"/>
              <a:sym typeface="Arial"/>
            </a:endParaRPr>
          </a:p>
          <a:p>
            <a:pPr indent="0" lvl="0" marL="294640" rtl="0" algn="l">
              <a:lnSpc>
                <a:spcPct val="100000"/>
              </a:lnSpc>
              <a:spcBef>
                <a:spcPts val="150"/>
              </a:spcBef>
              <a:spcAft>
                <a:spcPts val="0"/>
              </a:spcAft>
              <a:buNone/>
            </a:pPr>
            <a:r>
              <a:rPr lang="en-US" sz="1300" u="none">
                <a:latin typeface="Arial"/>
                <a:ea typeface="Arial"/>
                <a:cs typeface="Arial"/>
                <a:sym typeface="Arial"/>
              </a:rPr>
              <a:t>It becomes possible to propose loan increases to customers whose probability of default is extremely low.</a:t>
            </a:r>
            <a:br>
              <a:rPr lang="en-US" sz="1100" u="none">
                <a:latin typeface="Arial"/>
                <a:ea typeface="Arial"/>
                <a:cs typeface="Arial"/>
                <a:sym typeface="Arial"/>
              </a:rPr>
            </a:br>
            <a:endParaRPr sz="1800">
              <a:latin typeface="Arial"/>
              <a:ea typeface="Arial"/>
              <a:cs typeface="Arial"/>
              <a:sym typeface="Arial"/>
            </a:endParaRPr>
          </a:p>
        </p:txBody>
      </p:sp>
      <p:sp>
        <p:nvSpPr>
          <p:cNvPr id="303" name="Google Shape;303;p13"/>
          <p:cNvSpPr txBox="1"/>
          <p:nvPr/>
        </p:nvSpPr>
        <p:spPr>
          <a:xfrm>
            <a:off x="697301" y="5358900"/>
            <a:ext cx="7669200" cy="443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300">
                <a:solidFill>
                  <a:schemeClr val="dk1"/>
                </a:solidFill>
              </a:rPr>
              <a:t>Of the annual number of loans, 41,608,720 people*</a:t>
            </a:r>
            <a:r>
              <a:rPr i="1" lang="en-US" sz="1300">
                <a:solidFill>
                  <a:schemeClr val="dk1"/>
                </a:solidFill>
              </a:rPr>
              <a:t>2, if we estimate low-risk customers at 5.5% of the total*</a:t>
            </a:r>
            <a:r>
              <a:rPr lang="en-US" sz="1300">
                <a:solidFill>
                  <a:schemeClr val="dk1"/>
                </a:solidFill>
              </a:rPr>
              <a:t>3, then proactive approaches become possible to </a:t>
            </a:r>
            <a:endParaRPr sz="1300">
              <a:latin typeface="Microsoft JhengHei"/>
              <a:ea typeface="Microsoft JhengHei"/>
              <a:cs typeface="Microsoft JhengHei"/>
              <a:sym typeface="Microsoft JhengHei"/>
            </a:endParaRPr>
          </a:p>
        </p:txBody>
      </p:sp>
      <p:grpSp>
        <p:nvGrpSpPr>
          <p:cNvPr id="304" name="Google Shape;304;p13"/>
          <p:cNvGrpSpPr/>
          <p:nvPr/>
        </p:nvGrpSpPr>
        <p:grpSpPr>
          <a:xfrm>
            <a:off x="4936586" y="5788712"/>
            <a:ext cx="3835224" cy="382197"/>
            <a:chOff x="3572933" y="5634106"/>
            <a:chExt cx="1425575" cy="426084"/>
          </a:xfrm>
        </p:grpSpPr>
        <p:sp>
          <p:nvSpPr>
            <p:cNvPr id="305" name="Google Shape;305;p13"/>
            <p:cNvSpPr/>
            <p:nvPr/>
          </p:nvSpPr>
          <p:spPr>
            <a:xfrm>
              <a:off x="3572933" y="5634106"/>
              <a:ext cx="1425575" cy="426084"/>
            </a:xfrm>
            <a:custGeom>
              <a:rect b="b" l="l" r="r" t="t"/>
              <a:pathLst>
                <a:path extrusionOk="0" h="426085" w="1425575">
                  <a:moveTo>
                    <a:pt x="1353949" y="0"/>
                  </a:moveTo>
                  <a:lnTo>
                    <a:pt x="71015" y="0"/>
                  </a:lnTo>
                  <a:lnTo>
                    <a:pt x="43373" y="5580"/>
                  </a:lnTo>
                  <a:lnTo>
                    <a:pt x="20800" y="20800"/>
                  </a:lnTo>
                  <a:lnTo>
                    <a:pt x="5580" y="43373"/>
                  </a:lnTo>
                  <a:lnTo>
                    <a:pt x="0" y="71015"/>
                  </a:lnTo>
                  <a:lnTo>
                    <a:pt x="0" y="355070"/>
                  </a:lnTo>
                  <a:lnTo>
                    <a:pt x="5580" y="382713"/>
                  </a:lnTo>
                  <a:lnTo>
                    <a:pt x="20800" y="405286"/>
                  </a:lnTo>
                  <a:lnTo>
                    <a:pt x="43373" y="420506"/>
                  </a:lnTo>
                  <a:lnTo>
                    <a:pt x="71015" y="426087"/>
                  </a:lnTo>
                  <a:lnTo>
                    <a:pt x="1353949" y="426087"/>
                  </a:lnTo>
                  <a:lnTo>
                    <a:pt x="1381591" y="420506"/>
                  </a:lnTo>
                  <a:lnTo>
                    <a:pt x="1404165" y="405286"/>
                  </a:lnTo>
                  <a:lnTo>
                    <a:pt x="1419384" y="382713"/>
                  </a:lnTo>
                  <a:lnTo>
                    <a:pt x="1424965" y="355070"/>
                  </a:lnTo>
                  <a:lnTo>
                    <a:pt x="1424965" y="71015"/>
                  </a:lnTo>
                  <a:lnTo>
                    <a:pt x="1419384" y="43373"/>
                  </a:lnTo>
                  <a:lnTo>
                    <a:pt x="1404165" y="20800"/>
                  </a:lnTo>
                  <a:lnTo>
                    <a:pt x="1381591" y="5580"/>
                  </a:lnTo>
                  <a:lnTo>
                    <a:pt x="1353949" y="0"/>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90"/>
            </a:p>
          </p:txBody>
        </p:sp>
        <p:sp>
          <p:nvSpPr>
            <p:cNvPr id="306" name="Google Shape;306;p13"/>
            <p:cNvSpPr/>
            <p:nvPr/>
          </p:nvSpPr>
          <p:spPr>
            <a:xfrm>
              <a:off x="3572933" y="5634106"/>
              <a:ext cx="1425575" cy="426084"/>
            </a:xfrm>
            <a:custGeom>
              <a:rect b="b" l="l" r="r" t="t"/>
              <a:pathLst>
                <a:path extrusionOk="0" h="426085" w="1425575">
                  <a:moveTo>
                    <a:pt x="0" y="71016"/>
                  </a:moveTo>
                  <a:lnTo>
                    <a:pt x="5580" y="43373"/>
                  </a:lnTo>
                  <a:lnTo>
                    <a:pt x="20800" y="20800"/>
                  </a:lnTo>
                  <a:lnTo>
                    <a:pt x="43373" y="5580"/>
                  </a:lnTo>
                  <a:lnTo>
                    <a:pt x="71016" y="0"/>
                  </a:lnTo>
                  <a:lnTo>
                    <a:pt x="1353949" y="0"/>
                  </a:lnTo>
                  <a:lnTo>
                    <a:pt x="1381591" y="5580"/>
                  </a:lnTo>
                  <a:lnTo>
                    <a:pt x="1404164" y="20800"/>
                  </a:lnTo>
                  <a:lnTo>
                    <a:pt x="1419384" y="43373"/>
                  </a:lnTo>
                  <a:lnTo>
                    <a:pt x="1424965" y="71016"/>
                  </a:lnTo>
                  <a:lnTo>
                    <a:pt x="1424965" y="355071"/>
                  </a:lnTo>
                  <a:lnTo>
                    <a:pt x="1419384" y="382713"/>
                  </a:lnTo>
                  <a:lnTo>
                    <a:pt x="1404164" y="405286"/>
                  </a:lnTo>
                  <a:lnTo>
                    <a:pt x="1381591" y="420506"/>
                  </a:lnTo>
                  <a:lnTo>
                    <a:pt x="1353949" y="426087"/>
                  </a:lnTo>
                  <a:lnTo>
                    <a:pt x="71016" y="426087"/>
                  </a:lnTo>
                  <a:lnTo>
                    <a:pt x="43373" y="420506"/>
                  </a:lnTo>
                  <a:lnTo>
                    <a:pt x="20800" y="405286"/>
                  </a:lnTo>
                  <a:lnTo>
                    <a:pt x="5580" y="382713"/>
                  </a:lnTo>
                  <a:lnTo>
                    <a:pt x="0" y="355071"/>
                  </a:lnTo>
                  <a:lnTo>
                    <a:pt x="0" y="71016"/>
                  </a:lnTo>
                  <a:close/>
                </a:path>
              </a:pathLst>
            </a:custGeom>
            <a:noFill/>
            <a:ln cap="flat" cmpd="sng" w="17150">
              <a:solidFill>
                <a:srgbClr val="ED7D3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90"/>
            </a:p>
          </p:txBody>
        </p:sp>
      </p:grpSp>
      <p:sp>
        <p:nvSpPr>
          <p:cNvPr id="307" name="Google Shape;307;p13"/>
          <p:cNvSpPr txBox="1"/>
          <p:nvPr/>
        </p:nvSpPr>
        <p:spPr>
          <a:xfrm>
            <a:off x="5287843" y="5839142"/>
            <a:ext cx="35991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rPr>
              <a:t>Apx. 2.28million people</a:t>
            </a:r>
            <a:endParaRPr sz="1600"/>
          </a:p>
        </p:txBody>
      </p:sp>
      <p:sp>
        <p:nvSpPr>
          <p:cNvPr id="308" name="Google Shape;308;p13"/>
          <p:cNvSpPr txBox="1"/>
          <p:nvPr/>
        </p:nvSpPr>
        <p:spPr>
          <a:xfrm>
            <a:off x="506698" y="6217925"/>
            <a:ext cx="4548000" cy="182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t>*1 </a:t>
            </a:r>
            <a:r>
              <a:rPr lang="en-US" sz="1100">
                <a:solidFill>
                  <a:schemeClr val="dk1"/>
                </a:solidFill>
              </a:rPr>
              <a:t>Defined as customers with a credit score of 0.9 or higher</a:t>
            </a:r>
            <a:endParaRPr sz="1100"/>
          </a:p>
        </p:txBody>
      </p:sp>
      <p:grpSp>
        <p:nvGrpSpPr>
          <p:cNvPr id="309" name="Google Shape;309;p13"/>
          <p:cNvGrpSpPr/>
          <p:nvPr/>
        </p:nvGrpSpPr>
        <p:grpSpPr>
          <a:xfrm>
            <a:off x="1026425" y="4715301"/>
            <a:ext cx="955040" cy="438150"/>
            <a:chOff x="4887895" y="4662401"/>
            <a:chExt cx="955040" cy="438150"/>
          </a:xfrm>
        </p:grpSpPr>
        <p:sp>
          <p:nvSpPr>
            <p:cNvPr id="310" name="Google Shape;310;p13"/>
            <p:cNvSpPr/>
            <p:nvPr/>
          </p:nvSpPr>
          <p:spPr>
            <a:xfrm>
              <a:off x="4887895" y="4662401"/>
              <a:ext cx="955040" cy="438150"/>
            </a:xfrm>
            <a:custGeom>
              <a:rect b="b" l="l" r="r" t="t"/>
              <a:pathLst>
                <a:path extrusionOk="0" h="438150" w="955039">
                  <a:moveTo>
                    <a:pt x="881480" y="0"/>
                  </a:moveTo>
                  <a:lnTo>
                    <a:pt x="72986" y="0"/>
                  </a:lnTo>
                  <a:lnTo>
                    <a:pt x="44576" y="5735"/>
                  </a:lnTo>
                  <a:lnTo>
                    <a:pt x="21377" y="21377"/>
                  </a:lnTo>
                  <a:lnTo>
                    <a:pt x="5735" y="44576"/>
                  </a:lnTo>
                  <a:lnTo>
                    <a:pt x="0" y="72986"/>
                  </a:lnTo>
                  <a:lnTo>
                    <a:pt x="0" y="364924"/>
                  </a:lnTo>
                  <a:lnTo>
                    <a:pt x="5735" y="393334"/>
                  </a:lnTo>
                  <a:lnTo>
                    <a:pt x="21377" y="416534"/>
                  </a:lnTo>
                  <a:lnTo>
                    <a:pt x="44577" y="432176"/>
                  </a:lnTo>
                  <a:lnTo>
                    <a:pt x="72986" y="437912"/>
                  </a:lnTo>
                  <a:lnTo>
                    <a:pt x="881480" y="437912"/>
                  </a:lnTo>
                  <a:lnTo>
                    <a:pt x="909890" y="432176"/>
                  </a:lnTo>
                  <a:lnTo>
                    <a:pt x="933089" y="416534"/>
                  </a:lnTo>
                  <a:lnTo>
                    <a:pt x="948731" y="393334"/>
                  </a:lnTo>
                  <a:lnTo>
                    <a:pt x="954467" y="364924"/>
                  </a:lnTo>
                  <a:lnTo>
                    <a:pt x="954467" y="72986"/>
                  </a:lnTo>
                  <a:lnTo>
                    <a:pt x="948731" y="44577"/>
                  </a:lnTo>
                  <a:lnTo>
                    <a:pt x="933089" y="21377"/>
                  </a:lnTo>
                  <a:lnTo>
                    <a:pt x="909890" y="5735"/>
                  </a:lnTo>
                  <a:lnTo>
                    <a:pt x="881480" y="0"/>
                  </a:lnTo>
                  <a:close/>
                </a:path>
              </a:pathLst>
            </a:custGeom>
            <a:solidFill>
              <a:srgbClr val="ED7D3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1" name="Google Shape;311;p13"/>
            <p:cNvSpPr/>
            <p:nvPr/>
          </p:nvSpPr>
          <p:spPr>
            <a:xfrm>
              <a:off x="4887895" y="4662401"/>
              <a:ext cx="955040" cy="438150"/>
            </a:xfrm>
            <a:custGeom>
              <a:rect b="b" l="l" r="r" t="t"/>
              <a:pathLst>
                <a:path extrusionOk="0" h="438150" w="955039">
                  <a:moveTo>
                    <a:pt x="0" y="72987"/>
                  </a:moveTo>
                  <a:lnTo>
                    <a:pt x="5735" y="44577"/>
                  </a:lnTo>
                  <a:lnTo>
                    <a:pt x="21377" y="21377"/>
                  </a:lnTo>
                  <a:lnTo>
                    <a:pt x="44577" y="5735"/>
                  </a:lnTo>
                  <a:lnTo>
                    <a:pt x="72986" y="0"/>
                  </a:lnTo>
                  <a:lnTo>
                    <a:pt x="881481" y="0"/>
                  </a:lnTo>
                  <a:lnTo>
                    <a:pt x="909890" y="5735"/>
                  </a:lnTo>
                  <a:lnTo>
                    <a:pt x="933090" y="21377"/>
                  </a:lnTo>
                  <a:lnTo>
                    <a:pt x="948732" y="44577"/>
                  </a:lnTo>
                  <a:lnTo>
                    <a:pt x="954468" y="72987"/>
                  </a:lnTo>
                  <a:lnTo>
                    <a:pt x="954468" y="364924"/>
                  </a:lnTo>
                  <a:lnTo>
                    <a:pt x="948732" y="393334"/>
                  </a:lnTo>
                  <a:lnTo>
                    <a:pt x="933090" y="416534"/>
                  </a:lnTo>
                  <a:lnTo>
                    <a:pt x="909890" y="432176"/>
                  </a:lnTo>
                  <a:lnTo>
                    <a:pt x="881481" y="437912"/>
                  </a:lnTo>
                  <a:lnTo>
                    <a:pt x="72986" y="437912"/>
                  </a:lnTo>
                  <a:lnTo>
                    <a:pt x="44577" y="432176"/>
                  </a:lnTo>
                  <a:lnTo>
                    <a:pt x="21377" y="416534"/>
                  </a:lnTo>
                  <a:lnTo>
                    <a:pt x="5735" y="393334"/>
                  </a:lnTo>
                  <a:lnTo>
                    <a:pt x="0" y="364924"/>
                  </a:lnTo>
                  <a:lnTo>
                    <a:pt x="0" y="72987"/>
                  </a:lnTo>
                  <a:close/>
                </a:path>
              </a:pathLst>
            </a:custGeom>
            <a:noFill/>
            <a:ln cap="flat" cmpd="sng" w="12700">
              <a:solidFill>
                <a:srgbClr val="ED7D3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12" name="Google Shape;312;p13"/>
          <p:cNvSpPr txBox="1"/>
          <p:nvPr/>
        </p:nvSpPr>
        <p:spPr>
          <a:xfrm>
            <a:off x="1136152" y="4712783"/>
            <a:ext cx="7353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a:solidFill>
                  <a:srgbClr val="FFFFFF"/>
                </a:solidFill>
                <a:latin typeface="Calibri"/>
                <a:ea typeface="Calibri"/>
                <a:cs typeface="Calibri"/>
                <a:sym typeface="Calibri"/>
              </a:rPr>
              <a:t>99.4</a:t>
            </a:r>
            <a:r>
              <a:rPr b="1" lang="en-US" sz="1800">
                <a:solidFill>
                  <a:srgbClr val="FFFFFF"/>
                </a:solidFill>
                <a:latin typeface="Calibri"/>
                <a:ea typeface="Calibri"/>
                <a:cs typeface="Calibri"/>
                <a:sym typeface="Calibri"/>
              </a:rPr>
              <a:t>%</a:t>
            </a:r>
            <a:endParaRPr sz="1800">
              <a:latin typeface="Calibri"/>
              <a:ea typeface="Calibri"/>
              <a:cs typeface="Calibri"/>
              <a:sym typeface="Calibri"/>
            </a:endParaRPr>
          </a:p>
        </p:txBody>
      </p:sp>
      <p:sp>
        <p:nvSpPr>
          <p:cNvPr id="313" name="Google Shape;313;p13"/>
          <p:cNvSpPr txBox="1"/>
          <p:nvPr/>
        </p:nvSpPr>
        <p:spPr>
          <a:xfrm>
            <a:off x="2130328" y="4896625"/>
            <a:ext cx="7120200" cy="2130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1200"/>
              </a:spcAft>
              <a:buNone/>
            </a:pPr>
            <a:r>
              <a:rPr lang="en-US" sz="1300">
                <a:solidFill>
                  <a:schemeClr val="dk1"/>
                </a:solidFill>
              </a:rPr>
              <a:t>of customers judged by AI to be low-risk*1 are non-defaulters.</a:t>
            </a:r>
            <a:endParaRPr sz="1300">
              <a:latin typeface="Microsoft JhengHei"/>
              <a:ea typeface="Microsoft JhengHei"/>
              <a:cs typeface="Microsoft JhengHei"/>
              <a:sym typeface="Microsoft JhengHei"/>
            </a:endParaRPr>
          </a:p>
        </p:txBody>
      </p:sp>
      <p:sp>
        <p:nvSpPr>
          <p:cNvPr id="314" name="Google Shape;314;p13"/>
          <p:cNvSpPr txBox="1"/>
          <p:nvPr/>
        </p:nvSpPr>
        <p:spPr>
          <a:xfrm>
            <a:off x="3956051" y="4376420"/>
            <a:ext cx="7875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Microsoft JhengHei"/>
                <a:ea typeface="Microsoft JhengHei"/>
                <a:cs typeface="Microsoft JhengHei"/>
                <a:sym typeface="Microsoft JhengHei"/>
              </a:rPr>
              <a:t>Credit Score</a:t>
            </a:r>
            <a:endParaRPr sz="1200">
              <a:latin typeface="Microsoft JhengHei"/>
              <a:ea typeface="Microsoft JhengHei"/>
              <a:cs typeface="Microsoft JhengHei"/>
              <a:sym typeface="Microsoft JhengHei"/>
            </a:endParaRPr>
          </a:p>
        </p:txBody>
      </p:sp>
      <p:sp>
        <p:nvSpPr>
          <p:cNvPr id="315" name="Google Shape;315;p13"/>
          <p:cNvSpPr/>
          <p:nvPr/>
        </p:nvSpPr>
        <p:spPr>
          <a:xfrm>
            <a:off x="1550449" y="2000021"/>
            <a:ext cx="277495" cy="1416050"/>
          </a:xfrm>
          <a:custGeom>
            <a:rect b="b" l="l" r="r" t="t"/>
            <a:pathLst>
              <a:path extrusionOk="0" h="1416050" w="277494">
                <a:moveTo>
                  <a:pt x="276999" y="0"/>
                </a:moveTo>
                <a:lnTo>
                  <a:pt x="0" y="0"/>
                </a:lnTo>
                <a:lnTo>
                  <a:pt x="0" y="1415771"/>
                </a:lnTo>
                <a:lnTo>
                  <a:pt x="276999" y="1415771"/>
                </a:lnTo>
                <a:lnTo>
                  <a:pt x="2769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6" name="Google Shape;316;p13"/>
          <p:cNvSpPr txBox="1"/>
          <p:nvPr/>
        </p:nvSpPr>
        <p:spPr>
          <a:xfrm rot="-5400000">
            <a:off x="870175" y="2251629"/>
            <a:ext cx="1793400" cy="37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None/>
            </a:pPr>
            <a:r>
              <a:rPr lang="en-US" sz="1100">
                <a:solidFill>
                  <a:schemeClr val="dk1"/>
                </a:solidFill>
              </a:rPr>
              <a:t>Proportion of non-defaulters</a:t>
            </a:r>
            <a:br>
              <a:rPr lang="en-US" sz="1100">
                <a:solidFill>
                  <a:schemeClr val="dk1"/>
                </a:solidFill>
              </a:rPr>
            </a:br>
            <a:endParaRPr sz="1200">
              <a:latin typeface="Microsoft JhengHei"/>
              <a:ea typeface="Microsoft JhengHei"/>
              <a:cs typeface="Microsoft JhengHei"/>
              <a:sym typeface="Microsoft JhengHei"/>
            </a:endParaRPr>
          </a:p>
        </p:txBody>
      </p:sp>
      <p:grpSp>
        <p:nvGrpSpPr>
          <p:cNvPr id="317" name="Google Shape;317;p13"/>
          <p:cNvGrpSpPr/>
          <p:nvPr/>
        </p:nvGrpSpPr>
        <p:grpSpPr>
          <a:xfrm>
            <a:off x="6711201" y="1402069"/>
            <a:ext cx="240029" cy="464015"/>
            <a:chOff x="6711201" y="1402069"/>
            <a:chExt cx="240029" cy="464015"/>
          </a:xfrm>
        </p:grpSpPr>
        <p:sp>
          <p:nvSpPr>
            <p:cNvPr id="318" name="Google Shape;318;p13"/>
            <p:cNvSpPr/>
            <p:nvPr/>
          </p:nvSpPr>
          <p:spPr>
            <a:xfrm>
              <a:off x="6711201" y="1402069"/>
              <a:ext cx="240029" cy="212090"/>
            </a:xfrm>
            <a:custGeom>
              <a:rect b="b" l="l" r="r" t="t"/>
              <a:pathLst>
                <a:path extrusionOk="0" h="212090" w="240029">
                  <a:moveTo>
                    <a:pt x="239715" y="0"/>
                  </a:moveTo>
                  <a:lnTo>
                    <a:pt x="0" y="0"/>
                  </a:lnTo>
                  <a:lnTo>
                    <a:pt x="0" y="211667"/>
                  </a:lnTo>
                  <a:lnTo>
                    <a:pt x="239715" y="211667"/>
                  </a:lnTo>
                  <a:lnTo>
                    <a:pt x="239715" y="0"/>
                  </a:lnTo>
                  <a:close/>
                </a:path>
              </a:pathLst>
            </a:custGeom>
            <a:solidFill>
              <a:srgbClr val="FFA95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9" name="Google Shape;319;p13"/>
            <p:cNvSpPr/>
            <p:nvPr/>
          </p:nvSpPr>
          <p:spPr>
            <a:xfrm>
              <a:off x="6711201" y="1653994"/>
              <a:ext cx="240029" cy="212090"/>
            </a:xfrm>
            <a:custGeom>
              <a:rect b="b" l="l" r="r" t="t"/>
              <a:pathLst>
                <a:path extrusionOk="0" h="212089" w="240029">
                  <a:moveTo>
                    <a:pt x="239715" y="0"/>
                  </a:moveTo>
                  <a:lnTo>
                    <a:pt x="0" y="0"/>
                  </a:lnTo>
                  <a:lnTo>
                    <a:pt x="0" y="211667"/>
                  </a:lnTo>
                  <a:lnTo>
                    <a:pt x="239715" y="211667"/>
                  </a:lnTo>
                  <a:lnTo>
                    <a:pt x="239715" y="0"/>
                  </a:lnTo>
                  <a:close/>
                </a:path>
              </a:pathLst>
            </a:custGeom>
            <a:solidFill>
              <a:srgbClr val="749C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20" name="Google Shape;320;p13"/>
          <p:cNvSpPr txBox="1"/>
          <p:nvPr/>
        </p:nvSpPr>
        <p:spPr>
          <a:xfrm>
            <a:off x="6629400" y="1317025"/>
            <a:ext cx="2475000" cy="658800"/>
          </a:xfrm>
          <a:prstGeom prst="rect">
            <a:avLst/>
          </a:prstGeom>
          <a:noFill/>
          <a:ln cap="flat" cmpd="sng" w="12700">
            <a:solidFill>
              <a:srgbClr val="D0CECE"/>
            </a:solidFill>
            <a:prstDash val="solid"/>
            <a:round/>
            <a:headEnd len="sm" w="sm" type="none"/>
            <a:tailEnd len="sm" w="sm" type="none"/>
          </a:ln>
        </p:spPr>
        <p:txBody>
          <a:bodyPr anchorCtr="0" anchor="t" bIns="0" lIns="0" spcFirstLastPara="1" rIns="0" wrap="square" tIns="39350">
            <a:spAutoFit/>
          </a:bodyPr>
          <a:lstStyle/>
          <a:p>
            <a:pPr indent="0" lvl="0" marL="412750" marR="213995" rtl="0" algn="l">
              <a:lnSpc>
                <a:spcPct val="128298"/>
              </a:lnSpc>
              <a:spcBef>
                <a:spcPts val="0"/>
              </a:spcBef>
              <a:spcAft>
                <a:spcPts val="0"/>
              </a:spcAft>
              <a:buNone/>
            </a:pPr>
            <a:r>
              <a:rPr lang="en-US" sz="1100">
                <a:solidFill>
                  <a:schemeClr val="dk1"/>
                </a:solidFill>
              </a:rPr>
              <a:t> Proportion of defaulters</a:t>
            </a:r>
            <a:br>
              <a:rPr lang="en-US" sz="1200">
                <a:latin typeface="Microsoft JhengHei"/>
                <a:ea typeface="Microsoft JhengHei"/>
                <a:cs typeface="Microsoft JhengHei"/>
                <a:sym typeface="Microsoft JhengHei"/>
              </a:rPr>
            </a:br>
            <a:r>
              <a:rPr lang="en-US" sz="1100">
                <a:solidFill>
                  <a:schemeClr val="dk1"/>
                </a:solidFill>
              </a:rPr>
              <a:t> Proportion of non-defaulters</a:t>
            </a:r>
            <a:br>
              <a:rPr lang="en-US" sz="1100">
                <a:solidFill>
                  <a:schemeClr val="dk1"/>
                </a:solidFill>
              </a:rPr>
            </a:br>
            <a:endParaRPr sz="1200">
              <a:latin typeface="Microsoft JhengHei"/>
              <a:ea typeface="Microsoft JhengHei"/>
              <a:cs typeface="Microsoft JhengHei"/>
              <a:sym typeface="Microsoft JhengHei"/>
            </a:endParaRPr>
          </a:p>
        </p:txBody>
      </p:sp>
      <p:grpSp>
        <p:nvGrpSpPr>
          <p:cNvPr id="321" name="Google Shape;321;p13"/>
          <p:cNvGrpSpPr/>
          <p:nvPr/>
        </p:nvGrpSpPr>
        <p:grpSpPr>
          <a:xfrm>
            <a:off x="6216786" y="1336667"/>
            <a:ext cx="240220" cy="2950845"/>
            <a:chOff x="6216786" y="1336667"/>
            <a:chExt cx="240220" cy="2950845"/>
          </a:xfrm>
        </p:grpSpPr>
        <p:sp>
          <p:nvSpPr>
            <p:cNvPr id="322" name="Google Shape;322;p13"/>
            <p:cNvSpPr/>
            <p:nvPr/>
          </p:nvSpPr>
          <p:spPr>
            <a:xfrm>
              <a:off x="6216786" y="1336667"/>
              <a:ext cx="10160" cy="2950845"/>
            </a:xfrm>
            <a:custGeom>
              <a:rect b="b" l="l" r="r" t="t"/>
              <a:pathLst>
                <a:path extrusionOk="0" h="2950845" w="10160">
                  <a:moveTo>
                    <a:pt x="0" y="0"/>
                  </a:moveTo>
                  <a:lnTo>
                    <a:pt x="9827" y="2950494"/>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3" name="Google Shape;323;p13"/>
            <p:cNvSpPr/>
            <p:nvPr/>
          </p:nvSpPr>
          <p:spPr>
            <a:xfrm>
              <a:off x="6226613" y="1507902"/>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4" name="Google Shape;324;p13"/>
            <p:cNvSpPr/>
            <p:nvPr/>
          </p:nvSpPr>
          <p:spPr>
            <a:xfrm>
              <a:off x="6226613" y="1768709"/>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5" name="Google Shape;325;p13"/>
            <p:cNvSpPr/>
            <p:nvPr/>
          </p:nvSpPr>
          <p:spPr>
            <a:xfrm>
              <a:off x="6226613" y="2009321"/>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6" name="Google Shape;326;p13"/>
            <p:cNvSpPr/>
            <p:nvPr/>
          </p:nvSpPr>
          <p:spPr>
            <a:xfrm>
              <a:off x="6238566" y="2278633"/>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7" name="Google Shape;327;p13"/>
            <p:cNvSpPr/>
            <p:nvPr/>
          </p:nvSpPr>
          <p:spPr>
            <a:xfrm>
              <a:off x="6238566" y="2539441"/>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8" name="Google Shape;328;p13"/>
            <p:cNvSpPr/>
            <p:nvPr/>
          </p:nvSpPr>
          <p:spPr>
            <a:xfrm>
              <a:off x="6238566" y="2780052"/>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9" name="Google Shape;329;p13"/>
            <p:cNvSpPr/>
            <p:nvPr/>
          </p:nvSpPr>
          <p:spPr>
            <a:xfrm>
              <a:off x="6238566" y="3031164"/>
              <a:ext cx="218440" cy="198120"/>
            </a:xfrm>
            <a:custGeom>
              <a:rect b="b" l="l" r="r" t="t"/>
              <a:pathLst>
                <a:path extrusionOk="0" h="198119"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0" name="Google Shape;330;p13"/>
            <p:cNvSpPr/>
            <p:nvPr/>
          </p:nvSpPr>
          <p:spPr>
            <a:xfrm>
              <a:off x="6238566" y="3291972"/>
              <a:ext cx="218440" cy="198120"/>
            </a:xfrm>
            <a:custGeom>
              <a:rect b="b" l="l" r="r" t="t"/>
              <a:pathLst>
                <a:path extrusionOk="0" h="198120"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13"/>
            <p:cNvSpPr/>
            <p:nvPr/>
          </p:nvSpPr>
          <p:spPr>
            <a:xfrm>
              <a:off x="6238566" y="3532583"/>
              <a:ext cx="218440" cy="198120"/>
            </a:xfrm>
            <a:custGeom>
              <a:rect b="b" l="l" r="r" t="t"/>
              <a:pathLst>
                <a:path extrusionOk="0" h="198120"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p13"/>
            <p:cNvSpPr/>
            <p:nvPr/>
          </p:nvSpPr>
          <p:spPr>
            <a:xfrm>
              <a:off x="6238566" y="3749417"/>
              <a:ext cx="218440" cy="198120"/>
            </a:xfrm>
            <a:custGeom>
              <a:rect b="b" l="l" r="r" t="t"/>
              <a:pathLst>
                <a:path extrusionOk="0" h="198120"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3" name="Google Shape;333;p13"/>
            <p:cNvSpPr/>
            <p:nvPr/>
          </p:nvSpPr>
          <p:spPr>
            <a:xfrm>
              <a:off x="6238566" y="4010224"/>
              <a:ext cx="218440" cy="198120"/>
            </a:xfrm>
            <a:custGeom>
              <a:rect b="b" l="l" r="r" t="t"/>
              <a:pathLst>
                <a:path extrusionOk="0" h="198120" w="218439">
                  <a:moveTo>
                    <a:pt x="218017" y="0"/>
                  </a:moveTo>
                  <a:lnTo>
                    <a:pt x="0" y="19804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34" name="Google Shape;334;p13"/>
          <p:cNvSpPr txBox="1"/>
          <p:nvPr/>
        </p:nvSpPr>
        <p:spPr>
          <a:xfrm>
            <a:off x="6516051" y="2178800"/>
            <a:ext cx="19191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t>←</a:t>
            </a:r>
            <a:r>
              <a:rPr lang="en-US"/>
              <a:t>Low-risk</a:t>
            </a:r>
            <a:r>
              <a:rPr lang="en-US">
                <a:extLst>
                  <a:ext uri="http://customooxmlschemas.google.com/">
                    <go:slidesCustomData xmlns:go="http://customooxmlschemas.google.com/" textRoundtripDataId="16"/>
                  </a:ext>
                </a:extLst>
              </a:rPr>
              <a:t> customers</a:t>
            </a:r>
            <a:endParaRPr sz="1400"/>
          </a:p>
        </p:txBody>
      </p:sp>
      <p:sp>
        <p:nvSpPr>
          <p:cNvPr id="335" name="Google Shape;335;p13"/>
          <p:cNvSpPr txBox="1"/>
          <p:nvPr>
            <p:ph idx="12" type="sldNum"/>
          </p:nvPr>
        </p:nvSpPr>
        <p:spPr>
          <a:xfrm>
            <a:off x="8228965" y="6428920"/>
            <a:ext cx="244475" cy="211454"/>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336" name="Google Shape;336;p13"/>
          <p:cNvSpPr txBox="1"/>
          <p:nvPr/>
        </p:nvSpPr>
        <p:spPr>
          <a:xfrm>
            <a:off x="4507000" y="6447050"/>
            <a:ext cx="3549600" cy="344400"/>
          </a:xfrm>
          <a:prstGeom prst="rect">
            <a:avLst/>
          </a:prstGeom>
          <a:noFill/>
          <a:ln>
            <a:noFill/>
          </a:ln>
        </p:spPr>
        <p:txBody>
          <a:bodyPr anchorCtr="0" anchor="t" bIns="0" lIns="0" spcFirstLastPara="1" rIns="0" wrap="square" tIns="5700">
            <a:spAutoFit/>
          </a:bodyPr>
          <a:lstStyle/>
          <a:p>
            <a:pPr indent="0" lvl="0" marL="12700" rtl="0" algn="l">
              <a:lnSpc>
                <a:spcPct val="100000"/>
              </a:lnSpc>
              <a:spcBef>
                <a:spcPts val="0"/>
              </a:spcBef>
              <a:spcAft>
                <a:spcPts val="0"/>
              </a:spcAft>
              <a:buNone/>
            </a:pPr>
            <a:r>
              <a:rPr lang="en-US" sz="1100"/>
              <a:t>*3 </a:t>
            </a:r>
            <a:r>
              <a:rPr lang="en-US" sz="1100">
                <a:solidFill>
                  <a:schemeClr val="dk1"/>
                </a:solidFill>
              </a:rPr>
              <a:t>Calculated from the data you provided (17,035/307,506 = 0.055)</a:t>
            </a:r>
            <a:endParaRPr sz="1100"/>
          </a:p>
        </p:txBody>
      </p:sp>
      <p:sp>
        <p:nvSpPr>
          <p:cNvPr id="337" name="Google Shape;337;p13"/>
          <p:cNvSpPr txBox="1"/>
          <p:nvPr/>
        </p:nvSpPr>
        <p:spPr>
          <a:xfrm>
            <a:off x="506700" y="6450150"/>
            <a:ext cx="3835200" cy="344400"/>
          </a:xfrm>
          <a:prstGeom prst="rect">
            <a:avLst/>
          </a:prstGeom>
          <a:noFill/>
          <a:ln>
            <a:noFill/>
          </a:ln>
        </p:spPr>
        <p:txBody>
          <a:bodyPr anchorCtr="0" anchor="t" bIns="0" lIns="0" spcFirstLastPara="1" rIns="0" wrap="square" tIns="5700">
            <a:spAutoFit/>
          </a:bodyPr>
          <a:lstStyle/>
          <a:p>
            <a:pPr indent="0" lvl="0" marL="12700" rtl="0" algn="l">
              <a:lnSpc>
                <a:spcPct val="100000"/>
              </a:lnSpc>
              <a:spcBef>
                <a:spcPts val="0"/>
              </a:spcBef>
              <a:spcAft>
                <a:spcPts val="0"/>
              </a:spcAft>
              <a:buNone/>
            </a:pPr>
            <a:r>
              <a:rPr lang="en-US" sz="1100"/>
              <a:t>*2 </a:t>
            </a:r>
            <a:r>
              <a:rPr lang="en-US" sz="1100">
                <a:solidFill>
                  <a:schemeClr val="dk1"/>
                </a:solidFill>
              </a:rPr>
              <a:t>Annual number of loans in 2017 listed on company’s website was used</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4"/>
          <p:cNvSpPr txBox="1"/>
          <p:nvPr>
            <p:ph type="title"/>
          </p:nvPr>
        </p:nvSpPr>
        <p:spPr>
          <a:xfrm>
            <a:off x="342478" y="236219"/>
            <a:ext cx="8309100" cy="92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100">
                <a:latin typeface="Arial"/>
                <a:ea typeface="Arial"/>
                <a:cs typeface="Arial"/>
                <a:sym typeface="Arial"/>
              </a:rPr>
              <a:t> Long-Term Support	</a:t>
            </a:r>
            <a:endParaRPr sz="3100">
              <a:latin typeface="Arial"/>
              <a:ea typeface="Arial"/>
              <a:cs typeface="Arial"/>
              <a:sym typeface="Arial"/>
            </a:endParaRPr>
          </a:p>
          <a:p>
            <a:pPr indent="0" lvl="0" marL="294640" marR="5080" rtl="0" algn="l">
              <a:lnSpc>
                <a:spcPct val="102200"/>
              </a:lnSpc>
              <a:spcBef>
                <a:spcPts val="5"/>
              </a:spcBef>
              <a:spcAft>
                <a:spcPts val="0"/>
              </a:spcAft>
              <a:buNone/>
            </a:pPr>
            <a:r>
              <a:rPr lang="en-US" sz="1400" u="none">
                <a:latin typeface="Arial"/>
                <a:ea typeface="Arial"/>
                <a:cs typeface="Arial"/>
                <a:sym typeface="Arial"/>
              </a:rPr>
              <a:t>Through long-term consulting, lending that adapts to each country’s financial markets and economic trends becomes possible.</a:t>
            </a:r>
            <a:endParaRPr sz="2100">
              <a:latin typeface="Arial"/>
              <a:ea typeface="Arial"/>
              <a:cs typeface="Arial"/>
              <a:sym typeface="Arial"/>
            </a:endParaRPr>
          </a:p>
        </p:txBody>
      </p:sp>
      <p:pic>
        <p:nvPicPr>
          <p:cNvPr id="343" name="Google Shape;343;p14"/>
          <p:cNvPicPr preferRelativeResize="0"/>
          <p:nvPr/>
        </p:nvPicPr>
        <p:blipFill rotWithShape="1">
          <a:blip r:embed="rId3">
            <a:alphaModFix/>
          </a:blip>
          <a:srcRect b="0" l="0" r="0" t="0"/>
          <a:stretch/>
        </p:blipFill>
        <p:spPr>
          <a:xfrm>
            <a:off x="1019089" y="1555638"/>
            <a:ext cx="2923257" cy="2450520"/>
          </a:xfrm>
          <a:prstGeom prst="rect">
            <a:avLst/>
          </a:prstGeom>
          <a:noFill/>
          <a:ln>
            <a:noFill/>
          </a:ln>
        </p:spPr>
      </p:pic>
      <p:sp>
        <p:nvSpPr>
          <p:cNvPr id="344" name="Google Shape;344;p14"/>
          <p:cNvSpPr txBox="1"/>
          <p:nvPr/>
        </p:nvSpPr>
        <p:spPr>
          <a:xfrm>
            <a:off x="865087" y="6271274"/>
            <a:ext cx="7570500" cy="213000"/>
          </a:xfrm>
          <a:prstGeom prst="rect">
            <a:avLst/>
          </a:prstGeom>
          <a:noFill/>
          <a:ln>
            <a:noFill/>
          </a:ln>
        </p:spPr>
        <p:txBody>
          <a:bodyPr anchorCtr="0" anchor="t" bIns="0" lIns="0" spcFirstLastPara="1" rIns="0" wrap="square" tIns="12700">
            <a:spAutoFit/>
          </a:bodyPr>
          <a:lstStyle/>
          <a:p>
            <a:pPr indent="0" lvl="0" marL="0" marR="5080" rtl="0" algn="l">
              <a:lnSpc>
                <a:spcPct val="114583"/>
              </a:lnSpc>
              <a:spcBef>
                <a:spcPts val="0"/>
              </a:spcBef>
              <a:spcAft>
                <a:spcPts val="0"/>
              </a:spcAft>
              <a:buNone/>
            </a:pPr>
            <a:r>
              <a:rPr lang="en-US" sz="1300">
                <a:solidFill>
                  <a:schemeClr val="dk1"/>
                </a:solidFill>
              </a:rPr>
              <a:t>In addition, model updates can be implemented to improve the accuracy of lending decisions.</a:t>
            </a:r>
            <a:endParaRPr sz="1300">
              <a:latin typeface="Calibri"/>
              <a:ea typeface="Calibri"/>
              <a:cs typeface="Calibri"/>
              <a:sym typeface="Calibri"/>
            </a:endParaRPr>
          </a:p>
        </p:txBody>
      </p:sp>
      <p:sp>
        <p:nvSpPr>
          <p:cNvPr id="345" name="Google Shape;345;p14"/>
          <p:cNvSpPr txBox="1"/>
          <p:nvPr/>
        </p:nvSpPr>
        <p:spPr>
          <a:xfrm>
            <a:off x="3993654" y="4917700"/>
            <a:ext cx="9399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t>Machine Learning</a:t>
            </a:r>
            <a:endParaRPr sz="1800"/>
          </a:p>
        </p:txBody>
      </p:sp>
      <p:sp>
        <p:nvSpPr>
          <p:cNvPr id="346" name="Google Shape;346;p14"/>
          <p:cNvSpPr txBox="1"/>
          <p:nvPr/>
        </p:nvSpPr>
        <p:spPr>
          <a:xfrm>
            <a:off x="5316442" y="4937252"/>
            <a:ext cx="3225900" cy="406800"/>
          </a:xfrm>
          <a:prstGeom prst="rect">
            <a:avLst/>
          </a:prstGeom>
          <a:noFill/>
          <a:ln>
            <a:noFill/>
          </a:ln>
        </p:spPr>
        <p:txBody>
          <a:bodyPr anchorCtr="0" anchor="t" bIns="0" lIns="0" spcFirstLastPara="1" rIns="0" wrap="square" tIns="9525">
            <a:spAutoFit/>
          </a:bodyPr>
          <a:lstStyle/>
          <a:p>
            <a:pPr indent="0" lvl="0" marL="0" rtl="0" algn="l">
              <a:lnSpc>
                <a:spcPct val="115000"/>
              </a:lnSpc>
              <a:spcBef>
                <a:spcPts val="1200"/>
              </a:spcBef>
              <a:spcAft>
                <a:spcPts val="1200"/>
              </a:spcAft>
              <a:buNone/>
            </a:pPr>
            <a:r>
              <a:rPr lang="en-US" sz="1200">
                <a:solidFill>
                  <a:schemeClr val="dk1"/>
                </a:solidFill>
              </a:rPr>
              <a:t>Lending adapted to financial markets and economic trends becomes possible.</a:t>
            </a:r>
            <a:endParaRPr sz="1200"/>
          </a:p>
        </p:txBody>
      </p:sp>
      <p:sp>
        <p:nvSpPr>
          <p:cNvPr id="347" name="Google Shape;347;p14"/>
          <p:cNvSpPr txBox="1"/>
          <p:nvPr/>
        </p:nvSpPr>
        <p:spPr>
          <a:xfrm>
            <a:off x="4114975" y="1844100"/>
            <a:ext cx="4263900" cy="1761600"/>
          </a:xfrm>
          <a:prstGeom prst="rect">
            <a:avLst/>
          </a:prstGeom>
          <a:noFill/>
          <a:ln>
            <a:noFill/>
          </a:ln>
        </p:spPr>
        <p:txBody>
          <a:bodyPr anchorCtr="0" anchor="t" bIns="0" lIns="0" spcFirstLastPara="1" rIns="0" wrap="square" tIns="68575">
            <a:spAutoFit/>
          </a:bodyPr>
          <a:lstStyle/>
          <a:p>
            <a:pPr indent="0" lvl="0" marL="12700" marR="199390" rtl="0" algn="just">
              <a:lnSpc>
                <a:spcPct val="100699"/>
              </a:lnSpc>
              <a:spcBef>
                <a:spcPts val="555"/>
              </a:spcBef>
              <a:spcAft>
                <a:spcPts val="0"/>
              </a:spcAft>
              <a:buNone/>
            </a:pPr>
            <a:r>
              <a:rPr lang="en-US" sz="1100">
                <a:solidFill>
                  <a:schemeClr val="dk1"/>
                </a:solidFill>
              </a:rPr>
              <a:t>Source: Partially excerpted from BTMU (China) Weekly Economic Report 2017</a:t>
            </a:r>
            <a:br>
              <a:rPr lang="en-US" sz="1100">
                <a:solidFill>
                  <a:schemeClr val="dk1"/>
                </a:solidFill>
              </a:rPr>
            </a:br>
            <a:br>
              <a:rPr lang="en-US" sz="1100">
                <a:solidFill>
                  <a:schemeClr val="dk1"/>
                </a:solidFill>
              </a:rPr>
            </a:br>
            <a:r>
              <a:rPr lang="en-US" sz="1200">
                <a:solidFill>
                  <a:schemeClr val="dk1"/>
                </a:solidFill>
              </a:rPr>
              <a:t>The 0.6% increase in the default rate in 2017 is attributed to the rapid growth of the consumer finance market due to yuan depreciation in China, while the credit system for China was insufficient.</a:t>
            </a:r>
            <a:endParaRPr sz="1500"/>
          </a:p>
          <a:p>
            <a:pPr indent="0" lvl="0" marL="50165" rtl="0" algn="l">
              <a:lnSpc>
                <a:spcPct val="100000"/>
              </a:lnSpc>
              <a:spcBef>
                <a:spcPts val="285"/>
              </a:spcBef>
              <a:spcAft>
                <a:spcPts val="0"/>
              </a:spcAft>
              <a:buNone/>
            </a:pPr>
            <a:r>
              <a:rPr lang="en-US" sz="1400"/>
              <a:t>→</a:t>
            </a:r>
            <a:r>
              <a:rPr lang="en-US" sz="1200">
                <a:solidFill>
                  <a:schemeClr val="dk1"/>
                </a:solidFill>
              </a:rPr>
              <a:t>To account for each country’s economic trends, utilize foreign exchange data.</a:t>
            </a:r>
            <a:endParaRPr sz="1500"/>
          </a:p>
        </p:txBody>
      </p:sp>
      <p:sp>
        <p:nvSpPr>
          <p:cNvPr id="348" name="Google Shape;348;p14"/>
          <p:cNvSpPr/>
          <p:nvPr/>
        </p:nvSpPr>
        <p:spPr>
          <a:xfrm>
            <a:off x="2854468" y="4959227"/>
            <a:ext cx="890905" cy="502284"/>
          </a:xfrm>
          <a:custGeom>
            <a:rect b="b" l="l" r="r" t="t"/>
            <a:pathLst>
              <a:path extrusionOk="0" h="502285" w="890904">
                <a:moveTo>
                  <a:pt x="639540" y="0"/>
                </a:moveTo>
                <a:lnTo>
                  <a:pt x="639540" y="125529"/>
                </a:lnTo>
                <a:lnTo>
                  <a:pt x="0" y="125529"/>
                </a:lnTo>
                <a:lnTo>
                  <a:pt x="0" y="376588"/>
                </a:lnTo>
                <a:lnTo>
                  <a:pt x="639540" y="376588"/>
                </a:lnTo>
                <a:lnTo>
                  <a:pt x="639540" y="502117"/>
                </a:lnTo>
                <a:lnTo>
                  <a:pt x="890598" y="251058"/>
                </a:lnTo>
                <a:lnTo>
                  <a:pt x="639540" y="0"/>
                </a:lnTo>
                <a:close/>
              </a:path>
            </a:pathLst>
          </a:custGeom>
          <a:solidFill>
            <a:srgbClr val="AFABAB">
              <a:alpha val="2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p14"/>
          <p:cNvSpPr txBox="1"/>
          <p:nvPr/>
        </p:nvSpPr>
        <p:spPr>
          <a:xfrm>
            <a:off x="3025484" y="4716775"/>
            <a:ext cx="4500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Input</a:t>
            </a:r>
            <a:endParaRPr sz="1400"/>
          </a:p>
        </p:txBody>
      </p:sp>
      <p:pic>
        <p:nvPicPr>
          <p:cNvPr id="350" name="Google Shape;350;p14"/>
          <p:cNvPicPr preferRelativeResize="0"/>
          <p:nvPr/>
        </p:nvPicPr>
        <p:blipFill rotWithShape="1">
          <a:blip r:embed="rId4">
            <a:alphaModFix/>
          </a:blip>
          <a:srcRect b="0" l="0" r="0" t="0"/>
          <a:stretch/>
        </p:blipFill>
        <p:spPr>
          <a:xfrm>
            <a:off x="1173955" y="5210396"/>
            <a:ext cx="1327576" cy="821292"/>
          </a:xfrm>
          <a:prstGeom prst="rect">
            <a:avLst/>
          </a:prstGeom>
          <a:noFill/>
          <a:ln>
            <a:noFill/>
          </a:ln>
        </p:spPr>
      </p:pic>
      <p:sp>
        <p:nvSpPr>
          <p:cNvPr id="351" name="Google Shape;351;p14"/>
          <p:cNvSpPr txBox="1"/>
          <p:nvPr/>
        </p:nvSpPr>
        <p:spPr>
          <a:xfrm>
            <a:off x="1047300" y="4325051"/>
            <a:ext cx="1569600" cy="1648200"/>
          </a:xfrm>
          <a:prstGeom prst="rect">
            <a:avLst/>
          </a:prstGeom>
          <a:noFill/>
          <a:ln cap="flat" cmpd="sng" w="12700">
            <a:solidFill>
              <a:srgbClr val="AFABAB"/>
            </a:solidFill>
            <a:prstDash val="solid"/>
            <a:round/>
            <a:headEnd len="sm" w="sm" type="none"/>
            <a:tailEnd len="sm" w="sm" type="none"/>
          </a:ln>
        </p:spPr>
        <p:txBody>
          <a:bodyPr anchorCtr="0" anchor="t" bIns="0" lIns="0" spcFirstLastPara="1" rIns="0" wrap="square" tIns="132075">
            <a:spAutoFit/>
          </a:bodyPr>
          <a:lstStyle/>
          <a:p>
            <a:pPr indent="0" lvl="0" marL="0" marR="6985" rtl="0" algn="ctr">
              <a:lnSpc>
                <a:spcPct val="100000"/>
              </a:lnSpc>
              <a:spcBef>
                <a:spcPts val="0"/>
              </a:spcBef>
              <a:spcAft>
                <a:spcPts val="0"/>
              </a:spcAft>
              <a:buNone/>
            </a:pPr>
            <a:r>
              <a:rPr lang="en-US" sz="1600"/>
              <a:t>Existing Data</a:t>
            </a:r>
            <a:endParaRPr sz="1600"/>
          </a:p>
          <a:p>
            <a:pPr indent="0" lvl="0" marL="47625" rtl="0" algn="ctr">
              <a:lnSpc>
                <a:spcPct val="100000"/>
              </a:lnSpc>
              <a:spcBef>
                <a:spcPts val="290"/>
              </a:spcBef>
              <a:spcAft>
                <a:spcPts val="0"/>
              </a:spcAft>
              <a:buNone/>
            </a:pPr>
            <a:r>
              <a:rPr lang="en-US" sz="1600"/>
              <a:t>＋</a:t>
            </a:r>
            <a:br>
              <a:rPr lang="en-US" sz="1600"/>
            </a:br>
            <a:r>
              <a:rPr lang="en-US" sz="1600"/>
              <a:t>Foreign Exchange Data</a:t>
            </a:r>
            <a:br>
              <a:rPr lang="en-US" sz="1600"/>
            </a:br>
            <a:br>
              <a:rPr lang="en-US" sz="1600"/>
            </a:b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5"/>
          <p:cNvSpPr txBox="1"/>
          <p:nvPr>
            <p:ph type="title"/>
          </p:nvPr>
        </p:nvSpPr>
        <p:spPr>
          <a:xfrm>
            <a:off x="342478" y="201901"/>
            <a:ext cx="7070100" cy="759300"/>
          </a:xfrm>
          <a:prstGeom prst="rect">
            <a:avLst/>
          </a:prstGeom>
          <a:noFill/>
          <a:ln>
            <a:noFill/>
          </a:ln>
        </p:spPr>
        <p:txBody>
          <a:bodyPr anchorCtr="0" anchor="t" bIns="0" lIns="0" spcFirstLastPara="1" rIns="0" wrap="square" tIns="46975">
            <a:spAutoFit/>
          </a:bodyPr>
          <a:lstStyle/>
          <a:p>
            <a:pPr indent="0" lvl="0" marL="12700" rtl="0" algn="l">
              <a:lnSpc>
                <a:spcPct val="100000"/>
              </a:lnSpc>
              <a:spcBef>
                <a:spcPts val="0"/>
              </a:spcBef>
              <a:spcAft>
                <a:spcPts val="0"/>
              </a:spcAft>
              <a:buNone/>
            </a:pPr>
            <a:r>
              <a:rPr lang="en-US" sz="3100">
                <a:latin typeface="Arial"/>
                <a:ea typeface="Arial"/>
                <a:cs typeface="Arial"/>
                <a:sym typeface="Arial"/>
              </a:rPr>
              <a:t> Quotation	</a:t>
            </a:r>
            <a:endParaRPr sz="3100">
              <a:latin typeface="Arial"/>
              <a:ea typeface="Arial"/>
              <a:cs typeface="Arial"/>
              <a:sym typeface="Arial"/>
            </a:endParaRPr>
          </a:p>
          <a:p>
            <a:pPr indent="0" lvl="0" marL="294640" rtl="0" algn="l">
              <a:lnSpc>
                <a:spcPct val="100000"/>
              </a:lnSpc>
              <a:spcBef>
                <a:spcPts val="150"/>
              </a:spcBef>
              <a:spcAft>
                <a:spcPts val="0"/>
              </a:spcAft>
              <a:buNone/>
            </a:pPr>
            <a:r>
              <a:rPr lang="en-US" sz="1400" u="none">
                <a:latin typeface="Arial"/>
                <a:ea typeface="Arial"/>
                <a:cs typeface="Arial"/>
                <a:sym typeface="Arial"/>
              </a:rPr>
              <a:t>In addition to the AI credit score, we propose long-term support.</a:t>
            </a:r>
            <a:endParaRPr sz="1400">
              <a:latin typeface="Arial"/>
              <a:ea typeface="Arial"/>
              <a:cs typeface="Arial"/>
              <a:sym typeface="Arial"/>
            </a:endParaRPr>
          </a:p>
        </p:txBody>
      </p:sp>
      <p:sp>
        <p:nvSpPr>
          <p:cNvPr id="357" name="Google Shape;357;p15"/>
          <p:cNvSpPr txBox="1"/>
          <p:nvPr/>
        </p:nvSpPr>
        <p:spPr>
          <a:xfrm>
            <a:off x="8254365" y="6421628"/>
            <a:ext cx="18097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898989"/>
                </a:solidFill>
                <a:latin typeface="Calibri"/>
                <a:ea typeface="Calibri"/>
                <a:cs typeface="Calibri"/>
                <a:sym typeface="Calibri"/>
              </a:rPr>
              <a:t>15</a:t>
            </a:r>
            <a:endParaRPr sz="1200">
              <a:latin typeface="Calibri"/>
              <a:ea typeface="Calibri"/>
              <a:cs typeface="Calibri"/>
              <a:sym typeface="Calibri"/>
            </a:endParaRPr>
          </a:p>
        </p:txBody>
      </p:sp>
      <p:sp>
        <p:nvSpPr>
          <p:cNvPr id="358" name="Google Shape;358;p15"/>
          <p:cNvSpPr/>
          <p:nvPr/>
        </p:nvSpPr>
        <p:spPr>
          <a:xfrm>
            <a:off x="930303" y="1757238"/>
            <a:ext cx="3220720" cy="0"/>
          </a:xfrm>
          <a:custGeom>
            <a:rect b="b" l="l" r="r" t="t"/>
            <a:pathLst>
              <a:path extrusionOk="0" h="120000" w="3220720">
                <a:moveTo>
                  <a:pt x="0" y="0"/>
                </a:moveTo>
                <a:lnTo>
                  <a:pt x="3220277"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15"/>
          <p:cNvSpPr/>
          <p:nvPr/>
        </p:nvSpPr>
        <p:spPr>
          <a:xfrm>
            <a:off x="4738977" y="1757238"/>
            <a:ext cx="3220720" cy="0"/>
          </a:xfrm>
          <a:custGeom>
            <a:rect b="b" l="l" r="r" t="t"/>
            <a:pathLst>
              <a:path extrusionOk="0" h="120000" w="3220720">
                <a:moveTo>
                  <a:pt x="0" y="0"/>
                </a:moveTo>
                <a:lnTo>
                  <a:pt x="3220277"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15"/>
          <p:cNvSpPr txBox="1"/>
          <p:nvPr/>
        </p:nvSpPr>
        <p:spPr>
          <a:xfrm>
            <a:off x="1428626" y="1395476"/>
            <a:ext cx="20700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t>AI Credit Score</a:t>
            </a:r>
            <a:endParaRPr sz="1800">
              <a:latin typeface="Microsoft JhengHei"/>
              <a:ea typeface="Microsoft JhengHei"/>
              <a:cs typeface="Microsoft JhengHei"/>
              <a:sym typeface="Microsoft JhengHei"/>
            </a:endParaRPr>
          </a:p>
        </p:txBody>
      </p:sp>
      <p:grpSp>
        <p:nvGrpSpPr>
          <p:cNvPr id="361" name="Google Shape;361;p15"/>
          <p:cNvGrpSpPr/>
          <p:nvPr/>
        </p:nvGrpSpPr>
        <p:grpSpPr>
          <a:xfrm>
            <a:off x="840211" y="1898821"/>
            <a:ext cx="1216660" cy="280670"/>
            <a:chOff x="840211" y="1898821"/>
            <a:chExt cx="1216660" cy="280670"/>
          </a:xfrm>
        </p:grpSpPr>
        <p:sp>
          <p:nvSpPr>
            <p:cNvPr id="362" name="Google Shape;362;p15"/>
            <p:cNvSpPr/>
            <p:nvPr/>
          </p:nvSpPr>
          <p:spPr>
            <a:xfrm>
              <a:off x="840211" y="1898821"/>
              <a:ext cx="1216660" cy="280670"/>
            </a:xfrm>
            <a:custGeom>
              <a:rect b="b" l="l" r="r" t="t"/>
              <a:pathLst>
                <a:path extrusionOk="0" h="280669" w="1216660">
                  <a:moveTo>
                    <a:pt x="608274" y="0"/>
                  </a:moveTo>
                  <a:lnTo>
                    <a:pt x="537337" y="942"/>
                  </a:lnTo>
                  <a:lnTo>
                    <a:pt x="468802" y="3701"/>
                  </a:lnTo>
                  <a:lnTo>
                    <a:pt x="403128" y="8170"/>
                  </a:lnTo>
                  <a:lnTo>
                    <a:pt x="340770" y="14244"/>
                  </a:lnTo>
                  <a:lnTo>
                    <a:pt x="282185" y="21818"/>
                  </a:lnTo>
                  <a:lnTo>
                    <a:pt x="227829" y="30787"/>
                  </a:lnTo>
                  <a:lnTo>
                    <a:pt x="178159" y="41046"/>
                  </a:lnTo>
                  <a:lnTo>
                    <a:pt x="133631" y="52489"/>
                  </a:lnTo>
                  <a:lnTo>
                    <a:pt x="94701" y="65012"/>
                  </a:lnTo>
                  <a:lnTo>
                    <a:pt x="35461" y="92876"/>
                  </a:lnTo>
                  <a:lnTo>
                    <a:pt x="4092" y="123797"/>
                  </a:lnTo>
                  <a:lnTo>
                    <a:pt x="0" y="140140"/>
                  </a:lnTo>
                  <a:lnTo>
                    <a:pt x="4092" y="156484"/>
                  </a:lnTo>
                  <a:lnTo>
                    <a:pt x="35461" y="187405"/>
                  </a:lnTo>
                  <a:lnTo>
                    <a:pt x="94701" y="215269"/>
                  </a:lnTo>
                  <a:lnTo>
                    <a:pt x="133631" y="227792"/>
                  </a:lnTo>
                  <a:lnTo>
                    <a:pt x="178159" y="239236"/>
                  </a:lnTo>
                  <a:lnTo>
                    <a:pt x="227829" y="249495"/>
                  </a:lnTo>
                  <a:lnTo>
                    <a:pt x="282185" y="258464"/>
                  </a:lnTo>
                  <a:lnTo>
                    <a:pt x="340770" y="266038"/>
                  </a:lnTo>
                  <a:lnTo>
                    <a:pt x="403128" y="272112"/>
                  </a:lnTo>
                  <a:lnTo>
                    <a:pt x="468802" y="276581"/>
                  </a:lnTo>
                  <a:lnTo>
                    <a:pt x="537337" y="279339"/>
                  </a:lnTo>
                  <a:lnTo>
                    <a:pt x="608274" y="280282"/>
                  </a:lnTo>
                  <a:lnTo>
                    <a:pt x="679212" y="279339"/>
                  </a:lnTo>
                  <a:lnTo>
                    <a:pt x="747746" y="276581"/>
                  </a:lnTo>
                  <a:lnTo>
                    <a:pt x="813421" y="272112"/>
                  </a:lnTo>
                  <a:lnTo>
                    <a:pt x="875779" y="266038"/>
                  </a:lnTo>
                  <a:lnTo>
                    <a:pt x="934364" y="258464"/>
                  </a:lnTo>
                  <a:lnTo>
                    <a:pt x="988720" y="249495"/>
                  </a:lnTo>
                  <a:lnTo>
                    <a:pt x="1038390" y="239236"/>
                  </a:lnTo>
                  <a:lnTo>
                    <a:pt x="1082919" y="227792"/>
                  </a:lnTo>
                  <a:lnTo>
                    <a:pt x="1121849" y="215269"/>
                  </a:lnTo>
                  <a:lnTo>
                    <a:pt x="1181088" y="187405"/>
                  </a:lnTo>
                  <a:lnTo>
                    <a:pt x="1212457" y="156484"/>
                  </a:lnTo>
                  <a:lnTo>
                    <a:pt x="1216550" y="140140"/>
                  </a:lnTo>
                  <a:lnTo>
                    <a:pt x="1212457" y="123797"/>
                  </a:lnTo>
                  <a:lnTo>
                    <a:pt x="1181088" y="92876"/>
                  </a:lnTo>
                  <a:lnTo>
                    <a:pt x="1121849" y="65012"/>
                  </a:lnTo>
                  <a:lnTo>
                    <a:pt x="1082919" y="52489"/>
                  </a:lnTo>
                  <a:lnTo>
                    <a:pt x="1038390" y="41046"/>
                  </a:lnTo>
                  <a:lnTo>
                    <a:pt x="988720" y="30787"/>
                  </a:lnTo>
                  <a:lnTo>
                    <a:pt x="934364" y="21818"/>
                  </a:lnTo>
                  <a:lnTo>
                    <a:pt x="875779" y="14244"/>
                  </a:lnTo>
                  <a:lnTo>
                    <a:pt x="813421" y="8170"/>
                  </a:lnTo>
                  <a:lnTo>
                    <a:pt x="747746" y="3701"/>
                  </a:lnTo>
                  <a:lnTo>
                    <a:pt x="679212" y="942"/>
                  </a:lnTo>
                  <a:lnTo>
                    <a:pt x="608274"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3" name="Google Shape;363;p15"/>
            <p:cNvSpPr/>
            <p:nvPr/>
          </p:nvSpPr>
          <p:spPr>
            <a:xfrm>
              <a:off x="840211" y="1898821"/>
              <a:ext cx="1216660" cy="280670"/>
            </a:xfrm>
            <a:custGeom>
              <a:rect b="b" l="l" r="r" t="t"/>
              <a:pathLst>
                <a:path extrusionOk="0" h="280669" w="1216660">
                  <a:moveTo>
                    <a:pt x="0" y="140141"/>
                  </a:moveTo>
                  <a:lnTo>
                    <a:pt x="35461" y="92877"/>
                  </a:lnTo>
                  <a:lnTo>
                    <a:pt x="94701" y="65013"/>
                  </a:lnTo>
                  <a:lnTo>
                    <a:pt x="133631" y="52490"/>
                  </a:lnTo>
                  <a:lnTo>
                    <a:pt x="178159" y="41046"/>
                  </a:lnTo>
                  <a:lnTo>
                    <a:pt x="227830" y="30787"/>
                  </a:lnTo>
                  <a:lnTo>
                    <a:pt x="282185" y="21818"/>
                  </a:lnTo>
                  <a:lnTo>
                    <a:pt x="340771" y="14244"/>
                  </a:lnTo>
                  <a:lnTo>
                    <a:pt x="403128" y="8170"/>
                  </a:lnTo>
                  <a:lnTo>
                    <a:pt x="468803" y="3701"/>
                  </a:lnTo>
                  <a:lnTo>
                    <a:pt x="537337" y="942"/>
                  </a:lnTo>
                  <a:lnTo>
                    <a:pt x="608275" y="0"/>
                  </a:lnTo>
                  <a:lnTo>
                    <a:pt x="679212" y="942"/>
                  </a:lnTo>
                  <a:lnTo>
                    <a:pt x="747746" y="3701"/>
                  </a:lnTo>
                  <a:lnTo>
                    <a:pt x="813421" y="8170"/>
                  </a:lnTo>
                  <a:lnTo>
                    <a:pt x="875778" y="14244"/>
                  </a:lnTo>
                  <a:lnTo>
                    <a:pt x="934364" y="21818"/>
                  </a:lnTo>
                  <a:lnTo>
                    <a:pt x="988719" y="30787"/>
                  </a:lnTo>
                  <a:lnTo>
                    <a:pt x="1038390" y="41046"/>
                  </a:lnTo>
                  <a:lnTo>
                    <a:pt x="1082918" y="52490"/>
                  </a:lnTo>
                  <a:lnTo>
                    <a:pt x="1121848" y="65013"/>
                  </a:lnTo>
                  <a:lnTo>
                    <a:pt x="1181088" y="92877"/>
                  </a:lnTo>
                  <a:lnTo>
                    <a:pt x="1212457" y="123798"/>
                  </a:lnTo>
                  <a:lnTo>
                    <a:pt x="1216550" y="140141"/>
                  </a:lnTo>
                  <a:lnTo>
                    <a:pt x="1212457" y="156484"/>
                  </a:lnTo>
                  <a:lnTo>
                    <a:pt x="1181088" y="187405"/>
                  </a:lnTo>
                  <a:lnTo>
                    <a:pt x="1121848" y="215269"/>
                  </a:lnTo>
                  <a:lnTo>
                    <a:pt x="1082918" y="227792"/>
                  </a:lnTo>
                  <a:lnTo>
                    <a:pt x="1038390" y="239236"/>
                  </a:lnTo>
                  <a:lnTo>
                    <a:pt x="988719" y="249495"/>
                  </a:lnTo>
                  <a:lnTo>
                    <a:pt x="934364" y="258464"/>
                  </a:lnTo>
                  <a:lnTo>
                    <a:pt x="875778" y="266038"/>
                  </a:lnTo>
                  <a:lnTo>
                    <a:pt x="813421" y="272112"/>
                  </a:lnTo>
                  <a:lnTo>
                    <a:pt x="747746" y="276581"/>
                  </a:lnTo>
                  <a:lnTo>
                    <a:pt x="679212" y="279340"/>
                  </a:lnTo>
                  <a:lnTo>
                    <a:pt x="608275" y="280283"/>
                  </a:lnTo>
                  <a:lnTo>
                    <a:pt x="537337" y="279340"/>
                  </a:lnTo>
                  <a:lnTo>
                    <a:pt x="468803" y="276581"/>
                  </a:lnTo>
                  <a:lnTo>
                    <a:pt x="403128" y="272112"/>
                  </a:lnTo>
                  <a:lnTo>
                    <a:pt x="340771" y="266038"/>
                  </a:lnTo>
                  <a:lnTo>
                    <a:pt x="282185" y="258464"/>
                  </a:lnTo>
                  <a:lnTo>
                    <a:pt x="227830" y="249495"/>
                  </a:lnTo>
                  <a:lnTo>
                    <a:pt x="178159" y="239236"/>
                  </a:lnTo>
                  <a:lnTo>
                    <a:pt x="133631" y="227792"/>
                  </a:lnTo>
                  <a:lnTo>
                    <a:pt x="94701" y="215269"/>
                  </a:lnTo>
                  <a:lnTo>
                    <a:pt x="35461" y="187405"/>
                  </a:lnTo>
                  <a:lnTo>
                    <a:pt x="4092" y="156484"/>
                  </a:lnTo>
                  <a:lnTo>
                    <a:pt x="0" y="140141"/>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64" name="Google Shape;364;p15"/>
          <p:cNvGrpSpPr/>
          <p:nvPr/>
        </p:nvGrpSpPr>
        <p:grpSpPr>
          <a:xfrm>
            <a:off x="857373" y="3956756"/>
            <a:ext cx="1216660" cy="280670"/>
            <a:chOff x="840211" y="3939594"/>
            <a:chExt cx="1216660" cy="280670"/>
          </a:xfrm>
        </p:grpSpPr>
        <p:sp>
          <p:nvSpPr>
            <p:cNvPr id="365" name="Google Shape;365;p15"/>
            <p:cNvSpPr/>
            <p:nvPr/>
          </p:nvSpPr>
          <p:spPr>
            <a:xfrm>
              <a:off x="840211" y="3939594"/>
              <a:ext cx="1216660" cy="280670"/>
            </a:xfrm>
            <a:custGeom>
              <a:rect b="b" l="l" r="r" t="t"/>
              <a:pathLst>
                <a:path extrusionOk="0" h="280670" w="1216660">
                  <a:moveTo>
                    <a:pt x="608274" y="0"/>
                  </a:moveTo>
                  <a:lnTo>
                    <a:pt x="537337" y="942"/>
                  </a:lnTo>
                  <a:lnTo>
                    <a:pt x="468802" y="3701"/>
                  </a:lnTo>
                  <a:lnTo>
                    <a:pt x="403128" y="8170"/>
                  </a:lnTo>
                  <a:lnTo>
                    <a:pt x="340770" y="14244"/>
                  </a:lnTo>
                  <a:lnTo>
                    <a:pt x="282185" y="21818"/>
                  </a:lnTo>
                  <a:lnTo>
                    <a:pt x="227829" y="30787"/>
                  </a:lnTo>
                  <a:lnTo>
                    <a:pt x="178159" y="41046"/>
                  </a:lnTo>
                  <a:lnTo>
                    <a:pt x="133631" y="52490"/>
                  </a:lnTo>
                  <a:lnTo>
                    <a:pt x="94701" y="65013"/>
                  </a:lnTo>
                  <a:lnTo>
                    <a:pt x="35461" y="92878"/>
                  </a:lnTo>
                  <a:lnTo>
                    <a:pt x="4092" y="123798"/>
                  </a:lnTo>
                  <a:lnTo>
                    <a:pt x="0" y="140141"/>
                  </a:lnTo>
                  <a:lnTo>
                    <a:pt x="4092" y="156485"/>
                  </a:lnTo>
                  <a:lnTo>
                    <a:pt x="35461" y="187405"/>
                  </a:lnTo>
                  <a:lnTo>
                    <a:pt x="94701" y="215270"/>
                  </a:lnTo>
                  <a:lnTo>
                    <a:pt x="133631" y="227793"/>
                  </a:lnTo>
                  <a:lnTo>
                    <a:pt x="178159" y="239237"/>
                  </a:lnTo>
                  <a:lnTo>
                    <a:pt x="227829" y="249496"/>
                  </a:lnTo>
                  <a:lnTo>
                    <a:pt x="282185" y="258465"/>
                  </a:lnTo>
                  <a:lnTo>
                    <a:pt x="340770" y="266039"/>
                  </a:lnTo>
                  <a:lnTo>
                    <a:pt x="403128" y="272113"/>
                  </a:lnTo>
                  <a:lnTo>
                    <a:pt x="468802" y="276582"/>
                  </a:lnTo>
                  <a:lnTo>
                    <a:pt x="537337" y="279341"/>
                  </a:lnTo>
                  <a:lnTo>
                    <a:pt x="608274" y="280283"/>
                  </a:lnTo>
                  <a:lnTo>
                    <a:pt x="679212" y="279341"/>
                  </a:lnTo>
                  <a:lnTo>
                    <a:pt x="747746" y="276582"/>
                  </a:lnTo>
                  <a:lnTo>
                    <a:pt x="813421" y="272113"/>
                  </a:lnTo>
                  <a:lnTo>
                    <a:pt x="875779" y="266039"/>
                  </a:lnTo>
                  <a:lnTo>
                    <a:pt x="934364" y="258465"/>
                  </a:lnTo>
                  <a:lnTo>
                    <a:pt x="988720" y="249496"/>
                  </a:lnTo>
                  <a:lnTo>
                    <a:pt x="1038390" y="239237"/>
                  </a:lnTo>
                  <a:lnTo>
                    <a:pt x="1082919" y="227793"/>
                  </a:lnTo>
                  <a:lnTo>
                    <a:pt x="1121849" y="215270"/>
                  </a:lnTo>
                  <a:lnTo>
                    <a:pt x="1181088" y="187405"/>
                  </a:lnTo>
                  <a:lnTo>
                    <a:pt x="1212457" y="156485"/>
                  </a:lnTo>
                  <a:lnTo>
                    <a:pt x="1216550" y="140141"/>
                  </a:lnTo>
                  <a:lnTo>
                    <a:pt x="1212457" y="123798"/>
                  </a:lnTo>
                  <a:lnTo>
                    <a:pt x="1181088" y="92878"/>
                  </a:lnTo>
                  <a:lnTo>
                    <a:pt x="1121849" y="65013"/>
                  </a:lnTo>
                  <a:lnTo>
                    <a:pt x="1082919" y="52490"/>
                  </a:lnTo>
                  <a:lnTo>
                    <a:pt x="1038390" y="41046"/>
                  </a:lnTo>
                  <a:lnTo>
                    <a:pt x="988720" y="30787"/>
                  </a:lnTo>
                  <a:lnTo>
                    <a:pt x="934364" y="21818"/>
                  </a:lnTo>
                  <a:lnTo>
                    <a:pt x="875779" y="14244"/>
                  </a:lnTo>
                  <a:lnTo>
                    <a:pt x="813421" y="8170"/>
                  </a:lnTo>
                  <a:lnTo>
                    <a:pt x="747746" y="3701"/>
                  </a:lnTo>
                  <a:lnTo>
                    <a:pt x="679212" y="942"/>
                  </a:lnTo>
                  <a:lnTo>
                    <a:pt x="608274"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6" name="Google Shape;366;p15"/>
            <p:cNvSpPr/>
            <p:nvPr/>
          </p:nvSpPr>
          <p:spPr>
            <a:xfrm>
              <a:off x="840211" y="3939594"/>
              <a:ext cx="1216660" cy="280670"/>
            </a:xfrm>
            <a:custGeom>
              <a:rect b="b" l="l" r="r" t="t"/>
              <a:pathLst>
                <a:path extrusionOk="0" h="280670" w="1216660">
                  <a:moveTo>
                    <a:pt x="0" y="140141"/>
                  </a:moveTo>
                  <a:lnTo>
                    <a:pt x="35461" y="92877"/>
                  </a:lnTo>
                  <a:lnTo>
                    <a:pt x="94701" y="65013"/>
                  </a:lnTo>
                  <a:lnTo>
                    <a:pt x="133631" y="52490"/>
                  </a:lnTo>
                  <a:lnTo>
                    <a:pt x="178159" y="41046"/>
                  </a:lnTo>
                  <a:lnTo>
                    <a:pt x="227830" y="30787"/>
                  </a:lnTo>
                  <a:lnTo>
                    <a:pt x="282185" y="21818"/>
                  </a:lnTo>
                  <a:lnTo>
                    <a:pt x="340771" y="14244"/>
                  </a:lnTo>
                  <a:lnTo>
                    <a:pt x="403128" y="8170"/>
                  </a:lnTo>
                  <a:lnTo>
                    <a:pt x="468803" y="3701"/>
                  </a:lnTo>
                  <a:lnTo>
                    <a:pt x="537337" y="942"/>
                  </a:lnTo>
                  <a:lnTo>
                    <a:pt x="608275" y="0"/>
                  </a:lnTo>
                  <a:lnTo>
                    <a:pt x="679212" y="942"/>
                  </a:lnTo>
                  <a:lnTo>
                    <a:pt x="747746" y="3701"/>
                  </a:lnTo>
                  <a:lnTo>
                    <a:pt x="813421" y="8170"/>
                  </a:lnTo>
                  <a:lnTo>
                    <a:pt x="875778" y="14244"/>
                  </a:lnTo>
                  <a:lnTo>
                    <a:pt x="934364" y="21818"/>
                  </a:lnTo>
                  <a:lnTo>
                    <a:pt x="988719" y="30787"/>
                  </a:lnTo>
                  <a:lnTo>
                    <a:pt x="1038390" y="41046"/>
                  </a:lnTo>
                  <a:lnTo>
                    <a:pt x="1082918" y="52490"/>
                  </a:lnTo>
                  <a:lnTo>
                    <a:pt x="1121848" y="65013"/>
                  </a:lnTo>
                  <a:lnTo>
                    <a:pt x="1181088" y="92877"/>
                  </a:lnTo>
                  <a:lnTo>
                    <a:pt x="1212457" y="123798"/>
                  </a:lnTo>
                  <a:lnTo>
                    <a:pt x="1216550" y="140141"/>
                  </a:lnTo>
                  <a:lnTo>
                    <a:pt x="1212457" y="156484"/>
                  </a:lnTo>
                  <a:lnTo>
                    <a:pt x="1181088" y="187405"/>
                  </a:lnTo>
                  <a:lnTo>
                    <a:pt x="1121848" y="215269"/>
                  </a:lnTo>
                  <a:lnTo>
                    <a:pt x="1082918" y="227792"/>
                  </a:lnTo>
                  <a:lnTo>
                    <a:pt x="1038390" y="239236"/>
                  </a:lnTo>
                  <a:lnTo>
                    <a:pt x="988719" y="249495"/>
                  </a:lnTo>
                  <a:lnTo>
                    <a:pt x="934364" y="258464"/>
                  </a:lnTo>
                  <a:lnTo>
                    <a:pt x="875778" y="266038"/>
                  </a:lnTo>
                  <a:lnTo>
                    <a:pt x="813421" y="272112"/>
                  </a:lnTo>
                  <a:lnTo>
                    <a:pt x="747746" y="276581"/>
                  </a:lnTo>
                  <a:lnTo>
                    <a:pt x="679212" y="279340"/>
                  </a:lnTo>
                  <a:lnTo>
                    <a:pt x="608275" y="280283"/>
                  </a:lnTo>
                  <a:lnTo>
                    <a:pt x="537337" y="279340"/>
                  </a:lnTo>
                  <a:lnTo>
                    <a:pt x="468803" y="276581"/>
                  </a:lnTo>
                  <a:lnTo>
                    <a:pt x="403128" y="272112"/>
                  </a:lnTo>
                  <a:lnTo>
                    <a:pt x="340771" y="266038"/>
                  </a:lnTo>
                  <a:lnTo>
                    <a:pt x="282185" y="258464"/>
                  </a:lnTo>
                  <a:lnTo>
                    <a:pt x="227830" y="249495"/>
                  </a:lnTo>
                  <a:lnTo>
                    <a:pt x="178159" y="239236"/>
                  </a:lnTo>
                  <a:lnTo>
                    <a:pt x="133631" y="227792"/>
                  </a:lnTo>
                  <a:lnTo>
                    <a:pt x="94701" y="215269"/>
                  </a:lnTo>
                  <a:lnTo>
                    <a:pt x="35461" y="187405"/>
                  </a:lnTo>
                  <a:lnTo>
                    <a:pt x="4092" y="156484"/>
                  </a:lnTo>
                  <a:lnTo>
                    <a:pt x="0" y="140141"/>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67" name="Google Shape;367;p15"/>
          <p:cNvSpPr txBox="1"/>
          <p:nvPr/>
        </p:nvSpPr>
        <p:spPr>
          <a:xfrm>
            <a:off x="842638" y="1765300"/>
            <a:ext cx="3587700" cy="4234500"/>
          </a:xfrm>
          <a:prstGeom prst="rect">
            <a:avLst/>
          </a:prstGeom>
          <a:noFill/>
          <a:ln>
            <a:noFill/>
          </a:ln>
        </p:spPr>
        <p:txBody>
          <a:bodyPr anchorCtr="0" anchor="t" bIns="0" lIns="0" spcFirstLastPara="1" rIns="0" wrap="square" tIns="125075">
            <a:spAutoFit/>
          </a:bodyPr>
          <a:lstStyle/>
          <a:p>
            <a:pPr indent="0" lvl="0" marL="0" rtl="0" algn="l">
              <a:lnSpc>
                <a:spcPct val="100000"/>
              </a:lnSpc>
              <a:spcBef>
                <a:spcPts val="0"/>
              </a:spcBef>
              <a:spcAft>
                <a:spcPts val="0"/>
              </a:spcAft>
              <a:buNone/>
            </a:pPr>
            <a:r>
              <a:rPr lang="en-US" sz="1600">
                <a:solidFill>
                  <a:srgbClr val="FFFFFF"/>
                </a:solidFill>
              </a:rPr>
              <a:t>    </a:t>
            </a:r>
            <a:r>
              <a:rPr lang="en-US" sz="1500">
                <a:solidFill>
                  <a:srgbClr val="FFFFFF"/>
                </a:solidFill>
              </a:rPr>
              <a:t>Content</a:t>
            </a:r>
            <a:endParaRPr sz="1500"/>
          </a:p>
          <a:p>
            <a:pPr indent="-278765" lvl="0" marL="489584" rtl="0" algn="l">
              <a:lnSpc>
                <a:spcPct val="119375"/>
              </a:lnSpc>
              <a:spcBef>
                <a:spcPts val="890"/>
              </a:spcBef>
              <a:spcAft>
                <a:spcPts val="0"/>
              </a:spcAft>
              <a:buSzPts val="1500"/>
              <a:buChar char="⮚"/>
            </a:pPr>
            <a:r>
              <a:rPr lang="en-US" sz="1500"/>
              <a:t>Risk </a:t>
            </a:r>
            <a:r>
              <a:rPr lang="en-US" sz="1500"/>
              <a:t>Management</a:t>
            </a:r>
            <a:endParaRPr sz="1500"/>
          </a:p>
          <a:p>
            <a:pPr indent="0" lvl="0" marL="661670" marR="298450" rtl="0" algn="l">
              <a:lnSpc>
                <a:spcPct val="121428"/>
              </a:lnSpc>
              <a:spcBef>
                <a:spcPts val="30"/>
              </a:spcBef>
              <a:spcAft>
                <a:spcPts val="0"/>
              </a:spcAft>
              <a:buNone/>
            </a:pPr>
            <a:r>
              <a:rPr lang="en-US" sz="1200"/>
              <a:t>R</a:t>
            </a:r>
            <a:r>
              <a:rPr lang="en-US" sz="1200">
                <a:solidFill>
                  <a:schemeClr val="dk1"/>
                </a:solidFill>
              </a:rPr>
              <a:t>educe the default rate by 57% and prevent an estimated 25.52 billion yen in annual losses.</a:t>
            </a:r>
            <a:endParaRPr sz="1200"/>
          </a:p>
          <a:p>
            <a:pPr indent="-278765" lvl="0" marL="489583" rtl="0" algn="l">
              <a:lnSpc>
                <a:spcPct val="116875"/>
              </a:lnSpc>
              <a:spcBef>
                <a:spcPts val="0"/>
              </a:spcBef>
              <a:spcAft>
                <a:spcPts val="0"/>
              </a:spcAft>
              <a:buSzPts val="1500"/>
              <a:buFont typeface="Noto Sans Symbols"/>
              <a:buChar char="⮚"/>
            </a:pPr>
            <a:r>
              <a:rPr lang="en-US"/>
              <a:t>Estimation of Low-Risk Customers</a:t>
            </a:r>
            <a:br>
              <a:rPr lang="en-US" sz="1500"/>
            </a:br>
            <a:r>
              <a:rPr lang="en-US" sz="1100">
                <a:solidFill>
                  <a:schemeClr val="dk1"/>
                </a:solidFill>
              </a:rPr>
              <a:t>Enable approaches to 2.28 million reliable customers with a non-default rate of 99.4%.</a:t>
            </a:r>
            <a:endParaRPr sz="1600"/>
          </a:p>
          <a:p>
            <a:pPr indent="0" lvl="0" marL="335915" rtl="0" algn="l">
              <a:lnSpc>
                <a:spcPct val="100000"/>
              </a:lnSpc>
              <a:spcBef>
                <a:spcPts val="890"/>
              </a:spcBef>
              <a:spcAft>
                <a:spcPts val="0"/>
              </a:spcAft>
              <a:buNone/>
            </a:pPr>
            <a:br>
              <a:rPr lang="en-US" sz="1600"/>
            </a:br>
            <a:br>
              <a:rPr lang="en-US" sz="1600"/>
            </a:br>
            <a:r>
              <a:rPr lang="en-US" sz="1300">
                <a:solidFill>
                  <a:schemeClr val="dk1"/>
                </a:solidFill>
              </a:rPr>
              <a:t>We propose a fee of </a:t>
            </a:r>
            <a:br>
              <a:rPr lang="en-US" sz="1300">
                <a:solidFill>
                  <a:schemeClr val="dk1"/>
                </a:solidFill>
              </a:rPr>
            </a:br>
            <a:r>
              <a:rPr lang="en-US" sz="1300">
                <a:solidFill>
                  <a:schemeClr val="dk1"/>
                </a:solidFill>
              </a:rPr>
              <a:t>			</a:t>
            </a:r>
            <a:r>
              <a:rPr lang="en-US">
                <a:solidFill>
                  <a:schemeClr val="dk1"/>
                </a:solidFill>
              </a:rPr>
              <a:t>30 million yen</a:t>
            </a:r>
            <a:r>
              <a:rPr lang="en-US" sz="1300">
                <a:solidFill>
                  <a:schemeClr val="dk1"/>
                </a:solidFill>
              </a:rPr>
              <a:t> </a:t>
            </a:r>
            <a:br>
              <a:rPr lang="en-US" sz="1300">
                <a:solidFill>
                  <a:schemeClr val="dk1"/>
                </a:solidFill>
              </a:rPr>
            </a:br>
            <a:r>
              <a:rPr lang="en-US" sz="1300">
                <a:solidFill>
                  <a:schemeClr val="dk1"/>
                </a:solidFill>
              </a:rPr>
              <a:t>					for providing AI.</a:t>
            </a:r>
            <a:endParaRPr sz="1800"/>
          </a:p>
          <a:p>
            <a:pPr indent="0" lvl="0" marL="0" rtl="0" algn="l">
              <a:lnSpc>
                <a:spcPct val="115000"/>
              </a:lnSpc>
              <a:spcBef>
                <a:spcPts val="1200"/>
              </a:spcBef>
              <a:spcAft>
                <a:spcPts val="1200"/>
              </a:spcAft>
              <a:buNone/>
            </a:pPr>
            <a:r>
              <a:rPr lang="en-US" sz="1100">
                <a:solidFill>
                  <a:schemeClr val="dk1"/>
                </a:solidFill>
              </a:rPr>
              <a:t>This price corresponds to about 0.01% of the annual revenue improvement of 255.2 billion yen from risk management, plus the revenue from estimating low-risk customers.</a:t>
            </a:r>
            <a:endParaRPr sz="1400"/>
          </a:p>
        </p:txBody>
      </p:sp>
      <p:sp>
        <p:nvSpPr>
          <p:cNvPr id="368" name="Google Shape;368;p15"/>
          <p:cNvSpPr txBox="1"/>
          <p:nvPr/>
        </p:nvSpPr>
        <p:spPr>
          <a:xfrm>
            <a:off x="5527598" y="1358900"/>
            <a:ext cx="20700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Microsoft JhengHei"/>
                <a:ea typeface="Microsoft JhengHei"/>
                <a:cs typeface="Microsoft JhengHei"/>
                <a:sym typeface="Microsoft JhengHei"/>
              </a:rPr>
              <a:t>Long-Term Support</a:t>
            </a:r>
            <a:endParaRPr sz="1800">
              <a:latin typeface="Microsoft JhengHei"/>
              <a:ea typeface="Microsoft JhengHei"/>
              <a:cs typeface="Microsoft JhengHei"/>
              <a:sym typeface="Microsoft JhengHei"/>
            </a:endParaRPr>
          </a:p>
        </p:txBody>
      </p:sp>
      <p:grpSp>
        <p:nvGrpSpPr>
          <p:cNvPr id="369" name="Google Shape;369;p15"/>
          <p:cNvGrpSpPr/>
          <p:nvPr/>
        </p:nvGrpSpPr>
        <p:grpSpPr>
          <a:xfrm>
            <a:off x="4617078" y="1898820"/>
            <a:ext cx="1216660" cy="280670"/>
            <a:chOff x="4617078" y="1898820"/>
            <a:chExt cx="1216660" cy="280670"/>
          </a:xfrm>
        </p:grpSpPr>
        <p:sp>
          <p:nvSpPr>
            <p:cNvPr id="370" name="Google Shape;370;p15"/>
            <p:cNvSpPr/>
            <p:nvPr/>
          </p:nvSpPr>
          <p:spPr>
            <a:xfrm>
              <a:off x="4617078" y="1898820"/>
              <a:ext cx="1216660" cy="280670"/>
            </a:xfrm>
            <a:custGeom>
              <a:rect b="b" l="l" r="r" t="t"/>
              <a:pathLst>
                <a:path extrusionOk="0" h="280669" w="1216660">
                  <a:moveTo>
                    <a:pt x="608274" y="0"/>
                  </a:moveTo>
                  <a:lnTo>
                    <a:pt x="537336" y="942"/>
                  </a:lnTo>
                  <a:lnTo>
                    <a:pt x="468802" y="3701"/>
                  </a:lnTo>
                  <a:lnTo>
                    <a:pt x="403128" y="8170"/>
                  </a:lnTo>
                  <a:lnTo>
                    <a:pt x="340770" y="14244"/>
                  </a:lnTo>
                  <a:lnTo>
                    <a:pt x="282185" y="21818"/>
                  </a:lnTo>
                  <a:lnTo>
                    <a:pt x="227829" y="30787"/>
                  </a:lnTo>
                  <a:lnTo>
                    <a:pt x="178159" y="41046"/>
                  </a:lnTo>
                  <a:lnTo>
                    <a:pt x="133631" y="52489"/>
                  </a:lnTo>
                  <a:lnTo>
                    <a:pt x="94700" y="65012"/>
                  </a:lnTo>
                  <a:lnTo>
                    <a:pt x="35461" y="92876"/>
                  </a:lnTo>
                  <a:lnTo>
                    <a:pt x="4092" y="123797"/>
                  </a:lnTo>
                  <a:lnTo>
                    <a:pt x="0" y="140140"/>
                  </a:lnTo>
                  <a:lnTo>
                    <a:pt x="4092" y="156484"/>
                  </a:lnTo>
                  <a:lnTo>
                    <a:pt x="35461" y="187405"/>
                  </a:lnTo>
                  <a:lnTo>
                    <a:pt x="94700" y="215269"/>
                  </a:lnTo>
                  <a:lnTo>
                    <a:pt x="133631" y="227792"/>
                  </a:lnTo>
                  <a:lnTo>
                    <a:pt x="178159" y="239236"/>
                  </a:lnTo>
                  <a:lnTo>
                    <a:pt x="227829" y="249495"/>
                  </a:lnTo>
                  <a:lnTo>
                    <a:pt x="282185" y="258464"/>
                  </a:lnTo>
                  <a:lnTo>
                    <a:pt x="340770" y="266038"/>
                  </a:lnTo>
                  <a:lnTo>
                    <a:pt x="403128" y="272112"/>
                  </a:lnTo>
                  <a:lnTo>
                    <a:pt x="468802" y="276581"/>
                  </a:lnTo>
                  <a:lnTo>
                    <a:pt x="537336" y="279339"/>
                  </a:lnTo>
                  <a:lnTo>
                    <a:pt x="608274" y="280282"/>
                  </a:lnTo>
                  <a:lnTo>
                    <a:pt x="679211" y="279339"/>
                  </a:lnTo>
                  <a:lnTo>
                    <a:pt x="747746" y="276581"/>
                  </a:lnTo>
                  <a:lnTo>
                    <a:pt x="813420" y="272112"/>
                  </a:lnTo>
                  <a:lnTo>
                    <a:pt x="875778" y="266038"/>
                  </a:lnTo>
                  <a:lnTo>
                    <a:pt x="934363" y="258464"/>
                  </a:lnTo>
                  <a:lnTo>
                    <a:pt x="988719" y="249495"/>
                  </a:lnTo>
                  <a:lnTo>
                    <a:pt x="1038389" y="239236"/>
                  </a:lnTo>
                  <a:lnTo>
                    <a:pt x="1082918" y="227792"/>
                  </a:lnTo>
                  <a:lnTo>
                    <a:pt x="1121848" y="215269"/>
                  </a:lnTo>
                  <a:lnTo>
                    <a:pt x="1181087" y="187405"/>
                  </a:lnTo>
                  <a:lnTo>
                    <a:pt x="1212457" y="156484"/>
                  </a:lnTo>
                  <a:lnTo>
                    <a:pt x="1216549" y="140140"/>
                  </a:lnTo>
                  <a:lnTo>
                    <a:pt x="1212457" y="123797"/>
                  </a:lnTo>
                  <a:lnTo>
                    <a:pt x="1181087" y="92876"/>
                  </a:lnTo>
                  <a:lnTo>
                    <a:pt x="1121848" y="65012"/>
                  </a:lnTo>
                  <a:lnTo>
                    <a:pt x="1082918" y="52489"/>
                  </a:lnTo>
                  <a:lnTo>
                    <a:pt x="1038389" y="41046"/>
                  </a:lnTo>
                  <a:lnTo>
                    <a:pt x="988719" y="30787"/>
                  </a:lnTo>
                  <a:lnTo>
                    <a:pt x="934363" y="21818"/>
                  </a:lnTo>
                  <a:lnTo>
                    <a:pt x="875778" y="14244"/>
                  </a:lnTo>
                  <a:lnTo>
                    <a:pt x="813420" y="8170"/>
                  </a:lnTo>
                  <a:lnTo>
                    <a:pt x="747746" y="3701"/>
                  </a:lnTo>
                  <a:lnTo>
                    <a:pt x="679211" y="942"/>
                  </a:lnTo>
                  <a:lnTo>
                    <a:pt x="608274"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1" name="Google Shape;371;p15"/>
            <p:cNvSpPr/>
            <p:nvPr/>
          </p:nvSpPr>
          <p:spPr>
            <a:xfrm>
              <a:off x="4617078" y="1898820"/>
              <a:ext cx="1216660" cy="280670"/>
            </a:xfrm>
            <a:custGeom>
              <a:rect b="b" l="l" r="r" t="t"/>
              <a:pathLst>
                <a:path extrusionOk="0" h="280669" w="1216660">
                  <a:moveTo>
                    <a:pt x="0" y="140141"/>
                  </a:moveTo>
                  <a:lnTo>
                    <a:pt x="35461" y="92877"/>
                  </a:lnTo>
                  <a:lnTo>
                    <a:pt x="94701" y="65013"/>
                  </a:lnTo>
                  <a:lnTo>
                    <a:pt x="133631" y="52490"/>
                  </a:lnTo>
                  <a:lnTo>
                    <a:pt x="178159" y="41046"/>
                  </a:lnTo>
                  <a:lnTo>
                    <a:pt x="227830" y="30787"/>
                  </a:lnTo>
                  <a:lnTo>
                    <a:pt x="282185" y="21818"/>
                  </a:lnTo>
                  <a:lnTo>
                    <a:pt x="340771" y="14244"/>
                  </a:lnTo>
                  <a:lnTo>
                    <a:pt x="403128" y="8170"/>
                  </a:lnTo>
                  <a:lnTo>
                    <a:pt x="468803" y="3701"/>
                  </a:lnTo>
                  <a:lnTo>
                    <a:pt x="537337" y="942"/>
                  </a:lnTo>
                  <a:lnTo>
                    <a:pt x="608275" y="0"/>
                  </a:lnTo>
                  <a:lnTo>
                    <a:pt x="679212" y="942"/>
                  </a:lnTo>
                  <a:lnTo>
                    <a:pt x="747746" y="3701"/>
                  </a:lnTo>
                  <a:lnTo>
                    <a:pt x="813421" y="8170"/>
                  </a:lnTo>
                  <a:lnTo>
                    <a:pt x="875778" y="14244"/>
                  </a:lnTo>
                  <a:lnTo>
                    <a:pt x="934364" y="21818"/>
                  </a:lnTo>
                  <a:lnTo>
                    <a:pt x="988719" y="30787"/>
                  </a:lnTo>
                  <a:lnTo>
                    <a:pt x="1038390" y="41046"/>
                  </a:lnTo>
                  <a:lnTo>
                    <a:pt x="1082918" y="52490"/>
                  </a:lnTo>
                  <a:lnTo>
                    <a:pt x="1121848" y="65013"/>
                  </a:lnTo>
                  <a:lnTo>
                    <a:pt x="1181088" y="92877"/>
                  </a:lnTo>
                  <a:lnTo>
                    <a:pt x="1212457" y="123798"/>
                  </a:lnTo>
                  <a:lnTo>
                    <a:pt x="1216550" y="140141"/>
                  </a:lnTo>
                  <a:lnTo>
                    <a:pt x="1212457" y="156484"/>
                  </a:lnTo>
                  <a:lnTo>
                    <a:pt x="1181088" y="187405"/>
                  </a:lnTo>
                  <a:lnTo>
                    <a:pt x="1121848" y="215269"/>
                  </a:lnTo>
                  <a:lnTo>
                    <a:pt x="1082918" y="227792"/>
                  </a:lnTo>
                  <a:lnTo>
                    <a:pt x="1038390" y="239236"/>
                  </a:lnTo>
                  <a:lnTo>
                    <a:pt x="988719" y="249495"/>
                  </a:lnTo>
                  <a:lnTo>
                    <a:pt x="934364" y="258464"/>
                  </a:lnTo>
                  <a:lnTo>
                    <a:pt x="875778" y="266038"/>
                  </a:lnTo>
                  <a:lnTo>
                    <a:pt x="813421" y="272112"/>
                  </a:lnTo>
                  <a:lnTo>
                    <a:pt x="747746" y="276581"/>
                  </a:lnTo>
                  <a:lnTo>
                    <a:pt x="679212" y="279340"/>
                  </a:lnTo>
                  <a:lnTo>
                    <a:pt x="608275" y="280283"/>
                  </a:lnTo>
                  <a:lnTo>
                    <a:pt x="537337" y="279340"/>
                  </a:lnTo>
                  <a:lnTo>
                    <a:pt x="468803" y="276581"/>
                  </a:lnTo>
                  <a:lnTo>
                    <a:pt x="403128" y="272112"/>
                  </a:lnTo>
                  <a:lnTo>
                    <a:pt x="340771" y="266038"/>
                  </a:lnTo>
                  <a:lnTo>
                    <a:pt x="282185" y="258464"/>
                  </a:lnTo>
                  <a:lnTo>
                    <a:pt x="227830" y="249495"/>
                  </a:lnTo>
                  <a:lnTo>
                    <a:pt x="178159" y="239236"/>
                  </a:lnTo>
                  <a:lnTo>
                    <a:pt x="133631" y="227792"/>
                  </a:lnTo>
                  <a:lnTo>
                    <a:pt x="94701" y="215269"/>
                  </a:lnTo>
                  <a:lnTo>
                    <a:pt x="35461" y="187405"/>
                  </a:lnTo>
                  <a:lnTo>
                    <a:pt x="4092" y="156484"/>
                  </a:lnTo>
                  <a:lnTo>
                    <a:pt x="0" y="140141"/>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72" name="Google Shape;372;p15"/>
          <p:cNvSpPr txBox="1"/>
          <p:nvPr/>
        </p:nvSpPr>
        <p:spPr>
          <a:xfrm>
            <a:off x="4680611" y="1743401"/>
            <a:ext cx="3149700" cy="1886100"/>
          </a:xfrm>
          <a:prstGeom prst="rect">
            <a:avLst/>
          </a:prstGeom>
          <a:noFill/>
          <a:ln>
            <a:noFill/>
          </a:ln>
        </p:spPr>
        <p:txBody>
          <a:bodyPr anchorCtr="0" anchor="t" bIns="0" lIns="0" spcFirstLastPara="1" rIns="0" wrap="square" tIns="155575">
            <a:spAutoFit/>
          </a:bodyPr>
          <a:lstStyle/>
          <a:p>
            <a:pPr indent="0" lvl="0" marL="0" rtl="0" algn="l">
              <a:lnSpc>
                <a:spcPct val="100000"/>
              </a:lnSpc>
              <a:spcBef>
                <a:spcPts val="0"/>
              </a:spcBef>
              <a:spcAft>
                <a:spcPts val="0"/>
              </a:spcAft>
              <a:buNone/>
            </a:pPr>
            <a:r>
              <a:rPr lang="en-US" sz="1500">
                <a:solidFill>
                  <a:srgbClr val="FFFFFF"/>
                </a:solidFill>
              </a:rPr>
              <a:t>    Content</a:t>
            </a:r>
            <a:endParaRPr sz="1500"/>
          </a:p>
          <a:p>
            <a:pPr indent="-285115" lvl="0" marL="297815" rtl="0" algn="l">
              <a:lnSpc>
                <a:spcPct val="119375"/>
              </a:lnSpc>
              <a:spcBef>
                <a:spcPts val="1130"/>
              </a:spcBef>
              <a:spcAft>
                <a:spcPts val="0"/>
              </a:spcAft>
              <a:buSzPts val="1600"/>
              <a:buFont typeface="Noto Sans Symbols"/>
              <a:buChar char="⮚"/>
            </a:pPr>
            <a:r>
              <a:rPr lang="en-US" sz="1600"/>
              <a:t>Time Series Analysis</a:t>
            </a:r>
            <a:br>
              <a:rPr lang="en-US" sz="1600"/>
            </a:br>
            <a:r>
              <a:rPr lang="en-US" sz="1100">
                <a:solidFill>
                  <a:schemeClr val="dk1"/>
                </a:solidFill>
              </a:rPr>
              <a:t>Lending decisions can be made in line with economic trends.</a:t>
            </a:r>
            <a:endParaRPr sz="1400"/>
          </a:p>
          <a:p>
            <a:pPr indent="-285115" lvl="0" marL="297815" rtl="0" algn="l">
              <a:lnSpc>
                <a:spcPct val="116875"/>
              </a:lnSpc>
              <a:spcBef>
                <a:spcPts val="0"/>
              </a:spcBef>
              <a:spcAft>
                <a:spcPts val="0"/>
              </a:spcAft>
              <a:buSzPts val="1600"/>
              <a:buFont typeface="Noto Sans Symbols"/>
              <a:buChar char="⮚"/>
            </a:pPr>
            <a:r>
              <a:rPr lang="en-US" sz="1600"/>
              <a:t>Model Updates</a:t>
            </a:r>
            <a:br>
              <a:rPr lang="en-US" sz="1600"/>
            </a:br>
            <a:r>
              <a:rPr lang="en-US" sz="1100">
                <a:solidFill>
                  <a:schemeClr val="dk1"/>
                </a:solidFill>
              </a:rPr>
              <a:t>Introduce economic indicators and text mining to improve accuracy.</a:t>
            </a:r>
            <a:endParaRPr sz="1400"/>
          </a:p>
        </p:txBody>
      </p:sp>
      <p:grpSp>
        <p:nvGrpSpPr>
          <p:cNvPr id="373" name="Google Shape;373;p15"/>
          <p:cNvGrpSpPr/>
          <p:nvPr/>
        </p:nvGrpSpPr>
        <p:grpSpPr>
          <a:xfrm>
            <a:off x="4617078" y="3939594"/>
            <a:ext cx="1216660" cy="280670"/>
            <a:chOff x="4617078" y="3939594"/>
            <a:chExt cx="1216660" cy="280670"/>
          </a:xfrm>
        </p:grpSpPr>
        <p:sp>
          <p:nvSpPr>
            <p:cNvPr id="374" name="Google Shape;374;p15"/>
            <p:cNvSpPr/>
            <p:nvPr/>
          </p:nvSpPr>
          <p:spPr>
            <a:xfrm>
              <a:off x="4617078" y="3939594"/>
              <a:ext cx="1216660" cy="280670"/>
            </a:xfrm>
            <a:custGeom>
              <a:rect b="b" l="l" r="r" t="t"/>
              <a:pathLst>
                <a:path extrusionOk="0" h="280670" w="1216660">
                  <a:moveTo>
                    <a:pt x="608274" y="0"/>
                  </a:moveTo>
                  <a:lnTo>
                    <a:pt x="537336" y="942"/>
                  </a:lnTo>
                  <a:lnTo>
                    <a:pt x="468802" y="3701"/>
                  </a:lnTo>
                  <a:lnTo>
                    <a:pt x="403128" y="8170"/>
                  </a:lnTo>
                  <a:lnTo>
                    <a:pt x="340770" y="14244"/>
                  </a:lnTo>
                  <a:lnTo>
                    <a:pt x="282185" y="21818"/>
                  </a:lnTo>
                  <a:lnTo>
                    <a:pt x="227829" y="30787"/>
                  </a:lnTo>
                  <a:lnTo>
                    <a:pt x="178159" y="41046"/>
                  </a:lnTo>
                  <a:lnTo>
                    <a:pt x="133631" y="52490"/>
                  </a:lnTo>
                  <a:lnTo>
                    <a:pt x="94700" y="65013"/>
                  </a:lnTo>
                  <a:lnTo>
                    <a:pt x="35461" y="92878"/>
                  </a:lnTo>
                  <a:lnTo>
                    <a:pt x="4092" y="123798"/>
                  </a:lnTo>
                  <a:lnTo>
                    <a:pt x="0" y="140141"/>
                  </a:lnTo>
                  <a:lnTo>
                    <a:pt x="4092" y="156485"/>
                  </a:lnTo>
                  <a:lnTo>
                    <a:pt x="35461" y="187405"/>
                  </a:lnTo>
                  <a:lnTo>
                    <a:pt x="94700" y="215270"/>
                  </a:lnTo>
                  <a:lnTo>
                    <a:pt x="133631" y="227793"/>
                  </a:lnTo>
                  <a:lnTo>
                    <a:pt x="178159" y="239237"/>
                  </a:lnTo>
                  <a:lnTo>
                    <a:pt x="227829" y="249496"/>
                  </a:lnTo>
                  <a:lnTo>
                    <a:pt x="282185" y="258465"/>
                  </a:lnTo>
                  <a:lnTo>
                    <a:pt x="340770" y="266039"/>
                  </a:lnTo>
                  <a:lnTo>
                    <a:pt x="403128" y="272113"/>
                  </a:lnTo>
                  <a:lnTo>
                    <a:pt x="468802" y="276582"/>
                  </a:lnTo>
                  <a:lnTo>
                    <a:pt x="537336" y="279341"/>
                  </a:lnTo>
                  <a:lnTo>
                    <a:pt x="608274" y="280283"/>
                  </a:lnTo>
                  <a:lnTo>
                    <a:pt x="679211" y="279341"/>
                  </a:lnTo>
                  <a:lnTo>
                    <a:pt x="747746" y="276582"/>
                  </a:lnTo>
                  <a:lnTo>
                    <a:pt x="813420" y="272113"/>
                  </a:lnTo>
                  <a:lnTo>
                    <a:pt x="875778" y="266039"/>
                  </a:lnTo>
                  <a:lnTo>
                    <a:pt x="934363" y="258465"/>
                  </a:lnTo>
                  <a:lnTo>
                    <a:pt x="988719" y="249496"/>
                  </a:lnTo>
                  <a:lnTo>
                    <a:pt x="1038389" y="239237"/>
                  </a:lnTo>
                  <a:lnTo>
                    <a:pt x="1082918" y="227793"/>
                  </a:lnTo>
                  <a:lnTo>
                    <a:pt x="1121848" y="215270"/>
                  </a:lnTo>
                  <a:lnTo>
                    <a:pt x="1181087" y="187405"/>
                  </a:lnTo>
                  <a:lnTo>
                    <a:pt x="1212457" y="156485"/>
                  </a:lnTo>
                  <a:lnTo>
                    <a:pt x="1216549" y="140141"/>
                  </a:lnTo>
                  <a:lnTo>
                    <a:pt x="1212457" y="123798"/>
                  </a:lnTo>
                  <a:lnTo>
                    <a:pt x="1181087" y="92878"/>
                  </a:lnTo>
                  <a:lnTo>
                    <a:pt x="1121848" y="65013"/>
                  </a:lnTo>
                  <a:lnTo>
                    <a:pt x="1082918" y="52490"/>
                  </a:lnTo>
                  <a:lnTo>
                    <a:pt x="1038389" y="41046"/>
                  </a:lnTo>
                  <a:lnTo>
                    <a:pt x="988719" y="30787"/>
                  </a:lnTo>
                  <a:lnTo>
                    <a:pt x="934363" y="21818"/>
                  </a:lnTo>
                  <a:lnTo>
                    <a:pt x="875778" y="14244"/>
                  </a:lnTo>
                  <a:lnTo>
                    <a:pt x="813420" y="8170"/>
                  </a:lnTo>
                  <a:lnTo>
                    <a:pt x="747746" y="3701"/>
                  </a:lnTo>
                  <a:lnTo>
                    <a:pt x="679211" y="942"/>
                  </a:lnTo>
                  <a:lnTo>
                    <a:pt x="608274" y="0"/>
                  </a:lnTo>
                  <a:close/>
                </a:path>
              </a:pathLst>
            </a:custGeom>
            <a:solidFill>
              <a:srgbClr val="4472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5" name="Google Shape;375;p15"/>
            <p:cNvSpPr/>
            <p:nvPr/>
          </p:nvSpPr>
          <p:spPr>
            <a:xfrm>
              <a:off x="4617078" y="3939594"/>
              <a:ext cx="1216660" cy="280670"/>
            </a:xfrm>
            <a:custGeom>
              <a:rect b="b" l="l" r="r" t="t"/>
              <a:pathLst>
                <a:path extrusionOk="0" h="280670" w="1216660">
                  <a:moveTo>
                    <a:pt x="0" y="140141"/>
                  </a:moveTo>
                  <a:lnTo>
                    <a:pt x="35461" y="92877"/>
                  </a:lnTo>
                  <a:lnTo>
                    <a:pt x="94701" y="65013"/>
                  </a:lnTo>
                  <a:lnTo>
                    <a:pt x="133631" y="52490"/>
                  </a:lnTo>
                  <a:lnTo>
                    <a:pt x="178159" y="41046"/>
                  </a:lnTo>
                  <a:lnTo>
                    <a:pt x="227830" y="30787"/>
                  </a:lnTo>
                  <a:lnTo>
                    <a:pt x="282185" y="21818"/>
                  </a:lnTo>
                  <a:lnTo>
                    <a:pt x="340771" y="14244"/>
                  </a:lnTo>
                  <a:lnTo>
                    <a:pt x="403128" y="8170"/>
                  </a:lnTo>
                  <a:lnTo>
                    <a:pt x="468803" y="3701"/>
                  </a:lnTo>
                  <a:lnTo>
                    <a:pt x="537337" y="942"/>
                  </a:lnTo>
                  <a:lnTo>
                    <a:pt x="608275" y="0"/>
                  </a:lnTo>
                  <a:lnTo>
                    <a:pt x="679212" y="942"/>
                  </a:lnTo>
                  <a:lnTo>
                    <a:pt x="747746" y="3701"/>
                  </a:lnTo>
                  <a:lnTo>
                    <a:pt x="813421" y="8170"/>
                  </a:lnTo>
                  <a:lnTo>
                    <a:pt x="875778" y="14244"/>
                  </a:lnTo>
                  <a:lnTo>
                    <a:pt x="934364" y="21818"/>
                  </a:lnTo>
                  <a:lnTo>
                    <a:pt x="988719" y="30787"/>
                  </a:lnTo>
                  <a:lnTo>
                    <a:pt x="1038390" y="41046"/>
                  </a:lnTo>
                  <a:lnTo>
                    <a:pt x="1082918" y="52490"/>
                  </a:lnTo>
                  <a:lnTo>
                    <a:pt x="1121848" y="65013"/>
                  </a:lnTo>
                  <a:lnTo>
                    <a:pt x="1181088" y="92877"/>
                  </a:lnTo>
                  <a:lnTo>
                    <a:pt x="1212457" y="123798"/>
                  </a:lnTo>
                  <a:lnTo>
                    <a:pt x="1216550" y="140141"/>
                  </a:lnTo>
                  <a:lnTo>
                    <a:pt x="1212457" y="156484"/>
                  </a:lnTo>
                  <a:lnTo>
                    <a:pt x="1181088" y="187405"/>
                  </a:lnTo>
                  <a:lnTo>
                    <a:pt x="1121848" y="215269"/>
                  </a:lnTo>
                  <a:lnTo>
                    <a:pt x="1082918" y="227792"/>
                  </a:lnTo>
                  <a:lnTo>
                    <a:pt x="1038390" y="239236"/>
                  </a:lnTo>
                  <a:lnTo>
                    <a:pt x="988719" y="249495"/>
                  </a:lnTo>
                  <a:lnTo>
                    <a:pt x="934364" y="258464"/>
                  </a:lnTo>
                  <a:lnTo>
                    <a:pt x="875778" y="266038"/>
                  </a:lnTo>
                  <a:lnTo>
                    <a:pt x="813421" y="272112"/>
                  </a:lnTo>
                  <a:lnTo>
                    <a:pt x="747746" y="276581"/>
                  </a:lnTo>
                  <a:lnTo>
                    <a:pt x="679212" y="279340"/>
                  </a:lnTo>
                  <a:lnTo>
                    <a:pt x="608275" y="280283"/>
                  </a:lnTo>
                  <a:lnTo>
                    <a:pt x="537337" y="279340"/>
                  </a:lnTo>
                  <a:lnTo>
                    <a:pt x="468803" y="276581"/>
                  </a:lnTo>
                  <a:lnTo>
                    <a:pt x="403128" y="272112"/>
                  </a:lnTo>
                  <a:lnTo>
                    <a:pt x="340771" y="266038"/>
                  </a:lnTo>
                  <a:lnTo>
                    <a:pt x="282185" y="258464"/>
                  </a:lnTo>
                  <a:lnTo>
                    <a:pt x="227830" y="249495"/>
                  </a:lnTo>
                  <a:lnTo>
                    <a:pt x="178159" y="239236"/>
                  </a:lnTo>
                  <a:lnTo>
                    <a:pt x="133631" y="227792"/>
                  </a:lnTo>
                  <a:lnTo>
                    <a:pt x="94701" y="215269"/>
                  </a:lnTo>
                  <a:lnTo>
                    <a:pt x="35461" y="187405"/>
                  </a:lnTo>
                  <a:lnTo>
                    <a:pt x="4092" y="156484"/>
                  </a:lnTo>
                  <a:lnTo>
                    <a:pt x="0" y="140141"/>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76" name="Google Shape;376;p15"/>
          <p:cNvSpPr txBox="1"/>
          <p:nvPr/>
        </p:nvSpPr>
        <p:spPr>
          <a:xfrm>
            <a:off x="5009450" y="3807450"/>
            <a:ext cx="3587700" cy="1100400"/>
          </a:xfrm>
          <a:prstGeom prst="rect">
            <a:avLst/>
          </a:prstGeom>
          <a:noFill/>
          <a:ln>
            <a:noFill/>
          </a:ln>
        </p:spPr>
        <p:txBody>
          <a:bodyPr anchorCtr="0" anchor="t" bIns="0" lIns="0" spcFirstLastPara="1" rIns="0" wrap="square" tIns="125075">
            <a:spAutoFit/>
          </a:bodyPr>
          <a:lstStyle/>
          <a:p>
            <a:pPr indent="0" lvl="0" marL="12700" rtl="0" algn="l">
              <a:lnSpc>
                <a:spcPct val="100000"/>
              </a:lnSpc>
              <a:spcBef>
                <a:spcPts val="0"/>
              </a:spcBef>
              <a:spcAft>
                <a:spcPts val="0"/>
              </a:spcAft>
              <a:buNone/>
            </a:pPr>
            <a:r>
              <a:rPr lang="en-US" sz="1500">
                <a:solidFill>
                  <a:srgbClr val="FFFFFF"/>
                </a:solidFill>
              </a:rPr>
              <a:t>Price</a:t>
            </a:r>
            <a:endParaRPr sz="1500"/>
          </a:p>
          <a:p>
            <a:pPr indent="457200" lvl="0" marL="0" rtl="0" algn="l">
              <a:lnSpc>
                <a:spcPct val="100000"/>
              </a:lnSpc>
              <a:spcBef>
                <a:spcPts val="755"/>
              </a:spcBef>
              <a:spcAft>
                <a:spcPts val="0"/>
              </a:spcAft>
              <a:buNone/>
            </a:pPr>
            <a:r>
              <a:rPr lang="en-US" sz="1300">
                <a:solidFill>
                  <a:schemeClr val="dk1"/>
                </a:solidFill>
              </a:rPr>
              <a:t>We propose a consulting fee of </a:t>
            </a:r>
            <a:br>
              <a:rPr lang="en-US" sz="1300">
                <a:solidFill>
                  <a:schemeClr val="dk1"/>
                </a:solidFill>
              </a:rPr>
            </a:br>
            <a:r>
              <a:rPr lang="en-US" sz="1300">
                <a:solidFill>
                  <a:schemeClr val="dk1"/>
                </a:solidFill>
              </a:rPr>
              <a:t>				</a:t>
            </a:r>
            <a:r>
              <a:rPr lang="en-US" sz="1600">
                <a:solidFill>
                  <a:schemeClr val="dk1"/>
                </a:solidFill>
              </a:rPr>
              <a:t>2.5 million</a:t>
            </a:r>
            <a:br>
              <a:rPr lang="en-US" sz="1300">
                <a:solidFill>
                  <a:schemeClr val="dk1"/>
                </a:solidFill>
              </a:rPr>
            </a:br>
            <a:r>
              <a:rPr lang="en-US" sz="1300">
                <a:solidFill>
                  <a:schemeClr val="dk1"/>
                </a:solidFill>
              </a:rPr>
              <a:t>					yen per month.</a:t>
            </a:r>
            <a:endParaRPr sz="1800"/>
          </a:p>
        </p:txBody>
      </p:sp>
      <p:sp>
        <p:nvSpPr>
          <p:cNvPr id="377" name="Google Shape;377;p15"/>
          <p:cNvSpPr txBox="1"/>
          <p:nvPr/>
        </p:nvSpPr>
        <p:spPr>
          <a:xfrm>
            <a:off x="1117818" y="6117844"/>
            <a:ext cx="6929700" cy="486300"/>
          </a:xfrm>
          <a:prstGeom prst="rect">
            <a:avLst/>
          </a:prstGeom>
          <a:noFill/>
          <a:ln>
            <a:noFill/>
          </a:ln>
        </p:spPr>
        <p:txBody>
          <a:bodyPr anchorCtr="0" anchor="t" bIns="0" lIns="0" spcFirstLastPara="1" rIns="0" wrap="square" tIns="22850">
            <a:spAutoFit/>
          </a:bodyPr>
          <a:lstStyle/>
          <a:p>
            <a:pPr indent="0" lvl="0" marL="0" rtl="0" algn="l">
              <a:lnSpc>
                <a:spcPct val="115000"/>
              </a:lnSpc>
              <a:spcBef>
                <a:spcPts val="1200"/>
              </a:spcBef>
              <a:spcAft>
                <a:spcPts val="1200"/>
              </a:spcAft>
              <a:buNone/>
            </a:pPr>
            <a:r>
              <a:rPr lang="en-US">
                <a:solidFill>
                  <a:schemeClr val="dk1"/>
                </a:solidFill>
              </a:rPr>
              <a:t>To accelerate your business, our staff specializing in Finance × AI will utilize customer data to support you. </a:t>
            </a:r>
            <a:endParaRPr>
              <a:latin typeface="Microsoft JhengHei"/>
              <a:ea typeface="Microsoft JhengHei"/>
              <a:cs typeface="Microsoft JhengHei"/>
              <a:sym typeface="Microsoft JhengHei"/>
            </a:endParaRPr>
          </a:p>
        </p:txBody>
      </p:sp>
      <p:sp>
        <p:nvSpPr>
          <p:cNvPr id="378" name="Google Shape;378;p15"/>
          <p:cNvSpPr txBox="1"/>
          <p:nvPr/>
        </p:nvSpPr>
        <p:spPr>
          <a:xfrm>
            <a:off x="1149875" y="3861478"/>
            <a:ext cx="9243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lt1"/>
                </a:solidFill>
              </a:rPr>
              <a:t>Price</a:t>
            </a:r>
            <a:endParaRPr sz="15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2025-10-06T20:48:16Z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2020-08-16T00:00:00Z</vt:filetime>
  </property>
  <property fmtid="{D5CDD505-2E9C-101B-9397-08002B2CF9AE}" pid="3" name="LastSaved">
    <vt:filetime>2025-10-06T00:00:00Z</vt:filetime>
  </property>
  <property fmtid="{D5CDD505-2E9C-101B-9397-08002B2CF9AE}" pid="4" name="Producer">
    <vt:lpwstr>macOS バージョン10.15.6（ビルド19G2021） Quartz PDFContext</vt:lpwstr>
  </property>
</Properties>
</file>